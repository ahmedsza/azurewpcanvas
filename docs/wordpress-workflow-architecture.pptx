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61"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614"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2593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and dashboard are repository-provided canvas extensions in the GitHub Copilot app. Extensions run read-only local helpers; the review skill evaluates captured evidence. Optional manual evidence is assessed, not automatically accepted. PowerPoint reuses the reports. No Azure deployment or automatic remediation is performed.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numbering follows the actual canvas: 1 validate dependencies, 2 connect scope, 3 inventory, 4 collect evidence, 5 package data, 6 extract evidence, optional 6M manual validation, 7 assess with the skill, 8 display dashboard, and optional 9 PowerPoint. That is ten stages when both options are included. A ZIP upload can start at extraction. The review is complete after the eight required stages; PowerPoint never blocks the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43816-AE52-67EF-FFFE-D330FFE37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A7018-468E-0DAF-946D-5C0E1D6DA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7CF43-9828-F2EF-4DC2-464FB94A0FA1}"/>
              </a:ext>
            </a:extLst>
          </p:cNvPr>
          <p:cNvSpPr>
            <a:spLocks noGrp="1"/>
          </p:cNvSpPr>
          <p:nvPr>
            <p:ph type="body" idx="1"/>
          </p:nvPr>
        </p:nvSpPr>
        <p:spPr/>
        <p:txBody>
          <a:bodyPr/>
          <a:lstStyle/>
          <a:p>
            <a:r>
              <a:rPr lang="en-US" dirty="0"/>
              <a:t>Four fresh, high-resolution captures from the actual canvas web pages: the optional manual-validation choice in the new-run form; the Collect data step console from an existing completed run; a magnified detail of the first three sections of the157-control dashboard matrix; and filtered finding descriptions, priority and status. The unsubmitted create-run form demonstrates the option only: no run or manual answers were saved. No Azure collection or assessment was rerun. Crops remove unrelated interface content, and identifiers are masked. Not verified findings are verification work, not confirmed failures. The known inconsistent headline score is not included.</a:t>
            </a:r>
          </a:p>
        </p:txBody>
      </p:sp>
      <p:sp>
        <p:nvSpPr>
          <p:cNvPr id="4" name="Slide Number Placeholder 3">
            <a:extLst>
              <a:ext uri="{FF2B5EF4-FFF2-40B4-BE49-F238E27FC236}">
                <a16:creationId xmlns:a16="http://schemas.microsoft.com/office/drawing/2014/main" id="{9FA45AC6-677E-719D-983C-6E6B650269B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48018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 reports that a review which previously took five days can now be completed in two hours. This is personal experience, not an independently measured benchmark or a guaranteed customer outcome. Current usage is limited to the author; no customer adoption or customer-validated timing result is claimed. Customers can run the workflow themselves with the documented prerequisites, appropriate Azure permissions and access to GitHub Copilot. Human validation remains necessary where evidence is missing. No percentage speedup is calculated because the number of working hours represented by five days was not specified.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2B"/>
        </a:solidFill>
        <a:effectLst/>
      </p:bgPr>
    </p:bg>
    <p:spTree>
      <p:nvGrpSpPr>
        <p:cNvPr id="1" name=""/>
        <p:cNvGrpSpPr/>
        <p:nvPr/>
      </p:nvGrpSpPr>
      <p:grpSpPr>
        <a:xfrm>
          <a:off x="0" y="0"/>
          <a:ext cx="0" cy="0"/>
          <a:chOff x="0" y="0"/>
          <a:chExt cx="0" cy="0"/>
        </a:xfrm>
      </p:grpSpPr>
      <p:sp>
        <p:nvSpPr>
          <p:cNvPr id="2" name="Text 0"/>
          <p:cNvSpPr/>
          <p:nvPr/>
        </p:nvSpPr>
        <p:spPr>
          <a:xfrm>
            <a:off x="502920" y="274320"/>
            <a:ext cx="10058400" cy="228600"/>
          </a:xfrm>
          <a:prstGeom prst="rect">
            <a:avLst/>
          </a:prstGeom>
          <a:noFill/>
          <a:ln/>
        </p:spPr>
        <p:txBody>
          <a:bodyPr wrap="square" lIns="0" tIns="0" rIns="0" bIns="0" rtlCol="0" anchor="ctr"/>
          <a:lstStyle/>
          <a:p>
            <a:pPr marL="0" indent="0">
              <a:buNone/>
            </a:pPr>
            <a:r>
              <a:rPr lang="en-US" sz="1000" b="1" dirty="0">
                <a:solidFill>
                  <a:srgbClr val="B7C8DB"/>
                </a:solidFill>
                <a:latin typeface="Trebuchet MS" pitchFamily="34" charset="0"/>
                <a:ea typeface="Trebuchet MS" pitchFamily="34" charset="-122"/>
                <a:cs typeface="Trebuchet MS" pitchFamily="34" charset="-120"/>
              </a:rPr>
              <a:t>WORDPRESS ON AZURE  /  WELL-ARCHITECTED REVIEW</a:t>
            </a:r>
            <a:endParaRPr lang="en-US" sz="1000" dirty="0"/>
          </a:p>
        </p:txBody>
      </p:sp>
      <p:sp>
        <p:nvSpPr>
          <p:cNvPr id="3" name="Text 1"/>
          <p:cNvSpPr/>
          <p:nvPr/>
        </p:nvSpPr>
        <p:spPr>
          <a:xfrm>
            <a:off x="502920" y="777240"/>
            <a:ext cx="11155680" cy="658368"/>
          </a:xfrm>
          <a:prstGeom prst="rect">
            <a:avLst/>
          </a:prstGeom>
          <a:noFill/>
          <a:ln/>
        </p:spPr>
        <p:txBody>
          <a:bodyPr wrap="square" lIns="0" tIns="0" rIns="0" bIns="0" rtlCol="0" anchor="ctr"/>
          <a:lstStyle/>
          <a:p>
            <a:pPr marL="0" indent="0">
              <a:buNone/>
            </a:pPr>
            <a:r>
              <a:rPr lang="en-US" sz="3400" b="1" dirty="0">
                <a:solidFill>
                  <a:srgbClr val="F4F8FE"/>
                </a:solidFill>
                <a:latin typeface="Trebuchet MS" pitchFamily="34" charset="0"/>
                <a:ea typeface="Trebuchet MS" pitchFamily="34" charset="-122"/>
                <a:cs typeface="Trebuchet MS" pitchFamily="34" charset="-120"/>
              </a:rPr>
              <a:t>One workspace, distinct responsibilities</a:t>
            </a:r>
            <a:endParaRPr lang="en-US" sz="3400" dirty="0"/>
          </a:p>
        </p:txBody>
      </p:sp>
      <p:sp>
        <p:nvSpPr>
          <p:cNvPr id="4" name="Text 2"/>
          <p:cNvSpPr/>
          <p:nvPr/>
        </p:nvSpPr>
        <p:spPr>
          <a:xfrm>
            <a:off x="521208" y="1481328"/>
            <a:ext cx="11064240" cy="457200"/>
          </a:xfrm>
          <a:prstGeom prst="rect">
            <a:avLst/>
          </a:prstGeom>
          <a:noFill/>
          <a:ln/>
        </p:spPr>
        <p:txBody>
          <a:bodyPr wrap="square" lIns="0" tIns="0" rIns="0" bIns="0" rtlCol="0" anchor="ctr"/>
          <a:lstStyle/>
          <a:p>
            <a:pPr marL="0" indent="0">
              <a:buNone/>
            </a:pPr>
            <a:r>
              <a:rPr lang="en-US" sz="1700" dirty="0">
                <a:solidFill>
                  <a:srgbClr val="B7C8DB"/>
                </a:solidFill>
                <a:latin typeface="Calibri" pitchFamily="34" charset="0"/>
                <a:ea typeface="Calibri" pitchFamily="34" charset="-122"/>
                <a:cs typeface="Calibri" pitchFamily="34" charset="-120"/>
              </a:rPr>
              <a:t>Assess WordPress on Azure against the Azure Well-Architected Framework.</a:t>
            </a:r>
            <a:endParaRPr lang="en-US" sz="1700" dirty="0"/>
          </a:p>
        </p:txBody>
      </p:sp>
      <p:sp>
        <p:nvSpPr>
          <p:cNvPr id="5" name="Text 3"/>
          <p:cNvSpPr/>
          <p:nvPr/>
        </p:nvSpPr>
        <p:spPr>
          <a:xfrm>
            <a:off x="502920" y="6419088"/>
            <a:ext cx="10789920" cy="219456"/>
          </a:xfrm>
          <a:prstGeom prst="rect">
            <a:avLst/>
          </a:prstGeom>
          <a:noFill/>
          <a:ln/>
        </p:spPr>
        <p:txBody>
          <a:bodyPr wrap="square" lIns="0" tIns="0" rIns="0" bIns="0" rtlCol="0" anchor="ctr"/>
          <a:lstStyle/>
          <a:p>
            <a:pPr marL="0" indent="0">
              <a:buNone/>
            </a:pPr>
            <a:r>
              <a:rPr lang="en-US" sz="1000" dirty="0">
                <a:solidFill>
                  <a:srgbClr val="B7C8DB"/>
                </a:solidFill>
                <a:latin typeface="Calibri" pitchFamily="34" charset="0"/>
                <a:ea typeface="Calibri" pitchFamily="34" charset="-122"/>
                <a:cs typeface="Calibri" pitchFamily="34" charset="-120"/>
              </a:rPr>
              <a:t>GitHub Copilot app  |  Evidence-led review, not automatic remediation</a:t>
            </a:r>
            <a:endParaRPr lang="en-US" sz="1000" dirty="0"/>
          </a:p>
        </p:txBody>
      </p:sp>
      <p:sp>
        <p:nvSpPr>
          <p:cNvPr id="6" name="Text 4"/>
          <p:cNvSpPr/>
          <p:nvPr/>
        </p:nvSpPr>
        <p:spPr>
          <a:xfrm>
            <a:off x="11155680" y="6409944"/>
            <a:ext cx="502920" cy="219456"/>
          </a:xfrm>
          <a:prstGeom prst="rect">
            <a:avLst/>
          </a:prstGeom>
          <a:noFill/>
          <a:ln/>
        </p:spPr>
        <p:txBody>
          <a:bodyPr wrap="square" lIns="0" tIns="0" rIns="0" bIns="0" rtlCol="0" anchor="ctr"/>
          <a:lstStyle/>
          <a:p>
            <a:pPr marL="0" indent="0">
              <a:buNone/>
            </a:pPr>
            <a:r>
              <a:rPr lang="en-US" sz="1000" b="1" dirty="0">
                <a:solidFill>
                  <a:srgbClr val="B7C8DB"/>
                </a:solidFill>
                <a:latin typeface="Trebuchet MS" pitchFamily="34" charset="0"/>
                <a:ea typeface="Trebuchet MS" pitchFamily="34" charset="-122"/>
                <a:cs typeface="Trebuchet MS" pitchFamily="34" charset="-120"/>
              </a:rPr>
              <a:t>01</a:t>
            </a:r>
            <a:endParaRPr lang="en-US" sz="1000" dirty="0"/>
          </a:p>
        </p:txBody>
      </p:sp>
      <p:sp>
        <p:nvSpPr>
          <p:cNvPr id="7" name="Shape 5"/>
          <p:cNvSpPr/>
          <p:nvPr/>
        </p:nvSpPr>
        <p:spPr>
          <a:xfrm>
            <a:off x="502920" y="2267712"/>
            <a:ext cx="2103120" cy="3291840"/>
          </a:xfrm>
          <a:prstGeom prst="roundRect">
            <a:avLst>
              <a:gd name="adj" fmla="val 5217"/>
            </a:avLst>
          </a:prstGeom>
          <a:solidFill>
            <a:srgbClr val="1D2D44"/>
          </a:solidFill>
          <a:ln w="12700">
            <a:solidFill>
              <a:srgbClr val="1D2D44"/>
            </a:solidFill>
            <a:prstDash val="solid"/>
          </a:ln>
        </p:spPr>
        <p:txBody>
          <a:bodyPr/>
          <a:lstStyle/>
          <a:p>
            <a:endParaRPr lang="en-ZA"/>
          </a:p>
        </p:txBody>
      </p:sp>
      <p:sp>
        <p:nvSpPr>
          <p:cNvPr id="8" name="Text 6"/>
          <p:cNvSpPr/>
          <p:nvPr/>
        </p:nvSpPr>
        <p:spPr>
          <a:xfrm>
            <a:off x="704088" y="2468880"/>
            <a:ext cx="1737360" cy="320040"/>
          </a:xfrm>
          <a:prstGeom prst="rect">
            <a:avLst/>
          </a:prstGeom>
          <a:noFill/>
          <a:ln/>
        </p:spPr>
        <p:txBody>
          <a:bodyPr wrap="square" lIns="0" tIns="0" rIns="0" bIns="0" rtlCol="0" anchor="ctr"/>
          <a:lstStyle/>
          <a:p>
            <a:pPr marL="0" indent="0">
              <a:buNone/>
            </a:pPr>
            <a:r>
              <a:rPr lang="en-US" sz="1900" b="1" dirty="0">
                <a:solidFill>
                  <a:srgbClr val="79BAFF"/>
                </a:solidFill>
                <a:latin typeface="Trebuchet MS" pitchFamily="34" charset="0"/>
                <a:ea typeface="Trebuchet MS" pitchFamily="34" charset="-122"/>
                <a:cs typeface="Trebuchet MS" pitchFamily="34" charset="-120"/>
              </a:rPr>
              <a:t>INPUTS</a:t>
            </a:r>
            <a:endParaRPr lang="en-US" sz="1900" dirty="0"/>
          </a:p>
        </p:txBody>
      </p:sp>
      <p:sp>
        <p:nvSpPr>
          <p:cNvPr id="9" name="Text 7"/>
          <p:cNvSpPr/>
          <p:nvPr/>
        </p:nvSpPr>
        <p:spPr>
          <a:xfrm>
            <a:off x="704088" y="2971800"/>
            <a:ext cx="1755648" cy="347472"/>
          </a:xfrm>
          <a:prstGeom prst="rect">
            <a:avLst/>
          </a:prstGeom>
          <a:noFill/>
          <a:ln/>
        </p:spPr>
        <p:txBody>
          <a:bodyPr wrap="square" lIns="0" tIns="0" rIns="0" bIns="0" rtlCol="0" anchor="ctr"/>
          <a:lstStyle/>
          <a:p>
            <a:pPr marL="0" indent="0">
              <a:buNone/>
            </a:pPr>
            <a:r>
              <a:rPr lang="en-US" sz="1600" b="1" dirty="0">
                <a:solidFill>
                  <a:srgbClr val="F4F8FE"/>
                </a:solidFill>
                <a:latin typeface="Trebuchet MS" pitchFamily="34" charset="0"/>
                <a:ea typeface="Trebuchet MS" pitchFamily="34" charset="-122"/>
                <a:cs typeface="Trebuchet MS" pitchFamily="34" charset="-120"/>
              </a:rPr>
              <a:t>Azure evidence</a:t>
            </a:r>
            <a:endParaRPr lang="en-US" sz="1600" dirty="0"/>
          </a:p>
        </p:txBody>
      </p:sp>
      <p:sp>
        <p:nvSpPr>
          <p:cNvPr id="10" name="Text 8"/>
          <p:cNvSpPr/>
          <p:nvPr/>
        </p:nvSpPr>
        <p:spPr>
          <a:xfrm>
            <a:off x="704088" y="3474720"/>
            <a:ext cx="1691640" cy="640080"/>
          </a:xfrm>
          <a:prstGeom prst="rect">
            <a:avLst/>
          </a:prstGeom>
          <a:noFill/>
          <a:ln/>
        </p:spPr>
        <p:txBody>
          <a:bodyPr wrap="square" lIns="0" tIns="0" rIns="0" bIns="0" rtlCol="0" anchor="ctr"/>
          <a:lstStyle/>
          <a:p>
            <a:pPr marL="0" indent="0">
              <a:buNone/>
            </a:pPr>
            <a:r>
              <a:rPr lang="en-US" sz="1600" dirty="0">
                <a:solidFill>
                  <a:srgbClr val="B7C8DB"/>
                </a:solidFill>
                <a:latin typeface="Calibri" pitchFamily="34" charset="0"/>
                <a:ea typeface="Calibri" pitchFamily="34" charset="-122"/>
                <a:cs typeface="Calibri" pitchFamily="34" charset="-120"/>
              </a:rPr>
              <a:t>Read-only capture</a:t>
            </a:r>
            <a:endParaRPr lang="en-US" sz="1600" dirty="0"/>
          </a:p>
          <a:p>
            <a:pPr marL="0" indent="0">
              <a:buNone/>
            </a:pPr>
            <a:r>
              <a:rPr lang="en-US" sz="1600" dirty="0">
                <a:solidFill>
                  <a:srgbClr val="B7C8DB"/>
                </a:solidFill>
                <a:latin typeface="Calibri" pitchFamily="34" charset="0"/>
                <a:ea typeface="Calibri" pitchFamily="34" charset="-122"/>
                <a:cs typeface="Calibri" pitchFamily="34" charset="-120"/>
              </a:rPr>
              <a:t>+ manifest</a:t>
            </a:r>
            <a:endParaRPr lang="en-US" sz="1600" dirty="0"/>
          </a:p>
        </p:txBody>
      </p:sp>
      <p:sp>
        <p:nvSpPr>
          <p:cNvPr id="11" name="Text 9"/>
          <p:cNvSpPr/>
          <p:nvPr/>
        </p:nvSpPr>
        <p:spPr>
          <a:xfrm>
            <a:off x="704088" y="4361688"/>
            <a:ext cx="1755648" cy="320040"/>
          </a:xfrm>
          <a:prstGeom prst="rect">
            <a:avLst/>
          </a:prstGeom>
          <a:noFill/>
          <a:ln/>
        </p:spPr>
        <p:txBody>
          <a:bodyPr wrap="square" lIns="0" tIns="0" rIns="0" bIns="0" rtlCol="0" anchor="ctr"/>
          <a:lstStyle/>
          <a:p>
            <a:pPr marL="0" indent="0">
              <a:buNone/>
            </a:pPr>
            <a:r>
              <a:rPr lang="en-US" sz="1600" b="1" dirty="0">
                <a:solidFill>
                  <a:srgbClr val="FFD17C"/>
                </a:solidFill>
                <a:latin typeface="Trebuchet MS" pitchFamily="34" charset="0"/>
                <a:ea typeface="Trebuchet MS" pitchFamily="34" charset="-122"/>
                <a:cs typeface="Trebuchet MS" pitchFamily="34" charset="-120"/>
              </a:rPr>
              <a:t>Manual input</a:t>
            </a:r>
            <a:endParaRPr lang="en-US" sz="1600" dirty="0"/>
          </a:p>
        </p:txBody>
      </p:sp>
      <p:sp>
        <p:nvSpPr>
          <p:cNvPr id="12" name="Text 10"/>
          <p:cNvSpPr/>
          <p:nvPr/>
        </p:nvSpPr>
        <p:spPr>
          <a:xfrm>
            <a:off x="704088" y="4818888"/>
            <a:ext cx="1691640" cy="566928"/>
          </a:xfrm>
          <a:prstGeom prst="rect">
            <a:avLst/>
          </a:prstGeom>
          <a:noFill/>
          <a:ln/>
        </p:spPr>
        <p:txBody>
          <a:bodyPr wrap="square" lIns="0" tIns="0" rIns="0" bIns="0" rtlCol="0" anchor="ctr"/>
          <a:lstStyle/>
          <a:p>
            <a:pPr marL="0" indent="0">
              <a:buNone/>
            </a:pPr>
            <a:r>
              <a:rPr lang="en-US" sz="1600" dirty="0">
                <a:solidFill>
                  <a:srgbClr val="B7C8DB"/>
                </a:solidFill>
                <a:latin typeface="Calibri" pitchFamily="34" charset="0"/>
                <a:ea typeface="Calibri" pitchFamily="34" charset="-122"/>
                <a:cs typeface="Calibri" pitchFamily="34" charset="-120"/>
              </a:rPr>
              <a:t>Optional, dated,</a:t>
            </a:r>
            <a:endParaRPr lang="en-US" sz="1600" dirty="0"/>
          </a:p>
          <a:p>
            <a:pPr marL="0" indent="0">
              <a:buNone/>
            </a:pPr>
            <a:r>
              <a:rPr lang="en-US" sz="1600" dirty="0">
                <a:solidFill>
                  <a:srgbClr val="B7C8DB"/>
                </a:solidFill>
                <a:latin typeface="Calibri" pitchFamily="34" charset="0"/>
                <a:ea typeface="Calibri" pitchFamily="34" charset="-122"/>
                <a:cs typeface="Calibri" pitchFamily="34" charset="-120"/>
              </a:rPr>
              <a:t>run-specific answers</a:t>
            </a:r>
            <a:endParaRPr lang="en-US" sz="1600" dirty="0"/>
          </a:p>
        </p:txBody>
      </p:sp>
      <p:sp>
        <p:nvSpPr>
          <p:cNvPr id="13" name="Shape 11"/>
          <p:cNvSpPr/>
          <p:nvPr/>
        </p:nvSpPr>
        <p:spPr>
          <a:xfrm>
            <a:off x="2971800" y="2103120"/>
            <a:ext cx="5669280" cy="3767328"/>
          </a:xfrm>
          <a:prstGeom prst="roundRect">
            <a:avLst>
              <a:gd name="adj" fmla="val 2913"/>
            </a:avLst>
          </a:prstGeom>
          <a:solidFill>
            <a:srgbClr val="101B2B">
              <a:alpha val="0"/>
            </a:srgbClr>
          </a:solidFill>
          <a:ln w="17780">
            <a:solidFill>
              <a:srgbClr val="4DE2C0"/>
            </a:solidFill>
            <a:prstDash val="solid"/>
          </a:ln>
        </p:spPr>
        <p:txBody>
          <a:bodyPr/>
          <a:lstStyle/>
          <a:p>
            <a:endParaRPr lang="en-ZA"/>
          </a:p>
        </p:txBody>
      </p:sp>
      <p:sp>
        <p:nvSpPr>
          <p:cNvPr id="14" name="Text 12"/>
          <p:cNvSpPr/>
          <p:nvPr/>
        </p:nvSpPr>
        <p:spPr>
          <a:xfrm>
            <a:off x="3200400" y="2286000"/>
            <a:ext cx="5212080" cy="320040"/>
          </a:xfrm>
          <a:prstGeom prst="rect">
            <a:avLst/>
          </a:prstGeom>
          <a:noFill/>
          <a:ln/>
        </p:spPr>
        <p:txBody>
          <a:bodyPr wrap="square" lIns="0" tIns="0" rIns="0" bIns="0" rtlCol="0" anchor="ctr"/>
          <a:lstStyle/>
          <a:p>
            <a:pPr marL="0" indent="0">
              <a:buNone/>
            </a:pPr>
            <a:r>
              <a:rPr lang="en-US" sz="2000" b="1" dirty="0">
                <a:solidFill>
                  <a:srgbClr val="4DE2C0"/>
                </a:solidFill>
                <a:latin typeface="Trebuchet MS" pitchFamily="34" charset="0"/>
                <a:ea typeface="Trebuchet MS" pitchFamily="34" charset="-122"/>
                <a:cs typeface="Trebuchet MS" pitchFamily="34" charset="-120"/>
              </a:rPr>
              <a:t>GITHUB COPILOT APP</a:t>
            </a:r>
            <a:endParaRPr lang="en-US" sz="2000" dirty="0"/>
          </a:p>
        </p:txBody>
      </p:sp>
      <p:sp>
        <p:nvSpPr>
          <p:cNvPr id="15" name="Shape 13"/>
          <p:cNvSpPr/>
          <p:nvPr/>
        </p:nvSpPr>
        <p:spPr>
          <a:xfrm>
            <a:off x="3200400" y="2807208"/>
            <a:ext cx="5212080" cy="722376"/>
          </a:xfrm>
          <a:prstGeom prst="roundRect">
            <a:avLst>
              <a:gd name="adj" fmla="val 15190"/>
            </a:avLst>
          </a:prstGeom>
          <a:solidFill>
            <a:srgbClr val="1D2D44"/>
          </a:solidFill>
          <a:ln w="12700">
            <a:solidFill>
              <a:srgbClr val="1D2D44"/>
            </a:solidFill>
            <a:prstDash val="solid"/>
          </a:ln>
        </p:spPr>
        <p:txBody>
          <a:bodyPr/>
          <a:lstStyle/>
          <a:p>
            <a:endParaRPr lang="en-ZA"/>
          </a:p>
        </p:txBody>
      </p:sp>
      <p:sp>
        <p:nvSpPr>
          <p:cNvPr id="16" name="Text 14"/>
          <p:cNvSpPr/>
          <p:nvPr/>
        </p:nvSpPr>
        <p:spPr>
          <a:xfrm>
            <a:off x="3383280" y="2935224"/>
            <a:ext cx="2103120" cy="274320"/>
          </a:xfrm>
          <a:prstGeom prst="rect">
            <a:avLst/>
          </a:prstGeom>
          <a:noFill/>
          <a:ln/>
        </p:spPr>
        <p:txBody>
          <a:bodyPr wrap="square" lIns="0" tIns="0" rIns="0" bIns="0" rtlCol="0" anchor="ctr"/>
          <a:lstStyle/>
          <a:p>
            <a:pPr marL="0" indent="0">
              <a:buNone/>
            </a:pPr>
            <a:r>
              <a:rPr lang="en-US" sz="1800" b="1" dirty="0">
                <a:solidFill>
                  <a:srgbClr val="79BAFF"/>
                </a:solidFill>
                <a:latin typeface="Trebuchet MS" pitchFamily="34" charset="0"/>
                <a:ea typeface="Trebuchet MS" pitchFamily="34" charset="-122"/>
                <a:cs typeface="Trebuchet MS" pitchFamily="34" charset="-120"/>
              </a:rPr>
              <a:t>Extensions</a:t>
            </a:r>
            <a:endParaRPr lang="en-US" sz="1800" dirty="0"/>
          </a:p>
        </p:txBody>
      </p:sp>
      <p:sp>
        <p:nvSpPr>
          <p:cNvPr id="17" name="Text 15"/>
          <p:cNvSpPr/>
          <p:nvPr/>
        </p:nvSpPr>
        <p:spPr>
          <a:xfrm>
            <a:off x="5577840" y="2880360"/>
            <a:ext cx="2651760" cy="256032"/>
          </a:xfrm>
          <a:prstGeom prst="rect">
            <a:avLst/>
          </a:prstGeom>
          <a:noFill/>
          <a:ln/>
        </p:spPr>
        <p:txBody>
          <a:bodyPr wrap="square" lIns="0" tIns="0" rIns="0" bIns="0" rtlCol="0" anchor="ctr"/>
          <a:lstStyle/>
          <a:p>
            <a:pPr marL="0" indent="0">
              <a:buNone/>
            </a:pPr>
            <a:r>
              <a:rPr lang="en-US" sz="1500" b="1" dirty="0">
                <a:solidFill>
                  <a:srgbClr val="F4F8FE"/>
                </a:solidFill>
                <a:latin typeface="Trebuchet MS" pitchFamily="34" charset="0"/>
                <a:ea typeface="Trebuchet MS" pitchFamily="34" charset="-122"/>
                <a:cs typeface="Trebuchet MS" pitchFamily="34" charset="-120"/>
              </a:rPr>
              <a:t>Execute local helpers</a:t>
            </a:r>
            <a:endParaRPr lang="en-US" sz="1500" dirty="0"/>
          </a:p>
        </p:txBody>
      </p:sp>
      <p:sp>
        <p:nvSpPr>
          <p:cNvPr id="18" name="Text 16"/>
          <p:cNvSpPr/>
          <p:nvPr/>
        </p:nvSpPr>
        <p:spPr>
          <a:xfrm>
            <a:off x="5577840" y="3163824"/>
            <a:ext cx="2651760" cy="210312"/>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PowerShell + Azure CLI</a:t>
            </a:r>
            <a:endParaRPr lang="en-US" sz="1200" dirty="0"/>
          </a:p>
        </p:txBody>
      </p:sp>
      <p:sp>
        <p:nvSpPr>
          <p:cNvPr id="19" name="Shape 17"/>
          <p:cNvSpPr/>
          <p:nvPr/>
        </p:nvSpPr>
        <p:spPr>
          <a:xfrm>
            <a:off x="3200400" y="3685032"/>
            <a:ext cx="5212080" cy="722376"/>
          </a:xfrm>
          <a:prstGeom prst="roundRect">
            <a:avLst>
              <a:gd name="adj" fmla="val 15190"/>
            </a:avLst>
          </a:prstGeom>
          <a:solidFill>
            <a:srgbClr val="1D2D44"/>
          </a:solidFill>
          <a:ln w="12700">
            <a:solidFill>
              <a:srgbClr val="1D2D44"/>
            </a:solidFill>
            <a:prstDash val="solid"/>
          </a:ln>
        </p:spPr>
        <p:txBody>
          <a:bodyPr/>
          <a:lstStyle/>
          <a:p>
            <a:endParaRPr lang="en-ZA"/>
          </a:p>
        </p:txBody>
      </p:sp>
      <p:sp>
        <p:nvSpPr>
          <p:cNvPr id="20" name="Text 18"/>
          <p:cNvSpPr/>
          <p:nvPr/>
        </p:nvSpPr>
        <p:spPr>
          <a:xfrm>
            <a:off x="3383280" y="3813048"/>
            <a:ext cx="2103120" cy="274320"/>
          </a:xfrm>
          <a:prstGeom prst="rect">
            <a:avLst/>
          </a:prstGeom>
          <a:noFill/>
          <a:ln/>
        </p:spPr>
        <p:txBody>
          <a:bodyPr wrap="square" lIns="0" tIns="0" rIns="0" bIns="0" rtlCol="0" anchor="ctr"/>
          <a:lstStyle/>
          <a:p>
            <a:pPr marL="0" indent="0">
              <a:buNone/>
            </a:pPr>
            <a:r>
              <a:rPr lang="en-US" sz="1800" b="1" dirty="0">
                <a:solidFill>
                  <a:srgbClr val="4DE2C0"/>
                </a:solidFill>
                <a:latin typeface="Trebuchet MS" pitchFamily="34" charset="0"/>
                <a:ea typeface="Trebuchet MS" pitchFamily="34" charset="-122"/>
                <a:cs typeface="Trebuchet MS" pitchFamily="34" charset="-120"/>
              </a:rPr>
              <a:t>Workflow canvas</a:t>
            </a:r>
            <a:endParaRPr lang="en-US" sz="1800" dirty="0"/>
          </a:p>
        </p:txBody>
      </p:sp>
      <p:sp>
        <p:nvSpPr>
          <p:cNvPr id="21" name="Text 19"/>
          <p:cNvSpPr/>
          <p:nvPr/>
        </p:nvSpPr>
        <p:spPr>
          <a:xfrm>
            <a:off x="5577840" y="3758184"/>
            <a:ext cx="2651760" cy="256032"/>
          </a:xfrm>
          <a:prstGeom prst="rect">
            <a:avLst/>
          </a:prstGeom>
          <a:noFill/>
          <a:ln/>
        </p:spPr>
        <p:txBody>
          <a:bodyPr wrap="square" lIns="0" tIns="0" rIns="0" bIns="0" rtlCol="0" anchor="ctr"/>
          <a:lstStyle/>
          <a:p>
            <a:pPr marL="0" indent="0">
              <a:buNone/>
            </a:pPr>
            <a:r>
              <a:rPr lang="en-US" sz="1500" b="1" dirty="0">
                <a:solidFill>
                  <a:srgbClr val="F4F8FE"/>
                </a:solidFill>
                <a:latin typeface="Trebuchet MS" pitchFamily="34" charset="0"/>
                <a:ea typeface="Trebuchet MS" pitchFamily="34" charset="-122"/>
                <a:cs typeface="Trebuchet MS" pitchFamily="34" charset="-120"/>
              </a:rPr>
              <a:t>Manage the review</a:t>
            </a:r>
            <a:endParaRPr lang="en-US" sz="1500" dirty="0"/>
          </a:p>
        </p:txBody>
      </p:sp>
      <p:sp>
        <p:nvSpPr>
          <p:cNvPr id="22" name="Text 20"/>
          <p:cNvSpPr/>
          <p:nvPr/>
        </p:nvSpPr>
        <p:spPr>
          <a:xfrm>
            <a:off x="5577840" y="4041648"/>
            <a:ext cx="2651760" cy="210312"/>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Stages, gates, logs, artifacts</a:t>
            </a:r>
            <a:endParaRPr lang="en-US" sz="1200" dirty="0"/>
          </a:p>
        </p:txBody>
      </p:sp>
      <p:sp>
        <p:nvSpPr>
          <p:cNvPr id="23" name="Shape 21"/>
          <p:cNvSpPr/>
          <p:nvPr/>
        </p:nvSpPr>
        <p:spPr>
          <a:xfrm>
            <a:off x="3200400" y="4562856"/>
            <a:ext cx="5212080" cy="722376"/>
          </a:xfrm>
          <a:prstGeom prst="roundRect">
            <a:avLst>
              <a:gd name="adj" fmla="val 15190"/>
            </a:avLst>
          </a:prstGeom>
          <a:solidFill>
            <a:srgbClr val="1D2D44"/>
          </a:solidFill>
          <a:ln w="12700">
            <a:solidFill>
              <a:srgbClr val="1D2D44"/>
            </a:solidFill>
            <a:prstDash val="solid"/>
          </a:ln>
        </p:spPr>
        <p:txBody>
          <a:bodyPr/>
          <a:lstStyle/>
          <a:p>
            <a:endParaRPr lang="en-ZA"/>
          </a:p>
        </p:txBody>
      </p:sp>
      <p:sp>
        <p:nvSpPr>
          <p:cNvPr id="24" name="Text 22"/>
          <p:cNvSpPr/>
          <p:nvPr/>
        </p:nvSpPr>
        <p:spPr>
          <a:xfrm>
            <a:off x="3383280" y="4690872"/>
            <a:ext cx="2103120" cy="274320"/>
          </a:xfrm>
          <a:prstGeom prst="rect">
            <a:avLst/>
          </a:prstGeom>
          <a:noFill/>
          <a:ln/>
        </p:spPr>
        <p:txBody>
          <a:bodyPr wrap="square" lIns="0" tIns="0" rIns="0" bIns="0" rtlCol="0" anchor="ctr"/>
          <a:lstStyle/>
          <a:p>
            <a:pPr marL="0" indent="0">
              <a:buNone/>
            </a:pPr>
            <a:r>
              <a:rPr lang="en-US" sz="1800" b="1" dirty="0">
                <a:solidFill>
                  <a:srgbClr val="FFD17C"/>
                </a:solidFill>
                <a:latin typeface="Trebuchet MS" pitchFamily="34" charset="0"/>
                <a:ea typeface="Trebuchet MS" pitchFamily="34" charset="-122"/>
                <a:cs typeface="Trebuchet MS" pitchFamily="34" charset="-120"/>
              </a:rPr>
              <a:t>Review skill</a:t>
            </a:r>
            <a:endParaRPr lang="en-US" sz="1800" dirty="0"/>
          </a:p>
        </p:txBody>
      </p:sp>
      <p:sp>
        <p:nvSpPr>
          <p:cNvPr id="25" name="Text 23"/>
          <p:cNvSpPr/>
          <p:nvPr/>
        </p:nvSpPr>
        <p:spPr>
          <a:xfrm>
            <a:off x="5577840" y="4636008"/>
            <a:ext cx="2651760" cy="256032"/>
          </a:xfrm>
          <a:prstGeom prst="rect">
            <a:avLst/>
          </a:prstGeom>
          <a:noFill/>
          <a:ln/>
        </p:spPr>
        <p:txBody>
          <a:bodyPr wrap="square" lIns="0" tIns="0" rIns="0" bIns="0" rtlCol="0" anchor="ctr"/>
          <a:lstStyle/>
          <a:p>
            <a:pPr marL="0" indent="0">
              <a:buNone/>
            </a:pPr>
            <a:r>
              <a:rPr lang="en-US" sz="1500" b="1" dirty="0">
                <a:solidFill>
                  <a:srgbClr val="F4F8FE"/>
                </a:solidFill>
                <a:latin typeface="Trebuchet MS" pitchFamily="34" charset="0"/>
                <a:ea typeface="Trebuchet MS" pitchFamily="34" charset="-122"/>
                <a:cs typeface="Trebuchet MS" pitchFamily="34" charset="-120"/>
              </a:rPr>
              <a:t>Assess the evidence</a:t>
            </a:r>
            <a:endParaRPr lang="en-US" sz="1500" dirty="0"/>
          </a:p>
        </p:txBody>
      </p:sp>
      <p:sp>
        <p:nvSpPr>
          <p:cNvPr id="26" name="Text 24"/>
          <p:cNvSpPr/>
          <p:nvPr/>
        </p:nvSpPr>
        <p:spPr>
          <a:xfrm>
            <a:off x="5577840" y="4919472"/>
            <a:ext cx="2651760" cy="210312"/>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157 controls + evidence rules</a:t>
            </a:r>
            <a:endParaRPr lang="en-US" sz="1200" dirty="0"/>
          </a:p>
        </p:txBody>
      </p:sp>
      <p:sp>
        <p:nvSpPr>
          <p:cNvPr id="27" name="Shape 25"/>
          <p:cNvSpPr/>
          <p:nvPr/>
        </p:nvSpPr>
        <p:spPr>
          <a:xfrm>
            <a:off x="2651760" y="3785616"/>
            <a:ext cx="274320" cy="0"/>
          </a:xfrm>
          <a:prstGeom prst="line">
            <a:avLst/>
          </a:prstGeom>
          <a:noFill/>
          <a:ln w="25400">
            <a:solidFill>
              <a:srgbClr val="4DE2C0"/>
            </a:solidFill>
            <a:prstDash val="solid"/>
            <a:headEnd type="none"/>
            <a:tailEnd type="triangle"/>
          </a:ln>
        </p:spPr>
        <p:txBody>
          <a:bodyPr/>
          <a:lstStyle/>
          <a:p>
            <a:endParaRPr lang="en-ZA"/>
          </a:p>
        </p:txBody>
      </p:sp>
      <p:sp>
        <p:nvSpPr>
          <p:cNvPr id="28" name="Shape 26"/>
          <p:cNvSpPr/>
          <p:nvPr/>
        </p:nvSpPr>
        <p:spPr>
          <a:xfrm>
            <a:off x="8677656" y="3785616"/>
            <a:ext cx="274320" cy="0"/>
          </a:xfrm>
          <a:prstGeom prst="line">
            <a:avLst/>
          </a:prstGeom>
          <a:noFill/>
          <a:ln w="25400">
            <a:solidFill>
              <a:srgbClr val="4DE2C0"/>
            </a:solidFill>
            <a:prstDash val="solid"/>
            <a:headEnd type="none"/>
            <a:tailEnd type="triangle"/>
          </a:ln>
        </p:spPr>
        <p:txBody>
          <a:bodyPr/>
          <a:lstStyle/>
          <a:p>
            <a:endParaRPr lang="en-ZA"/>
          </a:p>
        </p:txBody>
      </p:sp>
      <p:sp>
        <p:nvSpPr>
          <p:cNvPr id="29" name="Shape 27"/>
          <p:cNvSpPr/>
          <p:nvPr/>
        </p:nvSpPr>
        <p:spPr>
          <a:xfrm>
            <a:off x="8997696" y="2267712"/>
            <a:ext cx="2688336" cy="3291840"/>
          </a:xfrm>
          <a:prstGeom prst="roundRect">
            <a:avLst>
              <a:gd name="adj" fmla="val 4082"/>
            </a:avLst>
          </a:prstGeom>
          <a:solidFill>
            <a:srgbClr val="1D2D44"/>
          </a:solidFill>
          <a:ln w="12700">
            <a:solidFill>
              <a:srgbClr val="1D2D44"/>
            </a:solidFill>
            <a:prstDash val="solid"/>
          </a:ln>
        </p:spPr>
        <p:txBody>
          <a:bodyPr/>
          <a:lstStyle/>
          <a:p>
            <a:endParaRPr lang="en-ZA"/>
          </a:p>
        </p:txBody>
      </p:sp>
      <p:sp>
        <p:nvSpPr>
          <p:cNvPr id="30" name="Text 28"/>
          <p:cNvSpPr/>
          <p:nvPr/>
        </p:nvSpPr>
        <p:spPr>
          <a:xfrm>
            <a:off x="9208008" y="2468880"/>
            <a:ext cx="2194560" cy="320040"/>
          </a:xfrm>
          <a:prstGeom prst="rect">
            <a:avLst/>
          </a:prstGeom>
          <a:noFill/>
          <a:ln/>
        </p:spPr>
        <p:txBody>
          <a:bodyPr wrap="square" lIns="0" tIns="0" rIns="0" bIns="0" rtlCol="0" anchor="ctr"/>
          <a:lstStyle/>
          <a:p>
            <a:pPr marL="0" indent="0">
              <a:buNone/>
            </a:pPr>
            <a:r>
              <a:rPr lang="en-US" sz="1900" b="1" dirty="0">
                <a:solidFill>
                  <a:srgbClr val="4DE2C0"/>
                </a:solidFill>
                <a:latin typeface="Trebuchet MS" pitchFamily="34" charset="0"/>
                <a:ea typeface="Trebuchet MS" pitchFamily="34" charset="-122"/>
                <a:cs typeface="Trebuchet MS" pitchFamily="34" charset="-120"/>
              </a:rPr>
              <a:t>OUTPUTS</a:t>
            </a:r>
            <a:endParaRPr lang="en-US" sz="1900" dirty="0"/>
          </a:p>
        </p:txBody>
      </p:sp>
      <p:sp>
        <p:nvSpPr>
          <p:cNvPr id="31" name="Text 29"/>
          <p:cNvSpPr/>
          <p:nvPr/>
        </p:nvSpPr>
        <p:spPr>
          <a:xfrm>
            <a:off x="9208008" y="2971800"/>
            <a:ext cx="2194560" cy="320040"/>
          </a:xfrm>
          <a:prstGeom prst="rect">
            <a:avLst/>
          </a:prstGeom>
          <a:noFill/>
          <a:ln/>
        </p:spPr>
        <p:txBody>
          <a:bodyPr wrap="square" lIns="0" tIns="0" rIns="0" bIns="0" rtlCol="0" anchor="ctr"/>
          <a:lstStyle/>
          <a:p>
            <a:pPr marL="0" indent="0">
              <a:buNone/>
            </a:pPr>
            <a:r>
              <a:rPr lang="en-US" sz="1900" b="1" dirty="0">
                <a:solidFill>
                  <a:srgbClr val="F4F8FE"/>
                </a:solidFill>
                <a:latin typeface="Trebuchet MS" pitchFamily="34" charset="0"/>
                <a:ea typeface="Trebuchet MS" pitchFamily="34" charset="-122"/>
                <a:cs typeface="Trebuchet MS" pitchFamily="34" charset="-120"/>
              </a:rPr>
              <a:t>Three reports</a:t>
            </a:r>
            <a:endParaRPr lang="en-US" sz="1900" dirty="0"/>
          </a:p>
        </p:txBody>
      </p:sp>
      <p:sp>
        <p:nvSpPr>
          <p:cNvPr id="32" name="Text 30"/>
          <p:cNvSpPr/>
          <p:nvPr/>
        </p:nvSpPr>
        <p:spPr>
          <a:xfrm>
            <a:off x="9208008" y="3419856"/>
            <a:ext cx="2194560" cy="850392"/>
          </a:xfrm>
          <a:prstGeom prst="rect">
            <a:avLst/>
          </a:prstGeom>
          <a:noFill/>
          <a:ln/>
        </p:spPr>
        <p:txBody>
          <a:bodyPr wrap="square" lIns="0" tIns="0" rIns="0" bIns="0" rtlCol="0" anchor="ctr"/>
          <a:lstStyle/>
          <a:p>
            <a:pPr marL="0" indent="0">
              <a:buNone/>
            </a:pPr>
            <a:r>
              <a:rPr lang="en-US" sz="1600" dirty="0">
                <a:solidFill>
                  <a:srgbClr val="B7C8DB"/>
                </a:solidFill>
                <a:latin typeface="Calibri" pitchFamily="34" charset="0"/>
                <a:ea typeface="Calibri" pitchFamily="34" charset="-122"/>
                <a:cs typeface="Calibri" pitchFamily="34" charset="-120"/>
              </a:rPr>
              <a:t>Executive summary</a:t>
            </a:r>
            <a:endParaRPr lang="en-US" sz="1600" dirty="0"/>
          </a:p>
          <a:p>
            <a:pPr marL="0" indent="0">
              <a:buNone/>
            </a:pPr>
            <a:r>
              <a:rPr lang="en-US" sz="1600" dirty="0">
                <a:solidFill>
                  <a:srgbClr val="B7C8DB"/>
                </a:solidFill>
                <a:latin typeface="Calibri" pitchFamily="34" charset="0"/>
                <a:ea typeface="Calibri" pitchFamily="34" charset="-122"/>
                <a:cs typeface="Calibri" pitchFamily="34" charset="-120"/>
              </a:rPr>
              <a:t>Detailed review</a:t>
            </a:r>
            <a:endParaRPr lang="en-US" sz="1600" dirty="0"/>
          </a:p>
          <a:p>
            <a:pPr marL="0" indent="0">
              <a:buNone/>
            </a:pPr>
            <a:r>
              <a:rPr lang="en-US" sz="1600" dirty="0">
                <a:solidFill>
                  <a:srgbClr val="B7C8DB"/>
                </a:solidFill>
                <a:latin typeface="Calibri" pitchFamily="34" charset="0"/>
                <a:ea typeface="Calibri" pitchFamily="34" charset="-122"/>
                <a:cs typeface="Calibri" pitchFamily="34" charset="-120"/>
              </a:rPr>
              <a:t>Findings CSV</a:t>
            </a:r>
            <a:endParaRPr lang="en-US" sz="1600" dirty="0"/>
          </a:p>
        </p:txBody>
      </p:sp>
      <p:sp>
        <p:nvSpPr>
          <p:cNvPr id="33" name="Text 31"/>
          <p:cNvSpPr/>
          <p:nvPr/>
        </p:nvSpPr>
        <p:spPr>
          <a:xfrm>
            <a:off x="9208008" y="4416552"/>
            <a:ext cx="2194560" cy="320040"/>
          </a:xfrm>
          <a:prstGeom prst="rect">
            <a:avLst/>
          </a:prstGeom>
          <a:noFill/>
          <a:ln/>
        </p:spPr>
        <p:txBody>
          <a:bodyPr wrap="square" lIns="0" tIns="0" rIns="0" bIns="0" rtlCol="0" anchor="ctr"/>
          <a:lstStyle/>
          <a:p>
            <a:pPr marL="0" indent="0">
              <a:buNone/>
            </a:pPr>
            <a:r>
              <a:rPr lang="en-US" sz="1800" b="1" dirty="0">
                <a:solidFill>
                  <a:srgbClr val="79BAFF"/>
                </a:solidFill>
                <a:latin typeface="Trebuchet MS" pitchFamily="34" charset="0"/>
                <a:ea typeface="Trebuchet MS" pitchFamily="34" charset="-122"/>
                <a:cs typeface="Trebuchet MS" pitchFamily="34" charset="-120"/>
              </a:rPr>
              <a:t>Dashboard canvas</a:t>
            </a:r>
            <a:endParaRPr lang="en-US" sz="1800" dirty="0"/>
          </a:p>
        </p:txBody>
      </p:sp>
      <p:sp>
        <p:nvSpPr>
          <p:cNvPr id="34" name="Text 32"/>
          <p:cNvSpPr/>
          <p:nvPr/>
        </p:nvSpPr>
        <p:spPr>
          <a:xfrm>
            <a:off x="9208008" y="4782312"/>
            <a:ext cx="2194560" cy="365760"/>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Explore findings + priorities</a:t>
            </a:r>
            <a:endParaRPr lang="en-US" sz="1400" dirty="0"/>
          </a:p>
        </p:txBody>
      </p:sp>
      <p:sp>
        <p:nvSpPr>
          <p:cNvPr id="35" name="Text 33"/>
          <p:cNvSpPr/>
          <p:nvPr/>
        </p:nvSpPr>
        <p:spPr>
          <a:xfrm>
            <a:off x="9208008" y="5166360"/>
            <a:ext cx="2194560" cy="274320"/>
          </a:xfrm>
          <a:prstGeom prst="rect">
            <a:avLst/>
          </a:prstGeom>
          <a:noFill/>
          <a:ln/>
        </p:spPr>
        <p:txBody>
          <a:bodyPr wrap="square" lIns="0" tIns="0" rIns="0" bIns="0" rtlCol="0" anchor="ctr"/>
          <a:lstStyle/>
          <a:p>
            <a:pPr marL="0" indent="0">
              <a:buNone/>
            </a:pPr>
            <a:r>
              <a:rPr lang="en-US" sz="1500" b="1" dirty="0">
                <a:solidFill>
                  <a:srgbClr val="FFD17C"/>
                </a:solidFill>
                <a:latin typeface="Trebuchet MS" pitchFamily="34" charset="0"/>
                <a:ea typeface="Trebuchet MS" pitchFamily="34" charset="-122"/>
                <a:cs typeface="Trebuchet MS" pitchFamily="34" charset="-120"/>
              </a:rPr>
              <a:t>Optional PowerPoint</a:t>
            </a:r>
            <a:endParaRPr lang="en-US" sz="1500" dirty="0"/>
          </a:p>
        </p:txBody>
      </p:sp>
      <p:sp>
        <p:nvSpPr>
          <p:cNvPr id="36" name="Text 34"/>
          <p:cNvSpPr/>
          <p:nvPr/>
        </p:nvSpPr>
        <p:spPr>
          <a:xfrm>
            <a:off x="521208" y="6016752"/>
            <a:ext cx="11064240"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Chat starts the request. The canvas coordinates. People validate and decide.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B2B"/>
        </a:solidFill>
        <a:effectLst/>
      </p:bgPr>
    </p:bg>
    <p:spTree>
      <p:nvGrpSpPr>
        <p:cNvPr id="1" name=""/>
        <p:cNvGrpSpPr/>
        <p:nvPr/>
      </p:nvGrpSpPr>
      <p:grpSpPr>
        <a:xfrm>
          <a:off x="0" y="0"/>
          <a:ext cx="0" cy="0"/>
          <a:chOff x="0" y="0"/>
          <a:chExt cx="0" cy="0"/>
        </a:xfrm>
      </p:grpSpPr>
      <p:sp>
        <p:nvSpPr>
          <p:cNvPr id="2" name="Text 0"/>
          <p:cNvSpPr/>
          <p:nvPr/>
        </p:nvSpPr>
        <p:spPr>
          <a:xfrm>
            <a:off x="502920" y="274320"/>
            <a:ext cx="10058400" cy="228600"/>
          </a:xfrm>
          <a:prstGeom prst="rect">
            <a:avLst/>
          </a:prstGeom>
          <a:noFill/>
          <a:ln/>
        </p:spPr>
        <p:txBody>
          <a:bodyPr wrap="square" lIns="0" tIns="0" rIns="0" bIns="0" rtlCol="0" anchor="ctr"/>
          <a:lstStyle/>
          <a:p>
            <a:pPr marL="0" indent="0">
              <a:buNone/>
            </a:pPr>
            <a:r>
              <a:rPr lang="en-US" sz="1000" b="1" dirty="0">
                <a:solidFill>
                  <a:srgbClr val="B7C8DB"/>
                </a:solidFill>
                <a:latin typeface="Trebuchet MS" pitchFamily="34" charset="0"/>
                <a:ea typeface="Trebuchet MS" pitchFamily="34" charset="-122"/>
                <a:cs typeface="Trebuchet MS" pitchFamily="34" charset="-120"/>
              </a:rPr>
              <a:t>WORDPRESS ON AZURE  /  WELL-ARCHITECTED REVIEW</a:t>
            </a:r>
            <a:endParaRPr lang="en-US" sz="1000" dirty="0"/>
          </a:p>
        </p:txBody>
      </p:sp>
      <p:sp>
        <p:nvSpPr>
          <p:cNvPr id="3" name="Text 1"/>
          <p:cNvSpPr/>
          <p:nvPr/>
        </p:nvSpPr>
        <p:spPr>
          <a:xfrm>
            <a:off x="502920" y="777240"/>
            <a:ext cx="11155680" cy="658368"/>
          </a:xfrm>
          <a:prstGeom prst="rect">
            <a:avLst/>
          </a:prstGeom>
          <a:noFill/>
          <a:ln/>
        </p:spPr>
        <p:txBody>
          <a:bodyPr wrap="square" lIns="0" tIns="0" rIns="0" bIns="0" rtlCol="0" anchor="ctr"/>
          <a:lstStyle/>
          <a:p>
            <a:pPr marL="0" indent="0">
              <a:buNone/>
            </a:pPr>
            <a:r>
              <a:rPr lang="en-US" sz="3400" b="1" dirty="0">
                <a:solidFill>
                  <a:srgbClr val="F4F8FE"/>
                </a:solidFill>
                <a:latin typeface="Trebuchet MS" pitchFamily="34" charset="0"/>
                <a:ea typeface="Trebuchet MS" pitchFamily="34" charset="-122"/>
                <a:cs typeface="Trebuchet MS" pitchFamily="34" charset="-120"/>
              </a:rPr>
              <a:t>The canvas coordinates the end-to-end flow</a:t>
            </a:r>
            <a:endParaRPr lang="en-US" sz="3400" dirty="0"/>
          </a:p>
        </p:txBody>
      </p:sp>
      <p:sp>
        <p:nvSpPr>
          <p:cNvPr id="4" name="Text 2"/>
          <p:cNvSpPr/>
          <p:nvPr/>
        </p:nvSpPr>
        <p:spPr>
          <a:xfrm>
            <a:off x="521208" y="1481328"/>
            <a:ext cx="11064240" cy="457200"/>
          </a:xfrm>
          <a:prstGeom prst="rect">
            <a:avLst/>
          </a:prstGeom>
          <a:noFill/>
          <a:ln/>
        </p:spPr>
        <p:txBody>
          <a:bodyPr wrap="square" lIns="0" tIns="0" rIns="0" bIns="0" rtlCol="0" anchor="ctr"/>
          <a:lstStyle/>
          <a:p>
            <a:pPr marL="0" indent="0">
              <a:buNone/>
            </a:pPr>
            <a:r>
              <a:rPr lang="en-US" sz="1700" dirty="0">
                <a:solidFill>
                  <a:srgbClr val="B7C8DB"/>
                </a:solidFill>
                <a:latin typeface="Calibri" pitchFamily="34" charset="0"/>
                <a:ea typeface="Calibri" pitchFamily="34" charset="-122"/>
                <a:cs typeface="Calibri" pitchFamily="34" charset="-120"/>
              </a:rPr>
              <a:t>Eight required stages plus two optional stages; manual validation precedes assessment.</a:t>
            </a:r>
            <a:endParaRPr lang="en-US" sz="1700" dirty="0"/>
          </a:p>
        </p:txBody>
      </p:sp>
      <p:sp>
        <p:nvSpPr>
          <p:cNvPr id="5" name="Text 3"/>
          <p:cNvSpPr/>
          <p:nvPr/>
        </p:nvSpPr>
        <p:spPr>
          <a:xfrm>
            <a:off x="502920" y="6419088"/>
            <a:ext cx="10789920" cy="219456"/>
          </a:xfrm>
          <a:prstGeom prst="rect">
            <a:avLst/>
          </a:prstGeom>
          <a:noFill/>
          <a:ln/>
        </p:spPr>
        <p:txBody>
          <a:bodyPr wrap="square" lIns="0" tIns="0" rIns="0" bIns="0" rtlCol="0" anchor="ctr"/>
          <a:lstStyle/>
          <a:p>
            <a:pPr marL="0" indent="0">
              <a:buNone/>
            </a:pPr>
            <a:r>
              <a:rPr lang="en-US" sz="1000" dirty="0">
                <a:solidFill>
                  <a:srgbClr val="B7C8DB"/>
                </a:solidFill>
                <a:latin typeface="Calibri" pitchFamily="34" charset="0"/>
                <a:ea typeface="Calibri" pitchFamily="34" charset="-122"/>
                <a:cs typeface="Calibri" pitchFamily="34" charset="-120"/>
              </a:rPr>
              <a:t>GitHub Copilot app  |  Evidence-led review, not automatic remediation</a:t>
            </a:r>
            <a:endParaRPr lang="en-US" sz="1000" dirty="0"/>
          </a:p>
        </p:txBody>
      </p:sp>
      <p:sp>
        <p:nvSpPr>
          <p:cNvPr id="6" name="Text 4"/>
          <p:cNvSpPr/>
          <p:nvPr/>
        </p:nvSpPr>
        <p:spPr>
          <a:xfrm>
            <a:off x="11155680" y="6409944"/>
            <a:ext cx="502920" cy="219456"/>
          </a:xfrm>
          <a:prstGeom prst="rect">
            <a:avLst/>
          </a:prstGeom>
          <a:noFill/>
          <a:ln/>
        </p:spPr>
        <p:txBody>
          <a:bodyPr wrap="square" lIns="0" tIns="0" rIns="0" bIns="0" rtlCol="0" anchor="ctr"/>
          <a:lstStyle/>
          <a:p>
            <a:pPr marL="0" indent="0">
              <a:buNone/>
            </a:pPr>
            <a:r>
              <a:rPr lang="en-US" sz="1000" b="1" dirty="0">
                <a:solidFill>
                  <a:srgbClr val="B7C8DB"/>
                </a:solidFill>
                <a:latin typeface="Trebuchet MS" pitchFamily="34" charset="0"/>
                <a:ea typeface="Trebuchet MS" pitchFamily="34" charset="-122"/>
                <a:cs typeface="Trebuchet MS" pitchFamily="34" charset="-120"/>
              </a:rPr>
              <a:t>02</a:t>
            </a:r>
            <a:endParaRPr lang="en-US" sz="1000" dirty="0"/>
          </a:p>
        </p:txBody>
      </p:sp>
      <p:sp>
        <p:nvSpPr>
          <p:cNvPr id="7" name="Shape 5"/>
          <p:cNvSpPr/>
          <p:nvPr/>
        </p:nvSpPr>
        <p:spPr>
          <a:xfrm>
            <a:off x="502920" y="2194560"/>
            <a:ext cx="347472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8" name="Text 6"/>
          <p:cNvSpPr/>
          <p:nvPr/>
        </p:nvSpPr>
        <p:spPr>
          <a:xfrm>
            <a:off x="640080" y="232257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01</a:t>
            </a:r>
            <a:endParaRPr lang="en-US" sz="1700" dirty="0"/>
          </a:p>
        </p:txBody>
      </p:sp>
      <p:sp>
        <p:nvSpPr>
          <p:cNvPr id="9" name="Text 7"/>
          <p:cNvSpPr/>
          <p:nvPr/>
        </p:nvSpPr>
        <p:spPr>
          <a:xfrm>
            <a:off x="1161288" y="2313432"/>
            <a:ext cx="2679192"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Validate dependencies</a:t>
            </a:r>
            <a:endParaRPr lang="en-US" sz="1800" dirty="0"/>
          </a:p>
        </p:txBody>
      </p:sp>
      <p:sp>
        <p:nvSpPr>
          <p:cNvPr id="10" name="Text 8"/>
          <p:cNvSpPr/>
          <p:nvPr/>
        </p:nvSpPr>
        <p:spPr>
          <a:xfrm>
            <a:off x="649224" y="2715768"/>
            <a:ext cx="3182112" cy="201168"/>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PowerShell 7 + Azure CLI</a:t>
            </a:r>
            <a:endParaRPr lang="en-US" sz="1400" dirty="0"/>
          </a:p>
        </p:txBody>
      </p:sp>
      <p:sp>
        <p:nvSpPr>
          <p:cNvPr id="11" name="Shape 9"/>
          <p:cNvSpPr/>
          <p:nvPr/>
        </p:nvSpPr>
        <p:spPr>
          <a:xfrm>
            <a:off x="4361688" y="2194560"/>
            <a:ext cx="347472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12" name="Text 10"/>
          <p:cNvSpPr/>
          <p:nvPr/>
        </p:nvSpPr>
        <p:spPr>
          <a:xfrm>
            <a:off x="4498848" y="232257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02</a:t>
            </a:r>
            <a:endParaRPr lang="en-US" sz="1700" dirty="0"/>
          </a:p>
        </p:txBody>
      </p:sp>
      <p:sp>
        <p:nvSpPr>
          <p:cNvPr id="13" name="Text 11"/>
          <p:cNvSpPr/>
          <p:nvPr/>
        </p:nvSpPr>
        <p:spPr>
          <a:xfrm>
            <a:off x="5020056" y="2313432"/>
            <a:ext cx="2679192"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Connect scope</a:t>
            </a:r>
            <a:endParaRPr lang="en-US" sz="1800" dirty="0"/>
          </a:p>
        </p:txBody>
      </p:sp>
      <p:sp>
        <p:nvSpPr>
          <p:cNvPr id="14" name="Text 12"/>
          <p:cNvSpPr/>
          <p:nvPr/>
        </p:nvSpPr>
        <p:spPr>
          <a:xfrm>
            <a:off x="4507992" y="2715768"/>
            <a:ext cx="3182112" cy="201168"/>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Subscription + resource group</a:t>
            </a:r>
            <a:endParaRPr lang="en-US" sz="1400" dirty="0"/>
          </a:p>
        </p:txBody>
      </p:sp>
      <p:sp>
        <p:nvSpPr>
          <p:cNvPr id="15" name="Shape 13"/>
          <p:cNvSpPr/>
          <p:nvPr/>
        </p:nvSpPr>
        <p:spPr>
          <a:xfrm>
            <a:off x="8220456" y="2194560"/>
            <a:ext cx="347472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16" name="Text 14"/>
          <p:cNvSpPr/>
          <p:nvPr/>
        </p:nvSpPr>
        <p:spPr>
          <a:xfrm>
            <a:off x="8357616" y="232257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03</a:t>
            </a:r>
            <a:endParaRPr lang="en-US" sz="1700" dirty="0"/>
          </a:p>
        </p:txBody>
      </p:sp>
      <p:sp>
        <p:nvSpPr>
          <p:cNvPr id="17" name="Text 15"/>
          <p:cNvSpPr/>
          <p:nvPr/>
        </p:nvSpPr>
        <p:spPr>
          <a:xfrm>
            <a:off x="8878824" y="2313432"/>
            <a:ext cx="2679192"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Inventory resources</a:t>
            </a:r>
            <a:endParaRPr lang="en-US" sz="1800" dirty="0"/>
          </a:p>
        </p:txBody>
      </p:sp>
      <p:sp>
        <p:nvSpPr>
          <p:cNvPr id="18" name="Text 16"/>
          <p:cNvSpPr/>
          <p:nvPr/>
        </p:nvSpPr>
        <p:spPr>
          <a:xfrm>
            <a:off x="8366760" y="2715768"/>
            <a:ext cx="3182112" cy="201168"/>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Discover what is in scope</a:t>
            </a:r>
            <a:endParaRPr lang="en-US" sz="1400" dirty="0"/>
          </a:p>
        </p:txBody>
      </p:sp>
      <p:sp>
        <p:nvSpPr>
          <p:cNvPr id="19" name="Shape 17"/>
          <p:cNvSpPr/>
          <p:nvPr/>
        </p:nvSpPr>
        <p:spPr>
          <a:xfrm>
            <a:off x="8220456" y="3520440"/>
            <a:ext cx="347472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20" name="Text 18"/>
          <p:cNvSpPr/>
          <p:nvPr/>
        </p:nvSpPr>
        <p:spPr>
          <a:xfrm>
            <a:off x="8357616" y="364845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04</a:t>
            </a:r>
            <a:endParaRPr lang="en-US" sz="1700" dirty="0"/>
          </a:p>
        </p:txBody>
      </p:sp>
      <p:sp>
        <p:nvSpPr>
          <p:cNvPr id="21" name="Text 19"/>
          <p:cNvSpPr/>
          <p:nvPr/>
        </p:nvSpPr>
        <p:spPr>
          <a:xfrm>
            <a:off x="8878824" y="3639312"/>
            <a:ext cx="2679192"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Collect evidence</a:t>
            </a:r>
            <a:endParaRPr lang="en-US" sz="1800" dirty="0"/>
          </a:p>
        </p:txBody>
      </p:sp>
      <p:sp>
        <p:nvSpPr>
          <p:cNvPr id="22" name="Text 20"/>
          <p:cNvSpPr/>
          <p:nvPr/>
        </p:nvSpPr>
        <p:spPr>
          <a:xfrm>
            <a:off x="8366760" y="4041648"/>
            <a:ext cx="3182112" cy="201168"/>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Read-only configuration capture</a:t>
            </a:r>
            <a:endParaRPr lang="en-US" sz="1400" dirty="0"/>
          </a:p>
        </p:txBody>
      </p:sp>
      <p:sp>
        <p:nvSpPr>
          <p:cNvPr id="23" name="Shape 21"/>
          <p:cNvSpPr/>
          <p:nvPr/>
        </p:nvSpPr>
        <p:spPr>
          <a:xfrm>
            <a:off x="4361688" y="3520440"/>
            <a:ext cx="347472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24" name="Text 22"/>
          <p:cNvSpPr/>
          <p:nvPr/>
        </p:nvSpPr>
        <p:spPr>
          <a:xfrm>
            <a:off x="4498848" y="364845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05</a:t>
            </a:r>
            <a:endParaRPr lang="en-US" sz="1700" dirty="0"/>
          </a:p>
        </p:txBody>
      </p:sp>
      <p:sp>
        <p:nvSpPr>
          <p:cNvPr id="25" name="Text 23"/>
          <p:cNvSpPr/>
          <p:nvPr/>
        </p:nvSpPr>
        <p:spPr>
          <a:xfrm>
            <a:off x="5020056" y="3639312"/>
            <a:ext cx="2679192"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Package data</a:t>
            </a:r>
            <a:endParaRPr lang="en-US" sz="1800" dirty="0"/>
          </a:p>
        </p:txBody>
      </p:sp>
      <p:sp>
        <p:nvSpPr>
          <p:cNvPr id="26" name="Text 24"/>
          <p:cNvSpPr/>
          <p:nvPr/>
        </p:nvSpPr>
        <p:spPr>
          <a:xfrm>
            <a:off x="4507992" y="4041648"/>
            <a:ext cx="3182112" cy="201168"/>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Confirm the collector ZIP</a:t>
            </a:r>
            <a:endParaRPr lang="en-US" sz="1400" dirty="0"/>
          </a:p>
        </p:txBody>
      </p:sp>
      <p:sp>
        <p:nvSpPr>
          <p:cNvPr id="27" name="Shape 25"/>
          <p:cNvSpPr/>
          <p:nvPr/>
        </p:nvSpPr>
        <p:spPr>
          <a:xfrm>
            <a:off x="502920" y="3520440"/>
            <a:ext cx="347472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28" name="Text 26"/>
          <p:cNvSpPr/>
          <p:nvPr/>
        </p:nvSpPr>
        <p:spPr>
          <a:xfrm>
            <a:off x="640080" y="364845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06</a:t>
            </a:r>
            <a:endParaRPr lang="en-US" sz="1700" dirty="0"/>
          </a:p>
        </p:txBody>
      </p:sp>
      <p:sp>
        <p:nvSpPr>
          <p:cNvPr id="29" name="Text 27"/>
          <p:cNvSpPr/>
          <p:nvPr/>
        </p:nvSpPr>
        <p:spPr>
          <a:xfrm>
            <a:off x="1161288" y="3639312"/>
            <a:ext cx="2679192" cy="274320"/>
          </a:xfrm>
          <a:prstGeom prst="rect">
            <a:avLst/>
          </a:prstGeom>
          <a:noFill/>
          <a:ln/>
        </p:spPr>
        <p:txBody>
          <a:bodyPr wrap="square" lIns="0" tIns="0" rIns="0" bIns="0" rtlCol="0" anchor="ctr"/>
          <a:lstStyle/>
          <a:p>
            <a:pPr marL="0" indent="0">
              <a:buNone/>
            </a:pPr>
            <a:r>
              <a:rPr lang="en-US" sz="1800" b="1" dirty="0">
                <a:solidFill>
                  <a:srgbClr val="F4F8FE"/>
                </a:solidFill>
                <a:latin typeface="Trebuchet MS" pitchFamily="34" charset="0"/>
                <a:ea typeface="Trebuchet MS" pitchFamily="34" charset="-122"/>
                <a:cs typeface="Trebuchet MS" pitchFamily="34" charset="-120"/>
              </a:rPr>
              <a:t>Extract evidence</a:t>
            </a:r>
            <a:endParaRPr lang="en-US" sz="1800" dirty="0"/>
          </a:p>
        </p:txBody>
      </p:sp>
      <p:sp>
        <p:nvSpPr>
          <p:cNvPr id="30" name="Text 28"/>
          <p:cNvSpPr/>
          <p:nvPr/>
        </p:nvSpPr>
        <p:spPr>
          <a:xfrm>
            <a:off x="649224" y="4041648"/>
            <a:ext cx="3182112" cy="201168"/>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Find the collection manifest</a:t>
            </a:r>
            <a:endParaRPr lang="en-US" sz="1400" dirty="0"/>
          </a:p>
        </p:txBody>
      </p:sp>
      <p:sp>
        <p:nvSpPr>
          <p:cNvPr id="31" name="Shape 29"/>
          <p:cNvSpPr/>
          <p:nvPr/>
        </p:nvSpPr>
        <p:spPr>
          <a:xfrm>
            <a:off x="502920" y="5074920"/>
            <a:ext cx="2514600" cy="868680"/>
          </a:xfrm>
          <a:prstGeom prst="roundRect">
            <a:avLst>
              <a:gd name="adj" fmla="val 12632"/>
            </a:avLst>
          </a:prstGeom>
          <a:solidFill>
            <a:srgbClr val="1D2D44"/>
          </a:solidFill>
          <a:ln w="12700">
            <a:solidFill>
              <a:srgbClr val="FFD17C"/>
            </a:solidFill>
            <a:prstDash val="solid"/>
          </a:ln>
        </p:spPr>
        <p:txBody>
          <a:bodyPr/>
          <a:lstStyle/>
          <a:p>
            <a:endParaRPr lang="en-ZA"/>
          </a:p>
        </p:txBody>
      </p:sp>
      <p:sp>
        <p:nvSpPr>
          <p:cNvPr id="32" name="Text 30"/>
          <p:cNvSpPr/>
          <p:nvPr/>
        </p:nvSpPr>
        <p:spPr>
          <a:xfrm>
            <a:off x="640080" y="5202936"/>
            <a:ext cx="384048" cy="256032"/>
          </a:xfrm>
          <a:prstGeom prst="rect">
            <a:avLst/>
          </a:prstGeom>
          <a:noFill/>
          <a:ln/>
        </p:spPr>
        <p:txBody>
          <a:bodyPr wrap="square" lIns="0" tIns="0" rIns="0" bIns="0" rtlCol="0" anchor="ctr"/>
          <a:lstStyle/>
          <a:p>
            <a:pPr marL="0" indent="0">
              <a:buNone/>
            </a:pPr>
            <a:r>
              <a:rPr lang="en-US" sz="1700" b="1" dirty="0">
                <a:solidFill>
                  <a:srgbClr val="FFD17C"/>
                </a:solidFill>
                <a:latin typeface="Trebuchet MS" pitchFamily="34" charset="0"/>
                <a:ea typeface="Trebuchet MS" pitchFamily="34" charset="-122"/>
                <a:cs typeface="Trebuchet MS" pitchFamily="34" charset="-120"/>
              </a:rPr>
              <a:t>6M</a:t>
            </a:r>
            <a:endParaRPr lang="en-US" sz="1700" dirty="0"/>
          </a:p>
        </p:txBody>
      </p:sp>
      <p:sp>
        <p:nvSpPr>
          <p:cNvPr id="33" name="Text 31"/>
          <p:cNvSpPr/>
          <p:nvPr/>
        </p:nvSpPr>
        <p:spPr>
          <a:xfrm>
            <a:off x="1161288" y="5193792"/>
            <a:ext cx="1719072" cy="274320"/>
          </a:xfrm>
          <a:prstGeom prst="rect">
            <a:avLst/>
          </a:prstGeom>
          <a:noFill/>
          <a:ln/>
        </p:spPr>
        <p:txBody>
          <a:bodyPr wrap="square" lIns="0" tIns="0" rIns="0" bIns="0" rtlCol="0" anchor="ctr"/>
          <a:lstStyle/>
          <a:p>
            <a:pPr marL="0" indent="0">
              <a:buNone/>
            </a:pPr>
            <a:r>
              <a:rPr lang="en-US" sz="1600" b="1" dirty="0">
                <a:solidFill>
                  <a:srgbClr val="F4F8FE"/>
                </a:solidFill>
                <a:latin typeface="Trebuchet MS" pitchFamily="34" charset="0"/>
                <a:ea typeface="Trebuchet MS" pitchFamily="34" charset="-122"/>
                <a:cs typeface="Trebuchet MS" pitchFamily="34" charset="-120"/>
              </a:rPr>
              <a:t>Manual input</a:t>
            </a:r>
            <a:endParaRPr lang="en-US" sz="1600" dirty="0"/>
          </a:p>
        </p:txBody>
      </p:sp>
      <p:sp>
        <p:nvSpPr>
          <p:cNvPr id="34" name="Text 32"/>
          <p:cNvSpPr/>
          <p:nvPr/>
        </p:nvSpPr>
        <p:spPr>
          <a:xfrm>
            <a:off x="649224" y="5596128"/>
            <a:ext cx="2221992" cy="201168"/>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OPTIONAL / Persisted per run</a:t>
            </a:r>
            <a:endParaRPr lang="en-US" sz="1200" dirty="0"/>
          </a:p>
        </p:txBody>
      </p:sp>
      <p:sp>
        <p:nvSpPr>
          <p:cNvPr id="35" name="Shape 33"/>
          <p:cNvSpPr/>
          <p:nvPr/>
        </p:nvSpPr>
        <p:spPr>
          <a:xfrm>
            <a:off x="3392424" y="5074920"/>
            <a:ext cx="251460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36" name="Text 34"/>
          <p:cNvSpPr/>
          <p:nvPr/>
        </p:nvSpPr>
        <p:spPr>
          <a:xfrm>
            <a:off x="3529584" y="520293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07</a:t>
            </a:r>
            <a:endParaRPr lang="en-US" sz="1700" dirty="0"/>
          </a:p>
        </p:txBody>
      </p:sp>
      <p:sp>
        <p:nvSpPr>
          <p:cNvPr id="37" name="Text 35"/>
          <p:cNvSpPr/>
          <p:nvPr/>
        </p:nvSpPr>
        <p:spPr>
          <a:xfrm>
            <a:off x="4050792" y="5193792"/>
            <a:ext cx="1719072" cy="274320"/>
          </a:xfrm>
          <a:prstGeom prst="rect">
            <a:avLst/>
          </a:prstGeom>
          <a:noFill/>
          <a:ln/>
        </p:spPr>
        <p:txBody>
          <a:bodyPr wrap="square" lIns="0" tIns="0" rIns="0" bIns="0" rtlCol="0" anchor="ctr"/>
          <a:lstStyle/>
          <a:p>
            <a:pPr marL="0" indent="0">
              <a:buNone/>
            </a:pPr>
            <a:r>
              <a:rPr lang="en-US" sz="1600" b="1" dirty="0">
                <a:solidFill>
                  <a:srgbClr val="F4F8FE"/>
                </a:solidFill>
                <a:latin typeface="Trebuchet MS" pitchFamily="34" charset="0"/>
                <a:ea typeface="Trebuchet MS" pitchFamily="34" charset="-122"/>
                <a:cs typeface="Trebuchet MS" pitchFamily="34" charset="-120"/>
              </a:rPr>
              <a:t>Assess</a:t>
            </a:r>
            <a:endParaRPr lang="en-US" sz="1600" dirty="0"/>
          </a:p>
        </p:txBody>
      </p:sp>
      <p:sp>
        <p:nvSpPr>
          <p:cNvPr id="38" name="Text 36"/>
          <p:cNvSpPr/>
          <p:nvPr/>
        </p:nvSpPr>
        <p:spPr>
          <a:xfrm>
            <a:off x="3538728" y="5596128"/>
            <a:ext cx="2221992" cy="201168"/>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Skill + three reports</a:t>
            </a:r>
            <a:endParaRPr lang="en-US" sz="1200" dirty="0"/>
          </a:p>
        </p:txBody>
      </p:sp>
      <p:sp>
        <p:nvSpPr>
          <p:cNvPr id="39" name="Shape 37"/>
          <p:cNvSpPr/>
          <p:nvPr/>
        </p:nvSpPr>
        <p:spPr>
          <a:xfrm>
            <a:off x="6281928" y="5074920"/>
            <a:ext cx="2514600" cy="868680"/>
          </a:xfrm>
          <a:prstGeom prst="roundRect">
            <a:avLst>
              <a:gd name="adj" fmla="val 12632"/>
            </a:avLst>
          </a:prstGeom>
          <a:solidFill>
            <a:srgbClr val="1D2D44"/>
          </a:solidFill>
          <a:ln w="12700">
            <a:solidFill>
              <a:srgbClr val="1D2D44"/>
            </a:solidFill>
            <a:prstDash val="solid"/>
          </a:ln>
        </p:spPr>
        <p:txBody>
          <a:bodyPr/>
          <a:lstStyle/>
          <a:p>
            <a:endParaRPr lang="en-ZA"/>
          </a:p>
        </p:txBody>
      </p:sp>
      <p:sp>
        <p:nvSpPr>
          <p:cNvPr id="40" name="Text 38"/>
          <p:cNvSpPr/>
          <p:nvPr/>
        </p:nvSpPr>
        <p:spPr>
          <a:xfrm>
            <a:off x="6419088" y="5202936"/>
            <a:ext cx="384048" cy="256032"/>
          </a:xfrm>
          <a:prstGeom prst="rect">
            <a:avLst/>
          </a:prstGeom>
          <a:noFill/>
          <a:ln/>
        </p:spPr>
        <p:txBody>
          <a:bodyPr wrap="square" lIns="0" tIns="0" rIns="0" bIns="0" rtlCol="0" anchor="ctr"/>
          <a:lstStyle/>
          <a:p>
            <a:pPr marL="0" indent="0">
              <a:buNone/>
            </a:pPr>
            <a:r>
              <a:rPr lang="en-US" sz="1700" b="1" dirty="0">
                <a:solidFill>
                  <a:srgbClr val="4DE2C0"/>
                </a:solidFill>
                <a:latin typeface="Trebuchet MS" pitchFamily="34" charset="0"/>
                <a:ea typeface="Trebuchet MS" pitchFamily="34" charset="-122"/>
                <a:cs typeface="Trebuchet MS" pitchFamily="34" charset="-120"/>
              </a:rPr>
              <a:t>08</a:t>
            </a:r>
            <a:endParaRPr lang="en-US" sz="1700" dirty="0"/>
          </a:p>
        </p:txBody>
      </p:sp>
      <p:sp>
        <p:nvSpPr>
          <p:cNvPr id="41" name="Text 39"/>
          <p:cNvSpPr/>
          <p:nvPr/>
        </p:nvSpPr>
        <p:spPr>
          <a:xfrm>
            <a:off x="6940296" y="5193792"/>
            <a:ext cx="1719072" cy="274320"/>
          </a:xfrm>
          <a:prstGeom prst="rect">
            <a:avLst/>
          </a:prstGeom>
          <a:noFill/>
          <a:ln/>
        </p:spPr>
        <p:txBody>
          <a:bodyPr wrap="square" lIns="0" tIns="0" rIns="0" bIns="0" rtlCol="0" anchor="ctr"/>
          <a:lstStyle/>
          <a:p>
            <a:pPr marL="0" indent="0">
              <a:buNone/>
            </a:pPr>
            <a:r>
              <a:rPr lang="en-US" sz="1600" b="1" dirty="0">
                <a:solidFill>
                  <a:srgbClr val="F4F8FE"/>
                </a:solidFill>
                <a:latin typeface="Trebuchet MS" pitchFamily="34" charset="0"/>
                <a:ea typeface="Trebuchet MS" pitchFamily="34" charset="-122"/>
                <a:cs typeface="Trebuchet MS" pitchFamily="34" charset="-120"/>
              </a:rPr>
              <a:t>Dashboard</a:t>
            </a:r>
            <a:endParaRPr lang="en-US" sz="1600" dirty="0"/>
          </a:p>
        </p:txBody>
      </p:sp>
      <p:sp>
        <p:nvSpPr>
          <p:cNvPr id="42" name="Text 40"/>
          <p:cNvSpPr/>
          <p:nvPr/>
        </p:nvSpPr>
        <p:spPr>
          <a:xfrm>
            <a:off x="6428232" y="5596128"/>
            <a:ext cx="2221992" cy="201168"/>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Explore controls + findings</a:t>
            </a:r>
            <a:endParaRPr lang="en-US" sz="1200" dirty="0"/>
          </a:p>
        </p:txBody>
      </p:sp>
      <p:sp>
        <p:nvSpPr>
          <p:cNvPr id="43" name="Shape 41"/>
          <p:cNvSpPr/>
          <p:nvPr/>
        </p:nvSpPr>
        <p:spPr>
          <a:xfrm>
            <a:off x="9171432" y="5074920"/>
            <a:ext cx="2514600" cy="868680"/>
          </a:xfrm>
          <a:prstGeom prst="roundRect">
            <a:avLst>
              <a:gd name="adj" fmla="val 12632"/>
            </a:avLst>
          </a:prstGeom>
          <a:solidFill>
            <a:srgbClr val="1D2D44"/>
          </a:solidFill>
          <a:ln w="12700">
            <a:solidFill>
              <a:srgbClr val="FFD17C"/>
            </a:solidFill>
            <a:prstDash val="solid"/>
          </a:ln>
        </p:spPr>
        <p:txBody>
          <a:bodyPr/>
          <a:lstStyle/>
          <a:p>
            <a:endParaRPr lang="en-ZA"/>
          </a:p>
        </p:txBody>
      </p:sp>
      <p:sp>
        <p:nvSpPr>
          <p:cNvPr id="44" name="Text 42"/>
          <p:cNvSpPr/>
          <p:nvPr/>
        </p:nvSpPr>
        <p:spPr>
          <a:xfrm>
            <a:off x="9308592" y="5202936"/>
            <a:ext cx="384048" cy="256032"/>
          </a:xfrm>
          <a:prstGeom prst="rect">
            <a:avLst/>
          </a:prstGeom>
          <a:noFill/>
          <a:ln/>
        </p:spPr>
        <p:txBody>
          <a:bodyPr wrap="square" lIns="0" tIns="0" rIns="0" bIns="0" rtlCol="0" anchor="ctr"/>
          <a:lstStyle/>
          <a:p>
            <a:pPr marL="0" indent="0">
              <a:buNone/>
            </a:pPr>
            <a:r>
              <a:rPr lang="en-US" sz="1700" b="1" dirty="0">
                <a:solidFill>
                  <a:srgbClr val="FFD17C"/>
                </a:solidFill>
                <a:latin typeface="Trebuchet MS" pitchFamily="34" charset="0"/>
                <a:ea typeface="Trebuchet MS" pitchFamily="34" charset="-122"/>
                <a:cs typeface="Trebuchet MS" pitchFamily="34" charset="-120"/>
              </a:rPr>
              <a:t>09</a:t>
            </a:r>
            <a:endParaRPr lang="en-US" sz="1700" dirty="0"/>
          </a:p>
        </p:txBody>
      </p:sp>
      <p:sp>
        <p:nvSpPr>
          <p:cNvPr id="45" name="Text 43"/>
          <p:cNvSpPr/>
          <p:nvPr/>
        </p:nvSpPr>
        <p:spPr>
          <a:xfrm>
            <a:off x="9829800" y="5193792"/>
            <a:ext cx="1719072" cy="274320"/>
          </a:xfrm>
          <a:prstGeom prst="rect">
            <a:avLst/>
          </a:prstGeom>
          <a:noFill/>
          <a:ln/>
        </p:spPr>
        <p:txBody>
          <a:bodyPr wrap="square" lIns="0" tIns="0" rIns="0" bIns="0" rtlCol="0" anchor="ctr"/>
          <a:lstStyle/>
          <a:p>
            <a:pPr marL="0" indent="0">
              <a:buNone/>
            </a:pPr>
            <a:r>
              <a:rPr lang="en-US" sz="1600" b="1" dirty="0">
                <a:solidFill>
                  <a:srgbClr val="F4F8FE"/>
                </a:solidFill>
                <a:latin typeface="Trebuchet MS" pitchFamily="34" charset="0"/>
                <a:ea typeface="Trebuchet MS" pitchFamily="34" charset="-122"/>
                <a:cs typeface="Trebuchet MS" pitchFamily="34" charset="-120"/>
              </a:rPr>
              <a:t>PowerPoint</a:t>
            </a:r>
            <a:endParaRPr lang="en-US" sz="1600" dirty="0"/>
          </a:p>
        </p:txBody>
      </p:sp>
      <p:sp>
        <p:nvSpPr>
          <p:cNvPr id="46" name="Text 44"/>
          <p:cNvSpPr/>
          <p:nvPr/>
        </p:nvSpPr>
        <p:spPr>
          <a:xfrm>
            <a:off x="9317736" y="5596128"/>
            <a:ext cx="2221992" cy="201168"/>
          </a:xfrm>
          <a:prstGeom prst="rect">
            <a:avLst/>
          </a:prstGeom>
          <a:noFill/>
          <a:ln/>
        </p:spPr>
        <p:txBody>
          <a:bodyPr wrap="square" lIns="0" tIns="0" rIns="0" bIns="0" rtlCol="0" anchor="ctr"/>
          <a:lstStyle/>
          <a:p>
            <a:pPr marL="0" indent="0">
              <a:buNone/>
            </a:pPr>
            <a:r>
              <a:rPr lang="en-US" sz="1200" dirty="0">
                <a:solidFill>
                  <a:srgbClr val="B7C8DB"/>
                </a:solidFill>
                <a:latin typeface="Calibri" pitchFamily="34" charset="0"/>
                <a:ea typeface="Calibri" pitchFamily="34" charset="-122"/>
                <a:cs typeface="Calibri" pitchFamily="34" charset="-120"/>
              </a:rPr>
              <a:t>OPTIONAL / Reuse reports</a:t>
            </a:r>
            <a:endParaRPr lang="en-US" sz="1200" dirty="0"/>
          </a:p>
        </p:txBody>
      </p:sp>
      <p:sp>
        <p:nvSpPr>
          <p:cNvPr id="47" name="Shape 45"/>
          <p:cNvSpPr/>
          <p:nvPr/>
        </p:nvSpPr>
        <p:spPr>
          <a:xfrm>
            <a:off x="4014216" y="2624328"/>
            <a:ext cx="292608" cy="0"/>
          </a:xfrm>
          <a:prstGeom prst="line">
            <a:avLst/>
          </a:prstGeom>
          <a:noFill/>
          <a:ln w="25400">
            <a:solidFill>
              <a:srgbClr val="4DE2C0"/>
            </a:solidFill>
            <a:prstDash val="solid"/>
            <a:headEnd type="none"/>
            <a:tailEnd type="triangle"/>
          </a:ln>
        </p:spPr>
        <p:txBody>
          <a:bodyPr/>
          <a:lstStyle/>
          <a:p>
            <a:endParaRPr lang="en-ZA"/>
          </a:p>
        </p:txBody>
      </p:sp>
      <p:sp>
        <p:nvSpPr>
          <p:cNvPr id="48" name="Shape 46"/>
          <p:cNvSpPr/>
          <p:nvPr/>
        </p:nvSpPr>
        <p:spPr>
          <a:xfrm>
            <a:off x="7872984" y="2624328"/>
            <a:ext cx="292608" cy="0"/>
          </a:xfrm>
          <a:prstGeom prst="line">
            <a:avLst/>
          </a:prstGeom>
          <a:noFill/>
          <a:ln w="25400">
            <a:solidFill>
              <a:srgbClr val="4DE2C0"/>
            </a:solidFill>
            <a:prstDash val="solid"/>
            <a:headEnd type="none"/>
            <a:tailEnd type="triangle"/>
          </a:ln>
        </p:spPr>
        <p:txBody>
          <a:bodyPr/>
          <a:lstStyle/>
          <a:p>
            <a:endParaRPr lang="en-ZA"/>
          </a:p>
        </p:txBody>
      </p:sp>
      <p:sp>
        <p:nvSpPr>
          <p:cNvPr id="49" name="Shape 47"/>
          <p:cNvSpPr/>
          <p:nvPr/>
        </p:nvSpPr>
        <p:spPr>
          <a:xfrm>
            <a:off x="9957816" y="3108960"/>
            <a:ext cx="0" cy="356616"/>
          </a:xfrm>
          <a:prstGeom prst="line">
            <a:avLst/>
          </a:prstGeom>
          <a:noFill/>
          <a:ln w="25400">
            <a:solidFill>
              <a:srgbClr val="4DE2C0"/>
            </a:solidFill>
            <a:prstDash val="solid"/>
            <a:headEnd type="none"/>
            <a:tailEnd type="triangle"/>
          </a:ln>
        </p:spPr>
        <p:txBody>
          <a:bodyPr/>
          <a:lstStyle/>
          <a:p>
            <a:endParaRPr lang="en-ZA"/>
          </a:p>
        </p:txBody>
      </p:sp>
      <p:sp>
        <p:nvSpPr>
          <p:cNvPr id="50" name="Shape 48"/>
          <p:cNvSpPr/>
          <p:nvPr/>
        </p:nvSpPr>
        <p:spPr>
          <a:xfrm>
            <a:off x="7882128" y="3950208"/>
            <a:ext cx="292608" cy="0"/>
          </a:xfrm>
          <a:prstGeom prst="line">
            <a:avLst/>
          </a:prstGeom>
          <a:noFill/>
          <a:ln w="25400">
            <a:solidFill>
              <a:srgbClr val="4DE2C0"/>
            </a:solidFill>
            <a:prstDash val="solid"/>
            <a:headEnd type="triangle"/>
            <a:tailEnd type="none"/>
          </a:ln>
        </p:spPr>
        <p:txBody>
          <a:bodyPr/>
          <a:lstStyle/>
          <a:p>
            <a:endParaRPr lang="en-ZA"/>
          </a:p>
        </p:txBody>
      </p:sp>
      <p:sp>
        <p:nvSpPr>
          <p:cNvPr id="51" name="Shape 49"/>
          <p:cNvSpPr/>
          <p:nvPr/>
        </p:nvSpPr>
        <p:spPr>
          <a:xfrm>
            <a:off x="4014216" y="3950208"/>
            <a:ext cx="292608" cy="0"/>
          </a:xfrm>
          <a:prstGeom prst="line">
            <a:avLst/>
          </a:prstGeom>
          <a:noFill/>
          <a:ln w="25400">
            <a:solidFill>
              <a:srgbClr val="4DE2C0"/>
            </a:solidFill>
            <a:prstDash val="solid"/>
            <a:headEnd type="triangle"/>
            <a:tailEnd type="none"/>
          </a:ln>
        </p:spPr>
        <p:txBody>
          <a:bodyPr/>
          <a:lstStyle/>
          <a:p>
            <a:endParaRPr lang="en-ZA"/>
          </a:p>
        </p:txBody>
      </p:sp>
      <p:sp>
        <p:nvSpPr>
          <p:cNvPr id="52" name="Shape 50"/>
          <p:cNvSpPr/>
          <p:nvPr/>
        </p:nvSpPr>
        <p:spPr>
          <a:xfrm>
            <a:off x="3730752" y="4434840"/>
            <a:ext cx="0" cy="585216"/>
          </a:xfrm>
          <a:prstGeom prst="line">
            <a:avLst/>
          </a:prstGeom>
          <a:noFill/>
          <a:ln w="25400">
            <a:solidFill>
              <a:srgbClr val="4DE2C0"/>
            </a:solidFill>
            <a:prstDash val="solid"/>
            <a:headEnd type="none"/>
            <a:tailEnd type="triangle"/>
          </a:ln>
        </p:spPr>
        <p:txBody>
          <a:bodyPr/>
          <a:lstStyle/>
          <a:p>
            <a:endParaRPr lang="en-ZA"/>
          </a:p>
        </p:txBody>
      </p:sp>
      <p:sp>
        <p:nvSpPr>
          <p:cNvPr id="53" name="Text 51"/>
          <p:cNvSpPr/>
          <p:nvPr/>
        </p:nvSpPr>
        <p:spPr>
          <a:xfrm>
            <a:off x="3931920" y="4581144"/>
            <a:ext cx="1737360" cy="219456"/>
          </a:xfrm>
          <a:prstGeom prst="rect">
            <a:avLst/>
          </a:prstGeom>
          <a:noFill/>
          <a:ln/>
        </p:spPr>
        <p:txBody>
          <a:bodyPr wrap="square" lIns="0" tIns="0" rIns="0" bIns="0" rtlCol="0" anchor="ctr"/>
          <a:lstStyle/>
          <a:p>
            <a:pPr marL="0" indent="0">
              <a:buNone/>
            </a:pPr>
            <a:r>
              <a:rPr lang="en-US" sz="1300" dirty="0">
                <a:solidFill>
                  <a:srgbClr val="B7C8DB"/>
                </a:solidFill>
                <a:latin typeface="Calibri" pitchFamily="34" charset="0"/>
                <a:ea typeface="Calibri" pitchFamily="34" charset="-122"/>
                <a:cs typeface="Calibri" pitchFamily="34" charset="-120"/>
              </a:rPr>
              <a:t>Skip manual</a:t>
            </a:r>
            <a:endParaRPr lang="en-US" sz="1300" dirty="0"/>
          </a:p>
        </p:txBody>
      </p:sp>
      <p:sp>
        <p:nvSpPr>
          <p:cNvPr id="54" name="Shape 52"/>
          <p:cNvSpPr/>
          <p:nvPr/>
        </p:nvSpPr>
        <p:spPr>
          <a:xfrm>
            <a:off x="1755648" y="4434840"/>
            <a:ext cx="0" cy="585216"/>
          </a:xfrm>
          <a:prstGeom prst="line">
            <a:avLst/>
          </a:prstGeom>
          <a:noFill/>
          <a:ln w="21590">
            <a:solidFill>
              <a:srgbClr val="FFD17C"/>
            </a:solidFill>
            <a:prstDash val="dash"/>
            <a:tailEnd type="triangle"/>
          </a:ln>
        </p:spPr>
        <p:txBody>
          <a:bodyPr/>
          <a:lstStyle/>
          <a:p>
            <a:endParaRPr lang="en-ZA"/>
          </a:p>
        </p:txBody>
      </p:sp>
      <p:sp>
        <p:nvSpPr>
          <p:cNvPr id="55" name="Shape 53"/>
          <p:cNvSpPr/>
          <p:nvPr/>
        </p:nvSpPr>
        <p:spPr>
          <a:xfrm>
            <a:off x="3063240" y="5504688"/>
            <a:ext cx="274320" cy="0"/>
          </a:xfrm>
          <a:prstGeom prst="line">
            <a:avLst/>
          </a:prstGeom>
          <a:noFill/>
          <a:ln w="25400">
            <a:solidFill>
              <a:srgbClr val="FFD17C"/>
            </a:solidFill>
            <a:prstDash val="solid"/>
            <a:headEnd type="none"/>
            <a:tailEnd type="triangle"/>
          </a:ln>
        </p:spPr>
        <p:txBody>
          <a:bodyPr/>
          <a:lstStyle/>
          <a:p>
            <a:endParaRPr lang="en-ZA"/>
          </a:p>
        </p:txBody>
      </p:sp>
      <p:sp>
        <p:nvSpPr>
          <p:cNvPr id="56" name="Shape 54"/>
          <p:cNvSpPr/>
          <p:nvPr/>
        </p:nvSpPr>
        <p:spPr>
          <a:xfrm>
            <a:off x="5943600" y="5504688"/>
            <a:ext cx="274320" cy="0"/>
          </a:xfrm>
          <a:prstGeom prst="line">
            <a:avLst/>
          </a:prstGeom>
          <a:noFill/>
          <a:ln w="25400">
            <a:solidFill>
              <a:srgbClr val="4DE2C0"/>
            </a:solidFill>
            <a:prstDash val="solid"/>
            <a:headEnd type="none"/>
            <a:tailEnd type="triangle"/>
          </a:ln>
        </p:spPr>
        <p:txBody>
          <a:bodyPr/>
          <a:lstStyle/>
          <a:p>
            <a:endParaRPr lang="en-ZA"/>
          </a:p>
        </p:txBody>
      </p:sp>
      <p:sp>
        <p:nvSpPr>
          <p:cNvPr id="57" name="Shape 55"/>
          <p:cNvSpPr/>
          <p:nvPr/>
        </p:nvSpPr>
        <p:spPr>
          <a:xfrm>
            <a:off x="8833104" y="5504688"/>
            <a:ext cx="274320" cy="0"/>
          </a:xfrm>
          <a:prstGeom prst="line">
            <a:avLst/>
          </a:prstGeom>
          <a:noFill/>
          <a:ln w="21590">
            <a:solidFill>
              <a:srgbClr val="FFD17C"/>
            </a:solidFill>
            <a:prstDash val="dash"/>
            <a:tailEnd type="triangle"/>
          </a:ln>
        </p:spPr>
        <p:txBody>
          <a:bodyPr/>
          <a:lstStyle/>
          <a:p>
            <a:endParaRPr lang="en-Z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B2B"/>
        </a:solidFill>
        <a:effectLst/>
      </p:bgPr>
    </p:bg>
    <p:spTree>
      <p:nvGrpSpPr>
        <p:cNvPr id="1" name="">
          <a:extLst>
            <a:ext uri="{FF2B5EF4-FFF2-40B4-BE49-F238E27FC236}">
              <a16:creationId xmlns:a16="http://schemas.microsoft.com/office/drawing/2014/main" id="{D127E892-E0CD-788A-7F0A-FB87BB6A3E91}"/>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CF636CC4-A16E-0B0F-4781-B57DDC0AA09B}"/>
              </a:ext>
            </a:extLst>
          </p:cNvPr>
          <p:cNvPicPr>
            <a:picLocks noChangeAspect="1"/>
          </p:cNvPicPr>
          <p:nvPr/>
        </p:nvPicPr>
        <p:blipFill>
          <a:blip r:embed="rId3"/>
          <a:stretch>
            <a:fillRect/>
          </a:stretch>
        </p:blipFill>
        <p:spPr>
          <a:xfrm>
            <a:off x="150125" y="491557"/>
            <a:ext cx="5119634" cy="4255326"/>
          </a:xfrm>
          <a:prstGeom prst="rect">
            <a:avLst/>
          </a:prstGeom>
        </p:spPr>
      </p:pic>
      <p:grpSp>
        <p:nvGrpSpPr>
          <p:cNvPr id="20" name="Group 19">
            <a:extLst>
              <a:ext uri="{FF2B5EF4-FFF2-40B4-BE49-F238E27FC236}">
                <a16:creationId xmlns:a16="http://schemas.microsoft.com/office/drawing/2014/main" id="{39C9A124-A105-6BA4-EBA8-4C5F9AED9590}"/>
              </a:ext>
            </a:extLst>
          </p:cNvPr>
          <p:cNvGrpSpPr/>
          <p:nvPr/>
        </p:nvGrpSpPr>
        <p:grpSpPr>
          <a:xfrm>
            <a:off x="793020" y="4895916"/>
            <a:ext cx="4585649" cy="1897469"/>
            <a:chOff x="502920" y="3995928"/>
            <a:chExt cx="5404104" cy="2185416"/>
          </a:xfrm>
        </p:grpSpPr>
        <p:sp>
          <p:nvSpPr>
            <p:cNvPr id="21" name="Text 6">
              <a:extLst>
                <a:ext uri="{FF2B5EF4-FFF2-40B4-BE49-F238E27FC236}">
                  <a16:creationId xmlns:a16="http://schemas.microsoft.com/office/drawing/2014/main" id="{9F3C5CAA-4D87-8606-D4E0-8AC6DE62E482}"/>
                </a:ext>
              </a:extLst>
            </p:cNvPr>
            <p:cNvSpPr/>
            <p:nvPr/>
          </p:nvSpPr>
          <p:spPr>
            <a:xfrm>
              <a:off x="502920" y="3995928"/>
              <a:ext cx="5404104" cy="274320"/>
            </a:xfrm>
            <a:prstGeom prst="rect">
              <a:avLst/>
            </a:prstGeom>
            <a:noFill/>
            <a:ln/>
          </p:spPr>
          <p:txBody>
            <a:bodyPr wrap="square" lIns="0" tIns="0" rIns="0" bIns="0" rtlCol="0" anchor="ctr"/>
            <a:lstStyle/>
            <a:p>
              <a:pPr marL="0" indent="0">
                <a:buNone/>
              </a:pPr>
              <a:r>
                <a:rPr lang="en-US" sz="1600" b="1" dirty="0">
                  <a:solidFill>
                    <a:srgbClr val="79BAFF"/>
                  </a:solidFill>
                  <a:latin typeface="Trebuchet MS" pitchFamily="34" charset="0"/>
                  <a:ea typeface="Trebuchet MS" pitchFamily="34" charset="-122"/>
                  <a:cs typeface="Trebuchet MS" pitchFamily="34" charset="-120"/>
                </a:rPr>
                <a:t>DASHBOARD / Control coverage (detail)</a:t>
              </a:r>
              <a:endParaRPr lang="en-US" sz="1600" dirty="0"/>
            </a:p>
          </p:txBody>
        </p:sp>
        <p:sp>
          <p:nvSpPr>
            <p:cNvPr id="22" name="Shape 7">
              <a:extLst>
                <a:ext uri="{FF2B5EF4-FFF2-40B4-BE49-F238E27FC236}">
                  <a16:creationId xmlns:a16="http://schemas.microsoft.com/office/drawing/2014/main" id="{D315AF09-9C5F-1BC4-55E3-DE77AAC9F792}"/>
                </a:ext>
              </a:extLst>
            </p:cNvPr>
            <p:cNvSpPr/>
            <p:nvPr/>
          </p:nvSpPr>
          <p:spPr>
            <a:xfrm>
              <a:off x="502920" y="4398264"/>
              <a:ext cx="5404104" cy="1783080"/>
            </a:xfrm>
            <a:prstGeom prst="rect">
              <a:avLst/>
            </a:prstGeom>
            <a:solidFill>
              <a:srgbClr val="FFFFFF"/>
            </a:solidFill>
            <a:ln w="12700">
              <a:solidFill>
                <a:srgbClr val="FFFFFF"/>
              </a:solidFill>
              <a:prstDash val="solid"/>
            </a:ln>
          </p:spPr>
          <p:txBody>
            <a:bodyPr/>
            <a:lstStyle/>
            <a:p>
              <a:endParaRPr lang="en-ZA"/>
            </a:p>
          </p:txBody>
        </p:sp>
        <p:pic>
          <p:nvPicPr>
            <p:cNvPr id="23" name="Image 2" descr="03  DASHBOARD / Control coverage (detail). Fresh high-resolution screenshot, cropped to the relevant canvas controls.">
              <a:extLst>
                <a:ext uri="{FF2B5EF4-FFF2-40B4-BE49-F238E27FC236}">
                  <a16:creationId xmlns:a16="http://schemas.microsoft.com/office/drawing/2014/main" id="{C598CD92-03C6-F973-EAD5-C84382F36161}"/>
                </a:ext>
              </a:extLst>
            </p:cNvPr>
            <p:cNvPicPr>
              <a:picLocks noChangeAspect="1"/>
            </p:cNvPicPr>
            <p:nvPr/>
          </p:nvPicPr>
          <p:blipFill>
            <a:blip r:embed="rId4"/>
            <a:stretch>
              <a:fillRect/>
            </a:stretch>
          </p:blipFill>
          <p:spPr>
            <a:xfrm>
              <a:off x="502920" y="4585218"/>
              <a:ext cx="5404104" cy="1409171"/>
            </a:xfrm>
            <a:prstGeom prst="rect">
              <a:avLst/>
            </a:prstGeom>
          </p:spPr>
        </p:pic>
      </p:grpSp>
      <p:grpSp>
        <p:nvGrpSpPr>
          <p:cNvPr id="24" name="Group 23">
            <a:extLst>
              <a:ext uri="{FF2B5EF4-FFF2-40B4-BE49-F238E27FC236}">
                <a16:creationId xmlns:a16="http://schemas.microsoft.com/office/drawing/2014/main" id="{13CDCB85-0FA9-78FC-AAAE-795B73F5CA9C}"/>
              </a:ext>
            </a:extLst>
          </p:cNvPr>
          <p:cNvGrpSpPr/>
          <p:nvPr/>
        </p:nvGrpSpPr>
        <p:grpSpPr>
          <a:xfrm>
            <a:off x="6793971" y="4746883"/>
            <a:ext cx="4740322" cy="1947661"/>
            <a:chOff x="6291072" y="3995928"/>
            <a:chExt cx="5586385" cy="2185416"/>
          </a:xfrm>
        </p:grpSpPr>
        <p:sp>
          <p:nvSpPr>
            <p:cNvPr id="25" name="Text 8">
              <a:extLst>
                <a:ext uri="{FF2B5EF4-FFF2-40B4-BE49-F238E27FC236}">
                  <a16:creationId xmlns:a16="http://schemas.microsoft.com/office/drawing/2014/main" id="{CE0CE363-103C-5781-80EC-9511B9BD5657}"/>
                </a:ext>
              </a:extLst>
            </p:cNvPr>
            <p:cNvSpPr/>
            <p:nvPr/>
          </p:nvSpPr>
          <p:spPr>
            <a:xfrm>
              <a:off x="6291072" y="3995928"/>
              <a:ext cx="5404104" cy="274320"/>
            </a:xfrm>
            <a:prstGeom prst="rect">
              <a:avLst/>
            </a:prstGeom>
            <a:noFill/>
            <a:ln/>
          </p:spPr>
          <p:txBody>
            <a:bodyPr wrap="square" lIns="0" tIns="0" rIns="0" bIns="0" rtlCol="0" anchor="ctr"/>
            <a:lstStyle/>
            <a:p>
              <a:pPr marL="0" indent="0">
                <a:buNone/>
              </a:pPr>
              <a:endParaRPr lang="en-US" sz="1600" dirty="0"/>
            </a:p>
          </p:txBody>
        </p:sp>
        <p:sp>
          <p:nvSpPr>
            <p:cNvPr id="26" name="Shape 9">
              <a:extLst>
                <a:ext uri="{FF2B5EF4-FFF2-40B4-BE49-F238E27FC236}">
                  <a16:creationId xmlns:a16="http://schemas.microsoft.com/office/drawing/2014/main" id="{22FD5305-97A8-0412-8FD2-FDEACDD56CCF}"/>
                </a:ext>
              </a:extLst>
            </p:cNvPr>
            <p:cNvSpPr/>
            <p:nvPr/>
          </p:nvSpPr>
          <p:spPr>
            <a:xfrm>
              <a:off x="6291072" y="4398264"/>
              <a:ext cx="5404104" cy="1783080"/>
            </a:xfrm>
            <a:prstGeom prst="rect">
              <a:avLst/>
            </a:prstGeom>
            <a:solidFill>
              <a:srgbClr val="FFFFFF"/>
            </a:solidFill>
            <a:ln w="12700">
              <a:solidFill>
                <a:srgbClr val="FFFFFF"/>
              </a:solidFill>
              <a:prstDash val="solid"/>
            </a:ln>
          </p:spPr>
          <p:txBody>
            <a:bodyPr/>
            <a:lstStyle/>
            <a:p>
              <a:endParaRPr lang="en-ZA"/>
            </a:p>
          </p:txBody>
        </p:sp>
        <p:pic>
          <p:nvPicPr>
            <p:cNvPr id="27" name="Image 3" descr="04  DASHBOARD / Findings and priorities. Fresh high-resolution screenshot, cropped to the relevant canvas controls.">
              <a:extLst>
                <a:ext uri="{FF2B5EF4-FFF2-40B4-BE49-F238E27FC236}">
                  <a16:creationId xmlns:a16="http://schemas.microsoft.com/office/drawing/2014/main" id="{108D7415-5B5C-E5EF-05E5-C9D8409F0169}"/>
                </a:ext>
              </a:extLst>
            </p:cNvPr>
            <p:cNvPicPr>
              <a:picLocks noChangeAspect="1"/>
            </p:cNvPicPr>
            <p:nvPr/>
          </p:nvPicPr>
          <p:blipFill>
            <a:blip r:embed="rId5"/>
            <a:stretch>
              <a:fillRect/>
            </a:stretch>
          </p:blipFill>
          <p:spPr>
            <a:xfrm>
              <a:off x="6473353" y="4410823"/>
              <a:ext cx="5404104" cy="1757962"/>
            </a:xfrm>
            <a:prstGeom prst="rect">
              <a:avLst/>
            </a:prstGeom>
          </p:spPr>
        </p:pic>
      </p:grpSp>
      <p:grpSp>
        <p:nvGrpSpPr>
          <p:cNvPr id="28" name="Group 27">
            <a:extLst>
              <a:ext uri="{FF2B5EF4-FFF2-40B4-BE49-F238E27FC236}">
                <a16:creationId xmlns:a16="http://schemas.microsoft.com/office/drawing/2014/main" id="{2DD4C809-AA0F-4974-DB24-CAABADD7211B}"/>
              </a:ext>
            </a:extLst>
          </p:cNvPr>
          <p:cNvGrpSpPr/>
          <p:nvPr/>
        </p:nvGrpSpPr>
        <p:grpSpPr>
          <a:xfrm>
            <a:off x="5817970" y="64615"/>
            <a:ext cx="4526509" cy="1783308"/>
            <a:chOff x="6291072" y="1536192"/>
            <a:chExt cx="5404104" cy="2185416"/>
          </a:xfrm>
        </p:grpSpPr>
        <p:sp>
          <p:nvSpPr>
            <p:cNvPr id="29" name="Text 4">
              <a:extLst>
                <a:ext uri="{FF2B5EF4-FFF2-40B4-BE49-F238E27FC236}">
                  <a16:creationId xmlns:a16="http://schemas.microsoft.com/office/drawing/2014/main" id="{627F1FFC-A9B3-8FBE-6B9C-30682CD0E3AF}"/>
                </a:ext>
              </a:extLst>
            </p:cNvPr>
            <p:cNvSpPr/>
            <p:nvPr/>
          </p:nvSpPr>
          <p:spPr>
            <a:xfrm>
              <a:off x="6291072" y="1536192"/>
              <a:ext cx="5404104" cy="274320"/>
            </a:xfrm>
            <a:prstGeom prst="rect">
              <a:avLst/>
            </a:prstGeom>
            <a:noFill/>
            <a:ln/>
          </p:spPr>
          <p:txBody>
            <a:bodyPr wrap="square" lIns="0" tIns="0" rIns="0" bIns="0" rtlCol="0" anchor="ctr"/>
            <a:lstStyle/>
            <a:p>
              <a:pPr marL="0" indent="0">
                <a:buNone/>
              </a:pPr>
              <a:r>
                <a:rPr lang="en-US" sz="1600" b="1" dirty="0">
                  <a:solidFill>
                    <a:srgbClr val="4DE2C0"/>
                  </a:solidFill>
                  <a:latin typeface="Trebuchet MS" pitchFamily="34" charset="0"/>
                  <a:ea typeface="Trebuchet MS" pitchFamily="34" charset="-122"/>
                  <a:cs typeface="Trebuchet MS" pitchFamily="34" charset="-120"/>
                </a:rPr>
                <a:t>  WORKFLOW / Live progress and logs</a:t>
              </a:r>
              <a:endParaRPr lang="en-US" sz="1600" dirty="0"/>
            </a:p>
          </p:txBody>
        </p:sp>
        <p:sp>
          <p:nvSpPr>
            <p:cNvPr id="30" name="Shape 5">
              <a:extLst>
                <a:ext uri="{FF2B5EF4-FFF2-40B4-BE49-F238E27FC236}">
                  <a16:creationId xmlns:a16="http://schemas.microsoft.com/office/drawing/2014/main" id="{7E8E8577-4490-089B-89E6-F88C82DE939D}"/>
                </a:ext>
              </a:extLst>
            </p:cNvPr>
            <p:cNvSpPr/>
            <p:nvPr/>
          </p:nvSpPr>
          <p:spPr>
            <a:xfrm>
              <a:off x="6291072" y="1938528"/>
              <a:ext cx="5404104" cy="1783080"/>
            </a:xfrm>
            <a:prstGeom prst="rect">
              <a:avLst/>
            </a:prstGeom>
            <a:solidFill>
              <a:srgbClr val="FFFFFF"/>
            </a:solidFill>
            <a:ln w="12700">
              <a:solidFill>
                <a:srgbClr val="FFFFFF"/>
              </a:solidFill>
              <a:prstDash val="solid"/>
            </a:ln>
          </p:spPr>
          <p:txBody>
            <a:bodyPr/>
            <a:lstStyle/>
            <a:p>
              <a:endParaRPr lang="en-ZA"/>
            </a:p>
          </p:txBody>
        </p:sp>
        <p:pic>
          <p:nvPicPr>
            <p:cNvPr id="31" name="Image 1" descr="02  WORKFLOW / Live progress and logs. Fresh high-resolution screenshot, cropped to the relevant canvas controls.">
              <a:extLst>
                <a:ext uri="{FF2B5EF4-FFF2-40B4-BE49-F238E27FC236}">
                  <a16:creationId xmlns:a16="http://schemas.microsoft.com/office/drawing/2014/main" id="{203513C3-80FB-0546-32F2-D93656306259}"/>
                </a:ext>
              </a:extLst>
            </p:cNvPr>
            <p:cNvPicPr>
              <a:picLocks noChangeAspect="1"/>
            </p:cNvPicPr>
            <p:nvPr/>
          </p:nvPicPr>
          <p:blipFill>
            <a:blip r:embed="rId6"/>
            <a:stretch>
              <a:fillRect/>
            </a:stretch>
          </p:blipFill>
          <p:spPr>
            <a:xfrm>
              <a:off x="6327988" y="1938528"/>
              <a:ext cx="5330271" cy="1783080"/>
            </a:xfrm>
            <a:prstGeom prst="rect">
              <a:avLst/>
            </a:prstGeom>
          </p:spPr>
        </p:pic>
      </p:grpSp>
      <p:pic>
        <p:nvPicPr>
          <p:cNvPr id="33" name="Picture 32">
            <a:extLst>
              <a:ext uri="{FF2B5EF4-FFF2-40B4-BE49-F238E27FC236}">
                <a16:creationId xmlns:a16="http://schemas.microsoft.com/office/drawing/2014/main" id="{1F86DDA7-CA45-810E-A2E7-00E8E26701C2}"/>
              </a:ext>
            </a:extLst>
          </p:cNvPr>
          <p:cNvPicPr>
            <a:picLocks noChangeAspect="1"/>
          </p:cNvPicPr>
          <p:nvPr/>
        </p:nvPicPr>
        <p:blipFill>
          <a:blip r:embed="rId7"/>
          <a:stretch>
            <a:fillRect/>
          </a:stretch>
        </p:blipFill>
        <p:spPr>
          <a:xfrm>
            <a:off x="6793971" y="2349933"/>
            <a:ext cx="4772393" cy="2687741"/>
          </a:xfrm>
          <a:prstGeom prst="rect">
            <a:avLst/>
          </a:prstGeom>
        </p:spPr>
      </p:pic>
      <p:sp>
        <p:nvSpPr>
          <p:cNvPr id="35" name="TextBox 34">
            <a:extLst>
              <a:ext uri="{FF2B5EF4-FFF2-40B4-BE49-F238E27FC236}">
                <a16:creationId xmlns:a16="http://schemas.microsoft.com/office/drawing/2014/main" id="{776C2604-60CF-361F-8816-272B55DDB711}"/>
              </a:ext>
            </a:extLst>
          </p:cNvPr>
          <p:cNvSpPr txBox="1"/>
          <p:nvPr/>
        </p:nvSpPr>
        <p:spPr>
          <a:xfrm>
            <a:off x="37426" y="153003"/>
            <a:ext cx="6096836" cy="338554"/>
          </a:xfrm>
          <a:prstGeom prst="rect">
            <a:avLst/>
          </a:prstGeom>
          <a:noFill/>
        </p:spPr>
        <p:txBody>
          <a:bodyPr wrap="square">
            <a:spAutoFit/>
          </a:bodyPr>
          <a:lstStyle/>
          <a:p>
            <a:pPr marL="0" indent="0">
              <a:buNone/>
            </a:pPr>
            <a:r>
              <a:rPr lang="en-US" sz="1600" b="1" dirty="0">
                <a:solidFill>
                  <a:srgbClr val="4DE2C0"/>
                </a:solidFill>
                <a:latin typeface="Trebuchet MS" pitchFamily="34" charset="0"/>
              </a:rPr>
              <a:t>The Review Workflow</a:t>
            </a:r>
            <a:endParaRPr lang="en-US" sz="1600" dirty="0"/>
          </a:p>
        </p:txBody>
      </p:sp>
      <p:sp>
        <p:nvSpPr>
          <p:cNvPr id="37" name="TextBox 36">
            <a:extLst>
              <a:ext uri="{FF2B5EF4-FFF2-40B4-BE49-F238E27FC236}">
                <a16:creationId xmlns:a16="http://schemas.microsoft.com/office/drawing/2014/main" id="{9729B88A-1144-432D-09DC-A03B48DD1D04}"/>
              </a:ext>
            </a:extLst>
          </p:cNvPr>
          <p:cNvSpPr txBox="1"/>
          <p:nvPr/>
        </p:nvSpPr>
        <p:spPr>
          <a:xfrm>
            <a:off x="6819332" y="1973569"/>
            <a:ext cx="6096000" cy="338554"/>
          </a:xfrm>
          <a:prstGeom prst="rect">
            <a:avLst/>
          </a:prstGeom>
          <a:noFill/>
        </p:spPr>
        <p:txBody>
          <a:bodyPr wrap="square">
            <a:spAutoFit/>
          </a:bodyPr>
          <a:lstStyle/>
          <a:p>
            <a:pPr marL="0" indent="0">
              <a:buNone/>
            </a:pPr>
            <a:r>
              <a:rPr lang="en-US" sz="1600" b="1" dirty="0">
                <a:solidFill>
                  <a:srgbClr val="79BAFF"/>
                </a:solidFill>
                <a:latin typeface="Trebuchet MS" pitchFamily="34" charset="0"/>
                <a:ea typeface="Trebuchet MS" pitchFamily="34" charset="-122"/>
                <a:cs typeface="Trebuchet MS" pitchFamily="34" charset="-120"/>
              </a:rPr>
              <a:t>DASHBOARD / Findings and priorities</a:t>
            </a:r>
            <a:endParaRPr lang="en-US" sz="1600" dirty="0"/>
          </a:p>
        </p:txBody>
      </p:sp>
    </p:spTree>
    <p:extLst>
      <p:ext uri="{BB962C8B-B14F-4D97-AF65-F5344CB8AC3E}">
        <p14:creationId xmlns:p14="http://schemas.microsoft.com/office/powerpoint/2010/main" val="4196888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B2B"/>
        </a:solidFill>
        <a:effectLst/>
      </p:bgPr>
    </p:bg>
    <p:spTree>
      <p:nvGrpSpPr>
        <p:cNvPr id="1" name=""/>
        <p:cNvGrpSpPr/>
        <p:nvPr/>
      </p:nvGrpSpPr>
      <p:grpSpPr>
        <a:xfrm>
          <a:off x="0" y="0"/>
          <a:ext cx="0" cy="0"/>
          <a:chOff x="0" y="0"/>
          <a:chExt cx="0" cy="0"/>
        </a:xfrm>
      </p:grpSpPr>
      <p:sp>
        <p:nvSpPr>
          <p:cNvPr id="2" name="Text 0"/>
          <p:cNvSpPr/>
          <p:nvPr/>
        </p:nvSpPr>
        <p:spPr>
          <a:xfrm>
            <a:off x="502920" y="274320"/>
            <a:ext cx="10058400" cy="228600"/>
          </a:xfrm>
          <a:prstGeom prst="rect">
            <a:avLst/>
          </a:prstGeom>
          <a:noFill/>
          <a:ln/>
        </p:spPr>
        <p:txBody>
          <a:bodyPr wrap="square" lIns="0" tIns="0" rIns="0" bIns="0" rtlCol="0" anchor="ctr"/>
          <a:lstStyle/>
          <a:p>
            <a:pPr marL="0" indent="0">
              <a:buNone/>
            </a:pPr>
            <a:r>
              <a:rPr lang="en-US" sz="1000" b="1" dirty="0">
                <a:solidFill>
                  <a:srgbClr val="B7C8DB"/>
                </a:solidFill>
                <a:latin typeface="Trebuchet MS" pitchFamily="34" charset="0"/>
                <a:ea typeface="Trebuchet MS" pitchFamily="34" charset="-122"/>
                <a:cs typeface="Trebuchet MS" pitchFamily="34" charset="-120"/>
              </a:rPr>
              <a:t>WORDPRESS ON AZURE  /  WELL-ARCHITECTED REVIEW</a:t>
            </a:r>
            <a:endParaRPr lang="en-US" sz="1000" dirty="0"/>
          </a:p>
        </p:txBody>
      </p:sp>
      <p:sp>
        <p:nvSpPr>
          <p:cNvPr id="3" name="Text 1"/>
          <p:cNvSpPr/>
          <p:nvPr/>
        </p:nvSpPr>
        <p:spPr>
          <a:xfrm>
            <a:off x="502920" y="777240"/>
            <a:ext cx="11155680" cy="658368"/>
          </a:xfrm>
          <a:prstGeom prst="rect">
            <a:avLst/>
          </a:prstGeom>
          <a:noFill/>
          <a:ln/>
        </p:spPr>
        <p:txBody>
          <a:bodyPr wrap="square" lIns="0" tIns="0" rIns="0" bIns="0" rtlCol="0" anchor="ctr"/>
          <a:lstStyle/>
          <a:p>
            <a:pPr marL="0" indent="0">
              <a:buNone/>
            </a:pPr>
            <a:r>
              <a:rPr lang="en-US" sz="3400" b="1" dirty="0">
                <a:solidFill>
                  <a:srgbClr val="F4F8FE"/>
                </a:solidFill>
                <a:latin typeface="Trebuchet MS" pitchFamily="34" charset="0"/>
                <a:ea typeface="Trebuchet MS" pitchFamily="34" charset="-122"/>
                <a:cs typeface="Trebuchet MS" pitchFamily="34" charset="-120"/>
              </a:rPr>
              <a:t>Early evidence: five days to two hours</a:t>
            </a:r>
            <a:endParaRPr lang="en-US" sz="3400" dirty="0"/>
          </a:p>
        </p:txBody>
      </p:sp>
      <p:sp>
        <p:nvSpPr>
          <p:cNvPr id="4" name="Text 2"/>
          <p:cNvSpPr/>
          <p:nvPr/>
        </p:nvSpPr>
        <p:spPr>
          <a:xfrm>
            <a:off x="521208" y="1481328"/>
            <a:ext cx="11064240" cy="457200"/>
          </a:xfrm>
          <a:prstGeom prst="rect">
            <a:avLst/>
          </a:prstGeom>
          <a:noFill/>
          <a:ln/>
        </p:spPr>
        <p:txBody>
          <a:bodyPr wrap="square" lIns="0" tIns="0" rIns="0" bIns="0" rtlCol="0" anchor="ctr"/>
          <a:lstStyle/>
          <a:p>
            <a:pPr marL="0" indent="0">
              <a:buNone/>
            </a:pPr>
            <a:r>
              <a:rPr lang="en-US" sz="1700" dirty="0">
                <a:solidFill>
                  <a:srgbClr val="B7C8DB"/>
                </a:solidFill>
                <a:latin typeface="Calibri" pitchFamily="34" charset="0"/>
                <a:ea typeface="Calibri" pitchFamily="34" charset="-122"/>
                <a:cs typeface="Calibri" pitchFamily="34" charset="-120"/>
              </a:rPr>
              <a:t>Author-reported experience today; an opportunity for customer self-service.</a:t>
            </a:r>
            <a:endParaRPr lang="en-US" sz="1700" dirty="0"/>
          </a:p>
        </p:txBody>
      </p:sp>
      <p:sp>
        <p:nvSpPr>
          <p:cNvPr id="5" name="Text 3"/>
          <p:cNvSpPr/>
          <p:nvPr/>
        </p:nvSpPr>
        <p:spPr>
          <a:xfrm>
            <a:off x="502920" y="6419088"/>
            <a:ext cx="10789920" cy="219456"/>
          </a:xfrm>
          <a:prstGeom prst="rect">
            <a:avLst/>
          </a:prstGeom>
          <a:noFill/>
          <a:ln/>
        </p:spPr>
        <p:txBody>
          <a:bodyPr wrap="square" lIns="0" tIns="0" rIns="0" bIns="0" rtlCol="0" anchor="ctr"/>
          <a:lstStyle/>
          <a:p>
            <a:pPr marL="0" indent="0">
              <a:buNone/>
            </a:pPr>
            <a:r>
              <a:rPr lang="en-US" sz="1000" dirty="0">
                <a:solidFill>
                  <a:srgbClr val="B7C8DB"/>
                </a:solidFill>
                <a:latin typeface="Calibri" pitchFamily="34" charset="0"/>
                <a:ea typeface="Calibri" pitchFamily="34" charset="-122"/>
                <a:cs typeface="Calibri" pitchFamily="34" charset="-120"/>
              </a:rPr>
              <a:t>GitHub Copilot app  |  Evidence-led review, not automatic remediation</a:t>
            </a:r>
            <a:endParaRPr lang="en-US" sz="1000" dirty="0"/>
          </a:p>
        </p:txBody>
      </p:sp>
      <p:sp>
        <p:nvSpPr>
          <p:cNvPr id="6" name="Text 4"/>
          <p:cNvSpPr/>
          <p:nvPr/>
        </p:nvSpPr>
        <p:spPr>
          <a:xfrm>
            <a:off x="11155680" y="6409944"/>
            <a:ext cx="502920" cy="219456"/>
          </a:xfrm>
          <a:prstGeom prst="rect">
            <a:avLst/>
          </a:prstGeom>
          <a:noFill/>
          <a:ln/>
        </p:spPr>
        <p:txBody>
          <a:bodyPr wrap="square" lIns="0" tIns="0" rIns="0" bIns="0" rtlCol="0" anchor="ctr"/>
          <a:lstStyle/>
          <a:p>
            <a:pPr marL="0" indent="0">
              <a:buNone/>
            </a:pPr>
            <a:r>
              <a:rPr lang="en-US" sz="1000" b="1" dirty="0">
                <a:solidFill>
                  <a:srgbClr val="B7C8DB"/>
                </a:solidFill>
                <a:latin typeface="Trebuchet MS" pitchFamily="34" charset="0"/>
                <a:ea typeface="Trebuchet MS" pitchFamily="34" charset="-122"/>
                <a:cs typeface="Trebuchet MS" pitchFamily="34" charset="-120"/>
              </a:rPr>
              <a:t>04</a:t>
            </a:r>
            <a:endParaRPr lang="en-US" sz="1000" dirty="0"/>
          </a:p>
        </p:txBody>
      </p:sp>
      <p:sp>
        <p:nvSpPr>
          <p:cNvPr id="7" name="Shape 5"/>
          <p:cNvSpPr/>
          <p:nvPr/>
        </p:nvSpPr>
        <p:spPr>
          <a:xfrm>
            <a:off x="502920" y="2331720"/>
            <a:ext cx="3108960" cy="2103120"/>
          </a:xfrm>
          <a:prstGeom prst="roundRect">
            <a:avLst>
              <a:gd name="adj" fmla="val 5217"/>
            </a:avLst>
          </a:prstGeom>
          <a:solidFill>
            <a:srgbClr val="1D2D44"/>
          </a:solidFill>
          <a:ln w="12700">
            <a:solidFill>
              <a:srgbClr val="1D2D44"/>
            </a:solidFill>
            <a:prstDash val="solid"/>
          </a:ln>
        </p:spPr>
        <p:txBody>
          <a:bodyPr/>
          <a:lstStyle/>
          <a:p>
            <a:endParaRPr lang="en-ZA"/>
          </a:p>
        </p:txBody>
      </p:sp>
      <p:sp>
        <p:nvSpPr>
          <p:cNvPr id="8" name="Text 6"/>
          <p:cNvSpPr/>
          <p:nvPr/>
        </p:nvSpPr>
        <p:spPr>
          <a:xfrm>
            <a:off x="731520" y="2560320"/>
            <a:ext cx="2651760" cy="274320"/>
          </a:xfrm>
          <a:prstGeom prst="rect">
            <a:avLst/>
          </a:prstGeom>
          <a:noFill/>
          <a:ln/>
        </p:spPr>
        <p:txBody>
          <a:bodyPr wrap="square" lIns="0" tIns="0" rIns="0" bIns="0" rtlCol="0" anchor="ctr"/>
          <a:lstStyle/>
          <a:p>
            <a:pPr marL="0" indent="0">
              <a:buNone/>
            </a:pPr>
            <a:r>
              <a:rPr lang="en-US" sz="1500" b="1" dirty="0">
                <a:solidFill>
                  <a:srgbClr val="B7C8DB"/>
                </a:solidFill>
                <a:latin typeface="Trebuchet MS" pitchFamily="34" charset="0"/>
                <a:ea typeface="Trebuchet MS" pitchFamily="34" charset="-122"/>
                <a:cs typeface="Trebuchet MS" pitchFamily="34" charset="-120"/>
              </a:rPr>
              <a:t>PREVIOUSLY</a:t>
            </a:r>
            <a:endParaRPr lang="en-US" sz="1500" dirty="0"/>
          </a:p>
        </p:txBody>
      </p:sp>
      <p:sp>
        <p:nvSpPr>
          <p:cNvPr id="9" name="Text 7"/>
          <p:cNvSpPr/>
          <p:nvPr/>
        </p:nvSpPr>
        <p:spPr>
          <a:xfrm>
            <a:off x="731520" y="3081528"/>
            <a:ext cx="2697480" cy="777240"/>
          </a:xfrm>
          <a:prstGeom prst="rect">
            <a:avLst/>
          </a:prstGeom>
          <a:noFill/>
          <a:ln/>
        </p:spPr>
        <p:txBody>
          <a:bodyPr wrap="square" lIns="0" tIns="0" rIns="0" bIns="0" rtlCol="0" anchor="ctr"/>
          <a:lstStyle/>
          <a:p>
            <a:pPr marL="0" indent="0">
              <a:buNone/>
            </a:pPr>
            <a:r>
              <a:rPr lang="en-US" sz="5000" b="1" dirty="0">
                <a:solidFill>
                  <a:srgbClr val="F4F8FE"/>
                </a:solidFill>
                <a:latin typeface="Trebuchet MS" pitchFamily="34" charset="0"/>
                <a:ea typeface="Trebuchet MS" pitchFamily="34" charset="-122"/>
                <a:cs typeface="Trebuchet MS" pitchFamily="34" charset="-120"/>
              </a:rPr>
              <a:t>5 days</a:t>
            </a:r>
            <a:endParaRPr lang="en-US" sz="5000" dirty="0"/>
          </a:p>
        </p:txBody>
      </p:sp>
      <p:sp>
        <p:nvSpPr>
          <p:cNvPr id="10" name="Text 8"/>
          <p:cNvSpPr/>
          <p:nvPr/>
        </p:nvSpPr>
        <p:spPr>
          <a:xfrm>
            <a:off x="731520" y="3950208"/>
            <a:ext cx="2651760" cy="246888"/>
          </a:xfrm>
          <a:prstGeom prst="rect">
            <a:avLst/>
          </a:prstGeom>
          <a:noFill/>
          <a:ln/>
        </p:spPr>
        <p:txBody>
          <a:bodyPr wrap="square" lIns="0" tIns="0" rIns="0" bIns="0" rtlCol="0" anchor="ctr"/>
          <a:lstStyle/>
          <a:p>
            <a:pPr marL="0" indent="0">
              <a:buNone/>
            </a:pPr>
            <a:r>
              <a:rPr lang="en-US" sz="1600" dirty="0">
                <a:solidFill>
                  <a:srgbClr val="B7C8DB"/>
                </a:solidFill>
                <a:latin typeface="Calibri" pitchFamily="34" charset="0"/>
                <a:ea typeface="Calibri" pitchFamily="34" charset="-122"/>
                <a:cs typeface="Calibri" pitchFamily="34" charset="-120"/>
              </a:rPr>
              <a:t>Reported review time</a:t>
            </a:r>
            <a:endParaRPr lang="en-US" sz="1600" dirty="0"/>
          </a:p>
        </p:txBody>
      </p:sp>
      <p:sp>
        <p:nvSpPr>
          <p:cNvPr id="11" name="Shape 9"/>
          <p:cNvSpPr/>
          <p:nvPr/>
        </p:nvSpPr>
        <p:spPr>
          <a:xfrm>
            <a:off x="3739896" y="3419856"/>
            <a:ext cx="438912" cy="0"/>
          </a:xfrm>
          <a:prstGeom prst="line">
            <a:avLst/>
          </a:prstGeom>
          <a:noFill/>
          <a:ln w="25400">
            <a:solidFill>
              <a:srgbClr val="4DE2C0"/>
            </a:solidFill>
            <a:prstDash val="solid"/>
            <a:headEnd type="none"/>
            <a:tailEnd type="triangle"/>
          </a:ln>
        </p:spPr>
        <p:txBody>
          <a:bodyPr/>
          <a:lstStyle/>
          <a:p>
            <a:endParaRPr lang="en-ZA"/>
          </a:p>
        </p:txBody>
      </p:sp>
      <p:sp>
        <p:nvSpPr>
          <p:cNvPr id="12" name="Shape 10"/>
          <p:cNvSpPr/>
          <p:nvPr/>
        </p:nvSpPr>
        <p:spPr>
          <a:xfrm>
            <a:off x="4315968" y="2331720"/>
            <a:ext cx="3108960" cy="2103120"/>
          </a:xfrm>
          <a:prstGeom prst="roundRect">
            <a:avLst>
              <a:gd name="adj" fmla="val 5217"/>
            </a:avLst>
          </a:prstGeom>
          <a:solidFill>
            <a:srgbClr val="1D2D44"/>
          </a:solidFill>
          <a:ln w="12700">
            <a:solidFill>
              <a:srgbClr val="4DE2C0"/>
            </a:solidFill>
            <a:prstDash val="solid"/>
          </a:ln>
        </p:spPr>
        <p:txBody>
          <a:bodyPr/>
          <a:lstStyle/>
          <a:p>
            <a:endParaRPr lang="en-ZA"/>
          </a:p>
        </p:txBody>
      </p:sp>
      <p:sp>
        <p:nvSpPr>
          <p:cNvPr id="13" name="Text 11"/>
          <p:cNvSpPr/>
          <p:nvPr/>
        </p:nvSpPr>
        <p:spPr>
          <a:xfrm>
            <a:off x="4544568" y="2560320"/>
            <a:ext cx="2651760" cy="274320"/>
          </a:xfrm>
          <a:prstGeom prst="rect">
            <a:avLst/>
          </a:prstGeom>
          <a:noFill/>
          <a:ln/>
        </p:spPr>
        <p:txBody>
          <a:bodyPr wrap="square" lIns="0" tIns="0" rIns="0" bIns="0" rtlCol="0" anchor="ctr"/>
          <a:lstStyle/>
          <a:p>
            <a:pPr marL="0" indent="0">
              <a:buNone/>
            </a:pPr>
            <a:r>
              <a:rPr lang="en-US" sz="1500" b="1" dirty="0">
                <a:solidFill>
                  <a:srgbClr val="4DE2C0"/>
                </a:solidFill>
                <a:latin typeface="Trebuchet MS" pitchFamily="34" charset="0"/>
                <a:ea typeface="Trebuchet MS" pitchFamily="34" charset="-122"/>
                <a:cs typeface="Trebuchet MS" pitchFamily="34" charset="-120"/>
              </a:rPr>
              <a:t>WITH THIS WORKFLOW</a:t>
            </a:r>
            <a:endParaRPr lang="en-US" sz="1500" dirty="0"/>
          </a:p>
        </p:txBody>
      </p:sp>
      <p:sp>
        <p:nvSpPr>
          <p:cNvPr id="14" name="Text 12"/>
          <p:cNvSpPr/>
          <p:nvPr/>
        </p:nvSpPr>
        <p:spPr>
          <a:xfrm>
            <a:off x="4544568" y="3081528"/>
            <a:ext cx="2697480" cy="777240"/>
          </a:xfrm>
          <a:prstGeom prst="rect">
            <a:avLst/>
          </a:prstGeom>
          <a:noFill/>
          <a:ln/>
        </p:spPr>
        <p:txBody>
          <a:bodyPr wrap="square" lIns="0" tIns="0" rIns="0" bIns="0" rtlCol="0" anchor="ctr"/>
          <a:lstStyle/>
          <a:p>
            <a:pPr marL="0" indent="0">
              <a:buNone/>
            </a:pPr>
            <a:r>
              <a:rPr lang="en-US" sz="5000" b="1" dirty="0">
                <a:solidFill>
                  <a:srgbClr val="4DE2C0"/>
                </a:solidFill>
                <a:latin typeface="Trebuchet MS" pitchFamily="34" charset="0"/>
                <a:ea typeface="Trebuchet MS" pitchFamily="34" charset="-122"/>
                <a:cs typeface="Trebuchet MS" pitchFamily="34" charset="-120"/>
              </a:rPr>
              <a:t>2 hours</a:t>
            </a:r>
            <a:endParaRPr lang="en-US" sz="5000" dirty="0"/>
          </a:p>
        </p:txBody>
      </p:sp>
      <p:sp>
        <p:nvSpPr>
          <p:cNvPr id="15" name="Text 13"/>
          <p:cNvSpPr/>
          <p:nvPr/>
        </p:nvSpPr>
        <p:spPr>
          <a:xfrm>
            <a:off x="4544568" y="3950208"/>
            <a:ext cx="2651760" cy="246888"/>
          </a:xfrm>
          <a:prstGeom prst="rect">
            <a:avLst/>
          </a:prstGeom>
          <a:noFill/>
          <a:ln/>
        </p:spPr>
        <p:txBody>
          <a:bodyPr wrap="square" lIns="0" tIns="0" rIns="0" bIns="0" rtlCol="0" anchor="ctr"/>
          <a:lstStyle/>
          <a:p>
            <a:pPr marL="0" indent="0">
              <a:buNone/>
            </a:pPr>
            <a:r>
              <a:rPr lang="en-US" sz="1600" dirty="0">
                <a:solidFill>
                  <a:srgbClr val="B7C8DB"/>
                </a:solidFill>
                <a:latin typeface="Calibri" pitchFamily="34" charset="0"/>
                <a:ea typeface="Calibri" pitchFamily="34" charset="-122"/>
                <a:cs typeface="Calibri" pitchFamily="34" charset="-120"/>
              </a:rPr>
              <a:t>Reported review time</a:t>
            </a:r>
            <a:endParaRPr lang="en-US" sz="1600" dirty="0"/>
          </a:p>
        </p:txBody>
      </p:sp>
      <p:sp>
        <p:nvSpPr>
          <p:cNvPr id="16" name="Shape 14"/>
          <p:cNvSpPr/>
          <p:nvPr/>
        </p:nvSpPr>
        <p:spPr>
          <a:xfrm>
            <a:off x="7891272" y="2331720"/>
            <a:ext cx="3794760" cy="2103120"/>
          </a:xfrm>
          <a:prstGeom prst="roundRect">
            <a:avLst>
              <a:gd name="adj" fmla="val 5217"/>
            </a:avLst>
          </a:prstGeom>
          <a:solidFill>
            <a:srgbClr val="1D2D44"/>
          </a:solidFill>
          <a:ln w="12700">
            <a:solidFill>
              <a:srgbClr val="1D2D44"/>
            </a:solidFill>
            <a:prstDash val="solid"/>
          </a:ln>
        </p:spPr>
        <p:txBody>
          <a:bodyPr/>
          <a:lstStyle/>
          <a:p>
            <a:endParaRPr lang="en-ZA"/>
          </a:p>
        </p:txBody>
      </p:sp>
      <p:sp>
        <p:nvSpPr>
          <p:cNvPr id="17" name="Text 15"/>
          <p:cNvSpPr/>
          <p:nvPr/>
        </p:nvSpPr>
        <p:spPr>
          <a:xfrm>
            <a:off x="8119872" y="2560320"/>
            <a:ext cx="3337560" cy="274320"/>
          </a:xfrm>
          <a:prstGeom prst="rect">
            <a:avLst/>
          </a:prstGeom>
          <a:noFill/>
          <a:ln/>
        </p:spPr>
        <p:txBody>
          <a:bodyPr wrap="square" lIns="0" tIns="0" rIns="0" bIns="0" rtlCol="0" anchor="ctr"/>
          <a:lstStyle/>
          <a:p>
            <a:pPr marL="0" indent="0">
              <a:buNone/>
            </a:pPr>
            <a:r>
              <a:rPr lang="en-US" sz="1500" b="1" dirty="0">
                <a:solidFill>
                  <a:srgbClr val="FFD17C"/>
                </a:solidFill>
                <a:latin typeface="Trebuchet MS" pitchFamily="34" charset="0"/>
                <a:ea typeface="Trebuchet MS" pitchFamily="34" charset="-122"/>
                <a:cs typeface="Trebuchet MS" pitchFamily="34" charset="-120"/>
              </a:rPr>
              <a:t>CURRENT ADOPTION</a:t>
            </a:r>
            <a:endParaRPr lang="en-US" sz="1500" dirty="0"/>
          </a:p>
        </p:txBody>
      </p:sp>
      <p:sp>
        <p:nvSpPr>
          <p:cNvPr id="18" name="Text 16"/>
          <p:cNvSpPr/>
          <p:nvPr/>
        </p:nvSpPr>
        <p:spPr>
          <a:xfrm>
            <a:off x="8119872" y="3108960"/>
            <a:ext cx="3337560" cy="420624"/>
          </a:xfrm>
          <a:prstGeom prst="rect">
            <a:avLst/>
          </a:prstGeom>
          <a:noFill/>
          <a:ln/>
        </p:spPr>
        <p:txBody>
          <a:bodyPr wrap="square" lIns="0" tIns="0" rIns="0" bIns="0" rtlCol="0" anchor="ctr"/>
          <a:lstStyle/>
          <a:p>
            <a:pPr marL="0" indent="0">
              <a:buNone/>
            </a:pPr>
            <a:r>
              <a:rPr lang="en-US" sz="2500" b="1" dirty="0">
                <a:solidFill>
                  <a:srgbClr val="F4F8FE"/>
                </a:solidFill>
                <a:latin typeface="Trebuchet MS" pitchFamily="34" charset="0"/>
                <a:ea typeface="Trebuchet MS" pitchFamily="34" charset="-122"/>
                <a:cs typeface="Trebuchet MS" pitchFamily="34" charset="-120"/>
              </a:rPr>
              <a:t>Author use only</a:t>
            </a:r>
            <a:endParaRPr lang="en-US" sz="2500" dirty="0"/>
          </a:p>
        </p:txBody>
      </p:sp>
      <p:sp>
        <p:nvSpPr>
          <p:cNvPr id="19" name="Text 17"/>
          <p:cNvSpPr/>
          <p:nvPr/>
        </p:nvSpPr>
        <p:spPr>
          <a:xfrm>
            <a:off x="8119872" y="3703320"/>
            <a:ext cx="3291840" cy="521208"/>
          </a:xfrm>
          <a:prstGeom prst="rect">
            <a:avLst/>
          </a:prstGeom>
          <a:noFill/>
          <a:ln/>
        </p:spPr>
        <p:txBody>
          <a:bodyPr wrap="square" lIns="0" tIns="0" rIns="0" bIns="0" rtlCol="0" anchor="ctr"/>
          <a:lstStyle/>
          <a:p>
            <a:pPr marL="0" indent="0">
              <a:buNone/>
            </a:pPr>
            <a:r>
              <a:rPr lang="en-US" sz="1500" dirty="0">
                <a:solidFill>
                  <a:srgbClr val="B7C8DB"/>
                </a:solidFill>
                <a:latin typeface="Calibri" pitchFamily="34" charset="0"/>
                <a:ea typeface="Calibri" pitchFamily="34" charset="-122"/>
                <a:cs typeface="Calibri" pitchFamily="34" charset="-120"/>
              </a:rPr>
              <a:t>Currently used personally by the author.</a:t>
            </a:r>
            <a:endParaRPr lang="en-US" sz="1500" dirty="0"/>
          </a:p>
          <a:p>
            <a:pPr marL="0" indent="0">
              <a:buNone/>
            </a:pPr>
            <a:r>
              <a:rPr lang="en-US" sz="1500" dirty="0">
                <a:solidFill>
                  <a:srgbClr val="B7C8DB"/>
                </a:solidFill>
                <a:latin typeface="Calibri" pitchFamily="34" charset="0"/>
                <a:ea typeface="Calibri" pitchFamily="34" charset="-122"/>
                <a:cs typeface="Calibri" pitchFamily="34" charset="-120"/>
              </a:rPr>
              <a:t>No customer adoption claimed yet.</a:t>
            </a:r>
            <a:endParaRPr lang="en-US" sz="1500" dirty="0"/>
          </a:p>
        </p:txBody>
      </p:sp>
      <p:sp>
        <p:nvSpPr>
          <p:cNvPr id="20" name="Shape 18"/>
          <p:cNvSpPr/>
          <p:nvPr/>
        </p:nvSpPr>
        <p:spPr>
          <a:xfrm>
            <a:off x="502920" y="4800600"/>
            <a:ext cx="11183112" cy="987552"/>
          </a:xfrm>
          <a:prstGeom prst="roundRect">
            <a:avLst>
              <a:gd name="adj" fmla="val 11111"/>
            </a:avLst>
          </a:prstGeom>
          <a:solidFill>
            <a:srgbClr val="1D2D44"/>
          </a:solidFill>
          <a:ln w="12700">
            <a:solidFill>
              <a:srgbClr val="1D2D44"/>
            </a:solidFill>
            <a:prstDash val="solid"/>
          </a:ln>
        </p:spPr>
        <p:txBody>
          <a:bodyPr/>
          <a:lstStyle/>
          <a:p>
            <a:endParaRPr lang="en-ZA"/>
          </a:p>
        </p:txBody>
      </p:sp>
      <p:sp>
        <p:nvSpPr>
          <p:cNvPr id="21" name="Text 19"/>
          <p:cNvSpPr/>
          <p:nvPr/>
        </p:nvSpPr>
        <p:spPr>
          <a:xfrm>
            <a:off x="731520" y="5001768"/>
            <a:ext cx="2971800" cy="274320"/>
          </a:xfrm>
          <a:prstGeom prst="rect">
            <a:avLst/>
          </a:prstGeom>
          <a:noFill/>
          <a:ln/>
        </p:spPr>
        <p:txBody>
          <a:bodyPr wrap="square" lIns="0" tIns="0" rIns="0" bIns="0" rtlCol="0" anchor="ctr"/>
          <a:lstStyle/>
          <a:p>
            <a:pPr marL="0" indent="0">
              <a:buNone/>
            </a:pPr>
            <a:r>
              <a:rPr lang="en-US" sz="1600" b="1" dirty="0">
                <a:solidFill>
                  <a:srgbClr val="79BAFF"/>
                </a:solidFill>
                <a:latin typeface="Trebuchet MS" pitchFamily="34" charset="0"/>
                <a:ea typeface="Trebuchet MS" pitchFamily="34" charset="-122"/>
                <a:cs typeface="Trebuchet MS" pitchFamily="34" charset="-120"/>
              </a:rPr>
              <a:t>CUSTOMER SELF-SERVICE</a:t>
            </a:r>
            <a:endParaRPr lang="en-US" sz="1600" dirty="0"/>
          </a:p>
        </p:txBody>
      </p:sp>
      <p:sp>
        <p:nvSpPr>
          <p:cNvPr id="22" name="Text 20"/>
          <p:cNvSpPr/>
          <p:nvPr/>
        </p:nvSpPr>
        <p:spPr>
          <a:xfrm>
            <a:off x="3977640" y="4974336"/>
            <a:ext cx="7452360" cy="320040"/>
          </a:xfrm>
          <a:prstGeom prst="rect">
            <a:avLst/>
          </a:prstGeom>
          <a:noFill/>
          <a:ln/>
        </p:spPr>
        <p:txBody>
          <a:bodyPr wrap="square" lIns="0" tIns="0" rIns="0" bIns="0" rtlCol="0" anchor="ctr"/>
          <a:lstStyle/>
          <a:p>
            <a:pPr marL="0" indent="0">
              <a:buNone/>
            </a:pPr>
            <a:r>
              <a:rPr lang="en-US" sz="2200" b="1" dirty="0">
                <a:solidFill>
                  <a:srgbClr val="F4F8FE"/>
                </a:solidFill>
                <a:latin typeface="Trebuchet MS" pitchFamily="34" charset="0"/>
                <a:ea typeface="Trebuchet MS" pitchFamily="34" charset="-122"/>
                <a:cs typeface="Trebuchet MS" pitchFamily="34" charset="-120"/>
              </a:rPr>
              <a:t>Customers can run the workflow themselves</a:t>
            </a:r>
            <a:endParaRPr lang="en-US" sz="2200" dirty="0"/>
          </a:p>
        </p:txBody>
      </p:sp>
      <p:sp>
        <p:nvSpPr>
          <p:cNvPr id="23" name="Text 21"/>
          <p:cNvSpPr/>
          <p:nvPr/>
        </p:nvSpPr>
        <p:spPr>
          <a:xfrm>
            <a:off x="3977640" y="5404104"/>
            <a:ext cx="7360920" cy="228600"/>
          </a:xfrm>
          <a:prstGeom prst="rect">
            <a:avLst/>
          </a:prstGeom>
          <a:noFill/>
          <a:ln/>
        </p:spPr>
        <p:txBody>
          <a:bodyPr wrap="square" lIns="0" tIns="0" rIns="0" bIns="0" rtlCol="0" anchor="ctr"/>
          <a:lstStyle/>
          <a:p>
            <a:pPr marL="0" indent="0">
              <a:buNone/>
            </a:pPr>
            <a:r>
              <a:rPr lang="en-US" sz="1500" dirty="0">
                <a:solidFill>
                  <a:srgbClr val="B7C8DB"/>
                </a:solidFill>
                <a:latin typeface="Calibri" pitchFamily="34" charset="0"/>
                <a:ea typeface="Calibri" pitchFamily="34" charset="-122"/>
                <a:cs typeface="Calibri" pitchFamily="34" charset="-120"/>
              </a:rPr>
              <a:t>Collect their evidence, follow the guided stages and explore their own findings.</a:t>
            </a:r>
            <a:endParaRPr lang="en-US" sz="1500" dirty="0"/>
          </a:p>
        </p:txBody>
      </p:sp>
      <p:sp>
        <p:nvSpPr>
          <p:cNvPr id="24" name="Text 22"/>
          <p:cNvSpPr/>
          <p:nvPr/>
        </p:nvSpPr>
        <p:spPr>
          <a:xfrm>
            <a:off x="521208" y="6016752"/>
            <a:ext cx="11064240" cy="256032"/>
          </a:xfrm>
          <a:prstGeom prst="rect">
            <a:avLst/>
          </a:prstGeom>
          <a:noFill/>
          <a:ln/>
        </p:spPr>
        <p:txBody>
          <a:bodyPr wrap="square" lIns="0" tIns="0" rIns="0" bIns="0" rtlCol="0" anchor="ctr"/>
          <a:lstStyle/>
          <a:p>
            <a:pPr marL="0" indent="0">
              <a:buNone/>
            </a:pPr>
            <a:r>
              <a:rPr lang="en-US" sz="1400" dirty="0">
                <a:solidFill>
                  <a:srgbClr val="B7C8DB"/>
                </a:solidFill>
                <a:latin typeface="Calibri" pitchFamily="34" charset="0"/>
                <a:ea typeface="Calibri" pitchFamily="34" charset="-122"/>
                <a:cs typeface="Calibri" pitchFamily="34" charset="-120"/>
              </a:rPr>
              <a:t>Source: author's personal experience; not an independent benchmark. Time varies by scope.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TotalTime>
  <Words>695</Words>
  <Application>Microsoft Office PowerPoint</Application>
  <PresentationFormat>Widescreen</PresentationFormat>
  <Paragraphs>98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Trebuchet MS</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WordPress review: workflow architecture and canvases</dc:title>
  <dc:subject>GitHub Copilot app extensions, canvases, and skills</dc:subject>
  <dc:creator>Azure WordPress Review Toolkit</dc:creator>
  <cp:lastModifiedBy>Ahmed Salijee</cp:lastModifiedBy>
  <cp:revision>2</cp:revision>
  <dcterms:created xsi:type="dcterms:W3CDTF">2026-10-06T09:49:57Z</dcterms:created>
  <dcterms:modified xsi:type="dcterms:W3CDTF">2026-10-06T10:10:38Z</dcterms:modified>
</cp:coreProperties>
</file>