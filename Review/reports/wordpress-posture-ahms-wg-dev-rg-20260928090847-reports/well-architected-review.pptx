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Score %</c:v>
                </c:pt>
              </c:strCache>
            </c:strRef>
          </c:tx>
          <c:spPr>
            <a:solidFill>
              <a:srgbClr val="1E2761"/>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Foundations</c:v>
                  </c:pt>
                  <c:pt idx="1">
                    <c:v>Reliability</c:v>
                  </c:pt>
                  <c:pt idx="2">
                    <c:v>Security</c:v>
                  </c:pt>
                  <c:pt idx="3">
                    <c:v>Cost Optimization</c:v>
                  </c:pt>
                  <c:pt idx="4">
                    <c:v>Operational Excellence</c:v>
                  </c:pt>
                  <c:pt idx="5">
                    <c:v>Performance Efficiency</c:v>
                  </c:pt>
                </c:lvl>
              </c:multiLvlStrCache>
            </c:multiLvlStrRef>
          </c:cat>
          <c:val>
            <c:numRef>
              <c:f>Sheet1!$B$2:$B$7</c:f>
              <c:numCache>
                <c:formatCode>General</c:formatCode>
                <c:ptCount val="6"/>
                <c:pt idx="0">
                  <c:v>25</c:v>
                </c:pt>
                <c:pt idx="1">
                  <c:v>0</c:v>
                </c:pt>
                <c:pt idx="2">
                  <c:v>39</c:v>
                </c:pt>
                <c:pt idx="3">
                  <c:v>50</c:v>
                </c:pt>
                <c:pt idx="4">
                  <c:v>25</c:v>
                </c:pt>
                <c:pt idx="5">
                  <c:v>50</c:v>
                </c:pt>
              </c:numCache>
            </c:numRef>
          </c:val>
        </c:ser>
        <c:ser>
          <c:idx val="1"/>
          <c:order val="1"/>
          <c:tx>
            <c:strRef>
              <c:f>Sheet1!$C$1</c:f>
              <c:strCache>
                <c:ptCount val="1"/>
                <c:pt idx="0">
                  <c:v>Coverage %</c:v>
                </c:pt>
              </c:strCache>
            </c:strRef>
          </c:tx>
          <c:spPr>
            <a:solidFill>
              <a:srgbClr val="CADCFC"/>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Foundations</c:v>
                  </c:pt>
                  <c:pt idx="1">
                    <c:v>Reliability</c:v>
                  </c:pt>
                  <c:pt idx="2">
                    <c:v>Security</c:v>
                  </c:pt>
                  <c:pt idx="3">
                    <c:v>Cost Optimization</c:v>
                  </c:pt>
                  <c:pt idx="4">
                    <c:v>Operational Excellence</c:v>
                  </c:pt>
                  <c:pt idx="5">
                    <c:v>Performance Efficiency</c:v>
                  </c:pt>
                </c:lvl>
              </c:multiLvlStrCache>
            </c:multiLvlStrRef>
          </c:cat>
          <c:val>
            <c:numRef>
              <c:f>Sheet1!$C$2:$C$7</c:f>
              <c:numCache>
                <c:formatCode>General</c:formatCode>
                <c:ptCount val="6"/>
                <c:pt idx="0">
                  <c:v>31</c:v>
                </c:pt>
                <c:pt idx="1">
                  <c:v>53</c:v>
                </c:pt>
                <c:pt idx="2">
                  <c:v>75</c:v>
                </c:pt>
                <c:pt idx="3">
                  <c:v>43</c:v>
                </c:pt>
                <c:pt idx="4">
                  <c:v>24</c:v>
                </c:pt>
                <c:pt idx="5">
                  <c:v>40</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Pass</c:v>
                </c:pt>
              </c:strCache>
            </c:strRef>
          </c:tx>
          <c:spPr>
            <a:solidFill>
              <a:srgbClr val="2E7D32"/>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Sheet1!$A$2:$A$9</c:f>
              <c:multiLvlStrCache>
                <c:ptCount val="8"/>
                <c:lvl>
                  <c:pt idx="0">
                    <c:v>8. Manual register</c:v>
                  </c:pt>
                  <c:pt idx="1">
                    <c:v>7. Resource-specific</c:v>
                  </c:pt>
                  <c:pt idx="2">
                    <c:v>6. Performance Efficiency</c:v>
                  </c:pt>
                  <c:pt idx="3">
                    <c:v>5. Operational Excellence</c:v>
                  </c:pt>
                  <c:pt idx="4">
                    <c:v>4. Cost Optimization</c:v>
                  </c:pt>
                  <c:pt idx="5">
                    <c:v>3. Security</c:v>
                  </c:pt>
                  <c:pt idx="6">
                    <c:v>2. Reliability</c:v>
                  </c:pt>
                  <c:pt idx="7">
                    <c:v>1. Foundations</c:v>
                  </c:pt>
                </c:lvl>
              </c:multiLvlStrCache>
            </c:multiLvlStrRef>
          </c:cat>
          <c:val>
            <c:numRef>
              <c:f>Sheet1!$B$2:$B$9</c:f>
              <c:numCache>
                <c:formatCode>General</c:formatCode>
                <c:ptCount val="8"/>
                <c:pt idx="0">
                  <c:v>0</c:v>
                </c:pt>
                <c:pt idx="1">
                  <c:v>9</c:v>
                </c:pt>
                <c:pt idx="2">
                  <c:v>3</c:v>
                </c:pt>
                <c:pt idx="3">
                  <c:v>1</c:v>
                </c:pt>
                <c:pt idx="4">
                  <c:v>3</c:v>
                </c:pt>
                <c:pt idx="5">
                  <c:v>7</c:v>
                </c:pt>
                <c:pt idx="6">
                  <c:v>0</c:v>
                </c:pt>
                <c:pt idx="7">
                  <c:v>1</c:v>
                </c:pt>
              </c:numCache>
            </c:numRef>
          </c:val>
        </c:ser>
        <c:ser>
          <c:idx val="1"/>
          <c:order val="1"/>
          <c:tx>
            <c:strRef>
              <c:f>Sheet1!$C$1</c:f>
              <c:strCache>
                <c:ptCount val="1"/>
                <c:pt idx="0">
                  <c:v>Fail</c:v>
                </c:pt>
              </c:strCache>
            </c:strRef>
          </c:tx>
          <c:spPr>
            <a:solidFill>
              <a:srgbClr val="C62828"/>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Sheet1!$A$2:$A$9</c:f>
              <c:multiLvlStrCache>
                <c:ptCount val="8"/>
                <c:lvl>
                  <c:pt idx="0">
                    <c:v>8. Manual register</c:v>
                  </c:pt>
                  <c:pt idx="1">
                    <c:v>7. Resource-specific</c:v>
                  </c:pt>
                  <c:pt idx="2">
                    <c:v>6. Performance Efficiency</c:v>
                  </c:pt>
                  <c:pt idx="3">
                    <c:v>5. Operational Excellence</c:v>
                  </c:pt>
                  <c:pt idx="4">
                    <c:v>4. Cost Optimization</c:v>
                  </c:pt>
                  <c:pt idx="5">
                    <c:v>3. Security</c:v>
                  </c:pt>
                  <c:pt idx="6">
                    <c:v>2. Reliability</c:v>
                  </c:pt>
                  <c:pt idx="7">
                    <c:v>1. Foundations</c:v>
                  </c:pt>
                </c:lvl>
              </c:multiLvlStrCache>
            </c:multiLvlStrRef>
          </c:cat>
          <c:val>
            <c:numRef>
              <c:f>Sheet1!$C$2:$C$9</c:f>
              <c:numCache>
                <c:formatCode>General</c:formatCode>
                <c:ptCount val="8"/>
                <c:pt idx="0">
                  <c:v>0</c:v>
                </c:pt>
                <c:pt idx="1">
                  <c:v>11</c:v>
                </c:pt>
                <c:pt idx="2">
                  <c:v>3</c:v>
                </c:pt>
                <c:pt idx="3">
                  <c:v>3</c:v>
                </c:pt>
                <c:pt idx="4">
                  <c:v>3</c:v>
                </c:pt>
                <c:pt idx="5">
                  <c:v>11</c:v>
                </c:pt>
                <c:pt idx="6">
                  <c:v>9</c:v>
                </c:pt>
                <c:pt idx="7">
                  <c:v>3</c:v>
                </c:pt>
              </c:numCache>
            </c:numRef>
          </c:val>
        </c:ser>
        <c:ser>
          <c:idx val="2"/>
          <c:order val="2"/>
          <c:tx>
            <c:strRef>
              <c:f>Sheet1!$D$1</c:f>
              <c:strCache>
                <c:ptCount val="1"/>
                <c:pt idx="0">
                  <c:v>N/A</c:v>
                </c:pt>
              </c:strCache>
            </c:strRef>
          </c:tx>
          <c:spPr>
            <a:solidFill>
              <a:srgbClr val="BDBDBD"/>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Sheet1!$A$2:$A$9</c:f>
              <c:multiLvlStrCache>
                <c:ptCount val="8"/>
                <c:lvl>
                  <c:pt idx="0">
                    <c:v>8. Manual register</c:v>
                  </c:pt>
                  <c:pt idx="1">
                    <c:v>7. Resource-specific</c:v>
                  </c:pt>
                  <c:pt idx="2">
                    <c:v>6. Performance Efficiency</c:v>
                  </c:pt>
                  <c:pt idx="3">
                    <c:v>5. Operational Excellence</c:v>
                  </c:pt>
                  <c:pt idx="4">
                    <c:v>4. Cost Optimization</c:v>
                  </c:pt>
                  <c:pt idx="5">
                    <c:v>3. Security</c:v>
                  </c:pt>
                  <c:pt idx="6">
                    <c:v>2. Reliability</c:v>
                  </c:pt>
                  <c:pt idx="7">
                    <c:v>1. Foundations</c:v>
                  </c:pt>
                </c:lvl>
              </c:multiLvlStrCache>
            </c:multiLvlStrRef>
          </c:cat>
          <c:val>
            <c:numRef>
              <c:f>Sheet1!$D$2:$D$9</c:f>
              <c:numCache>
                <c:formatCode>General</c:formatCode>
                <c:ptCount val="8"/>
                <c:pt idx="0">
                  <c:v>0</c:v>
                </c:pt>
                <c:pt idx="1">
                  <c:v>8</c:v>
                </c:pt>
                <c:pt idx="2">
                  <c:v>0</c:v>
                </c:pt>
                <c:pt idx="3">
                  <c:v>0</c:v>
                </c:pt>
                <c:pt idx="4">
                  <c:v>0</c:v>
                </c:pt>
                <c:pt idx="5">
                  <c:v>0</c:v>
                </c:pt>
                <c:pt idx="6">
                  <c:v>0</c:v>
                </c:pt>
                <c:pt idx="7">
                  <c:v>0</c:v>
                </c:pt>
              </c:numCache>
            </c:numRef>
          </c:val>
        </c:ser>
        <c:ser>
          <c:idx val="3"/>
          <c:order val="3"/>
          <c:tx>
            <c:strRef>
              <c:f>Sheet1!$E$1</c:f>
              <c:strCache>
                <c:ptCount val="1"/>
                <c:pt idx="0">
                  <c:v>Not verified</c:v>
                </c:pt>
              </c:strCache>
            </c:strRef>
          </c:tx>
          <c:spPr>
            <a:solidFill>
              <a:srgbClr val="607D8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Sheet1!$A$2:$A$9</c:f>
              <c:multiLvlStrCache>
                <c:ptCount val="8"/>
                <c:lvl>
                  <c:pt idx="0">
                    <c:v>8. Manual register</c:v>
                  </c:pt>
                  <c:pt idx="1">
                    <c:v>7. Resource-specific</c:v>
                  </c:pt>
                  <c:pt idx="2">
                    <c:v>6. Performance Efficiency</c:v>
                  </c:pt>
                  <c:pt idx="3">
                    <c:v>5. Operational Excellence</c:v>
                  </c:pt>
                  <c:pt idx="4">
                    <c:v>4. Cost Optimization</c:v>
                  </c:pt>
                  <c:pt idx="5">
                    <c:v>3. Security</c:v>
                  </c:pt>
                  <c:pt idx="6">
                    <c:v>2. Reliability</c:v>
                  </c:pt>
                  <c:pt idx="7">
                    <c:v>1. Foundations</c:v>
                  </c:pt>
                </c:lvl>
              </c:multiLvlStrCache>
            </c:multiLvlStrRef>
          </c:cat>
          <c:val>
            <c:numRef>
              <c:f>Sheet1!$E$2:$E$9</c:f>
              <c:numCache>
                <c:formatCode>General</c:formatCode>
                <c:ptCount val="8"/>
                <c:pt idx="0">
                  <c:v>12</c:v>
                </c:pt>
                <c:pt idx="1">
                  <c:v>12</c:v>
                </c:pt>
                <c:pt idx="2">
                  <c:v>9</c:v>
                </c:pt>
                <c:pt idx="3">
                  <c:v>13</c:v>
                </c:pt>
                <c:pt idx="4">
                  <c:v>8</c:v>
                </c:pt>
                <c:pt idx="5">
                  <c:v>6</c:v>
                </c:pt>
                <c:pt idx="6">
                  <c:v>8</c:v>
                </c:pt>
                <c:pt idx="7">
                  <c:v>9</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Findings</c:v>
                </c:pt>
              </c:strCache>
            </c:strRef>
          </c:tx>
          <c:spPr>
            <a:solidFill>
              <a:srgbClr val="C62828"/>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C62828"/>
              </a:solidFill>
              <a:effectLst/>
            </c:spPr>
          </c:dPt>
          <c:dPt>
            <c:idx val="1"/>
            <c:invertIfNegative val="0"/>
            <c:bubble3D val="0"/>
            <c:spPr>
              <a:solidFill>
                <a:srgbClr val="E2593B"/>
              </a:solidFill>
              <a:effectLst/>
            </c:spPr>
          </c:dPt>
          <c:dPt>
            <c:idx val="2"/>
            <c:invertIfNegative val="0"/>
            <c:bubble3D val="0"/>
            <c:spPr>
              <a:solidFill>
                <a:srgbClr val="E8A33D"/>
              </a:solidFill>
              <a:effectLst/>
            </c:spPr>
          </c:dPt>
          <c:dPt>
            <c:idx val="3"/>
            <c:invertIfNegative val="0"/>
            <c:bubble3D val="0"/>
            <c:spPr>
              <a:solidFill>
                <a:srgbClr val="9DB2BF"/>
              </a:solidFill>
              <a:effectLst/>
            </c:spPr>
          </c:dPt>
          <c:dPt>
            <c:idx val="4"/>
            <c:invertIfNegative val="0"/>
            <c:bubble3D val="0"/>
            <c:spPr>
              <a:solidFill>
                <a:srgbClr val="BDBDBD"/>
              </a:solidFill>
              <a:effectLst/>
            </c:spPr>
          </c:dPt>
          <c:cat>
            <c:multiLvlStrRef>
              <c:f>Sheet1!$A$2:$A$6</c:f>
              <c:multiLvlStrCache>
                <c:ptCount val="5"/>
                <c:lvl>
                  <c:pt idx="0">
                    <c:v>Sev 5</c:v>
                  </c:pt>
                  <c:pt idx="1">
                    <c:v>Sev 4</c:v>
                  </c:pt>
                  <c:pt idx="2">
                    <c:v>Sev 3</c:v>
                  </c:pt>
                  <c:pt idx="3">
                    <c:v>Sev 2</c:v>
                  </c:pt>
                  <c:pt idx="4">
                    <c:v>Sev 1</c:v>
                  </c:pt>
                </c:lvl>
              </c:multiLvlStrCache>
            </c:multiLvlStrRef>
          </c:cat>
          <c:val>
            <c:numRef>
              <c:f>Sheet1!$B$2:$B$6</c:f>
              <c:numCache>
                <c:formatCode>General</c:formatCode>
                <c:ptCount val="5"/>
                <c:pt idx="0">
                  <c:v>5</c:v>
                </c:pt>
                <c:pt idx="1">
                  <c:v>24</c:v>
                </c:pt>
                <c:pt idx="2">
                  <c:v>49</c:v>
                </c:pt>
                <c:pt idx="3">
                  <c:v>34</c:v>
                </c:pt>
                <c:pt idx="4">
                  <c:v>5</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SLO, RTO, or RPO was supplied with this evidence set, so the review cannot confirm the configuration meets an availability commitment. Overall score is the unweighted mean of pillars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SLO / RTO / RPO: not supplied. A single non-zone-redundant App Service worker and an HA-disabled Burstable MySQL server would not meet a typical production availability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is Pass / (Total - N/A - Not verified). Coverage is decided / applicable. Sections 7 and 8 are excluded from the six-pillar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Not-verified controls reduce coverage, not score. They are undecided, not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1 · Fail 3 · N/A 0 · Not verified 9. Highest-severity recommendation (FND-10, severity 3): Triage the open Advisor and Defender recommendations, assign owners and due dates, and record formally accepted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0 · Fail 9 · N/A 0 · Not verified 8. Highest-severity recommendation (REL-03, severity 4): Scale the Premium v3 plan to at least two workers and enable zone redundancy in South Africa North, sized against an agreed SLO.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7 · Fail 11 · N/A 0 · Not verified 6. Highest-severity recommendation (SEC-07, severity 5): Upgrade the profile to Front Door Premium, tune the managed rule set in Detection, then switch the policy to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3 · Fail 3 · N/A 0 · Not verified 8. Highest-severity recommendation (CST-08, severity 3): Enable caching and compression for static paths with explicit cache keys and query handling, keeping authenticated responses uncached.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1 · Fail 3 · N/A 0 · Not verified 13. Highest-severity recommendation (OPS-09, severity 4): Create an action group with an accountable owner and define alerts for SLO symptoms, dependency health, secret and certificate expiry, and quota.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3 · Fail 3 · N/A 0 · Not verified 9. Highest-severity recommendation (PRF-03, severity 4): Re-select tiers against agreed targets: multi-worker zone-redundant Premium v3, General Purpose MySQL, a Redis size with HA, and Front Door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totals: 40 controls, 9 pass, 11 fail, 8 N/A, 12 not verified. Reported separately from the six-pillar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come from findings.csv and are not recomputed here. Do now = severity 4-5 with effort 2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F-001 SEC-07: Upgrade the profile to Front Door Premium, tune the managed rule set in Detection, then switch the policy to Prevention.
F-002 SEC-08: Attach the current Microsoft Default rule set and Bot Manager rule set, add rate limiting for login and XML-RPC paths, and evaluate DDoS Network Protection.
F-003 SEC-14: Remove the administrator credential from App Service configuration, rotate it immediately, move it to Key Vault behind a reference, and set expiry with near-expiry alerts on every secret.
F-004 SEC-20: Replace the shared account with named administrators, enforce strong authentication, remove the bootstrap credential from configuration, and audit administrator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F-005 MAN-07: Commission an origin-bypass and WAF-enforcement test after moving the policy to Prevention, and rehearse the security-alert response path.
F-006 OPS-09: Create an action group with an accountable owner and define alerts for SLO symptoms, dependency health, secret and certificate expiry, and quota.
F-007 PRF-03: Re-select tiers against agreed targets: multi-worker zone-redundant Premium v3, General Purpose MySQL, a Redis size with HA, and Front Door Premium.
F-008 REL-03: Scale the Premium v3 plan to at least two workers and enable zone redundancy in South Africa North, sized against an agreed SLO.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F-009 REL-04: Enable Always On, publish a lightweight dependency-aware health-check endpoint, and configure auto-heal rules for slow requests, memory, and HTTP error thresholds.
F-010 REL-06: Define and load-test an autoscale rule with a minimum of two instances, explicit triggers, cooldowns, and headroom.
F-011 REL-08: Move to a General Purpose tier, enable zone-redundant HA, and set backup retention and geo-redundancy from an agreed RPO.
F-012 SEC-05: Set the SCM default action to Deny, allow only the deployment agent ranges, and disable basic publishing credentials and SCM basic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F-013 SEC-10: Add WAF rate-limit and geo/IP match rules for the WordPress administration paths, and disable phpMyAdmin or restrict it to a maintenance window.
F-014 SEC-15: Enable purge protection and raise soft-delete retention to at least 90 days. Purge protection cannot be disabled once set, so confirm the recovery procedure first.
F-015 SEC-18: Disable phpMyAdmin, set DISALLOW_FILE_EDIT and DISALLOW_FILE_MODS, and confirm XML-RPC and application passwords are blocked or restricted.
F-016 FND-03: Agree measurable SLOs and recovery targets with the business owner before accepting the current single-instance, 7-day-retention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F-017 MAN-01: Hold a workshop with the business owner to agree critical flows, SLOs/SLIs, RTO/RPO, and an accepted-risk register, then re-score Sections 2 and 6 against those targets.
F-018 MAN-02: Run a full workload restore rehearsal into an isolated environment, time it against the agreed RTO/RPO, and record the result.
F-019 MAN-04: Export Azure RBAC at subscription and resource-group scope, confirm PIM and Conditional Access coverage for privileged roles, and run a documented access review.
F-020 MAN-05: Introduce dependency and secret scanning across the WordPress and IaC repositories, with a named owner and an agreed remediation window by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F-021 MAN-06: Set expiry on all Key Vault secrets, rehearse a rotation including application revalidation, and document the emergency access path.
F-022 MAN-08: Bring the workload under infrastructure as code with peer review and policy checks, and add drift detection against the deployed state.
F-023 MAN-09: Build a symptom-based alert set tied to the agreed SLOs, route it to an owned action group, and test notification delivery end to end.
F-024 MAN-10: Establish a production-like environment and load-test the critical flows, including cache invalidation behaviour, before any production traffic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F-025 MAN-12: Define an approved plugin and theme list with a staging validation gate, move administrators to named accounts, and monitor email deliverability and bounce rates.
F-026 REL-09: Define a single recovery set and runbook, using MySQL native point-in-time restore for the database rather than App Service backup.
F-027 REL-10: Perform and document a full restore exercise, measuring achieved RTO and RPO against the agreed targets.
F-028 SEC-02: Add secret and vulnerability scanning to the build for WordPress core, plugins, themes, and the site container, with risk-based patch SLAs.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F-029 SEC-23: Test origin bypass, WAF enforcement, administrator protection, and alert response once the WAF is in Prevention mode, and retain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and target are deliberately blank — they need to be assigned by the service owner before this plan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and target are deliberately blank — they need to be assigned by the service owner before this plan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and target are deliberately blank — they need to be assigned by the service owner before this plan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and target are deliberately blank — they need to be assigned by the service owner before this plan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and target are deliberately blank — they need to be assigned by the service owner before this plan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twelve items are Not verified. They reduce coverage rather than score, and Section 8 is reported separately from the headline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Vault data-plane refusals are positive evidence that private-only access holds, not collection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the honest limit on this review. Raising it is cheaper than most of the remediation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are indicative role names, not named individuals. Assign them before the plan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1371600"/>
            <a:ext cx="10972800" cy="73152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Azure Well-Architected Review</a:t>
            </a:r>
            <a:endParaRPr lang="en-US" sz="4000" dirty="0"/>
          </a:p>
        </p:txBody>
      </p:sp>
      <p:sp>
        <p:nvSpPr>
          <p:cNvPr id="3" name="Text 1"/>
          <p:cNvSpPr/>
          <p:nvPr/>
        </p:nvSpPr>
        <p:spPr>
          <a:xfrm>
            <a:off x="640080" y="2148840"/>
            <a:ext cx="10972800" cy="457200"/>
          </a:xfrm>
          <a:prstGeom prst="rect">
            <a:avLst/>
          </a:prstGeom>
          <a:noFill/>
          <a:ln/>
        </p:spPr>
        <p:txBody>
          <a:bodyPr wrap="square" rtlCol="0" anchor="ctr"/>
          <a:lstStyle/>
          <a:p>
            <a:pPr indent="0" marL="0">
              <a:buNone/>
            </a:pPr>
            <a:r>
              <a:rPr lang="en-US" sz="2200" dirty="0">
                <a:solidFill>
                  <a:srgbClr val="CADCFC"/>
                </a:solidFill>
                <a:latin typeface="Trebuchet MS" pitchFamily="34" charset="0"/>
                <a:ea typeface="Trebuchet MS" pitchFamily="34" charset="-122"/>
                <a:cs typeface="Trebuchet MS" pitchFamily="34" charset="-120"/>
              </a:rPr>
              <a:t>WordPress on Azure App Service</a:t>
            </a:r>
            <a:endParaRPr lang="en-US" sz="2200" dirty="0"/>
          </a:p>
        </p:txBody>
      </p:sp>
      <p:sp>
        <p:nvSpPr>
          <p:cNvPr id="4" name="Text 2"/>
          <p:cNvSpPr/>
          <p:nvPr/>
        </p:nvSpPr>
        <p:spPr>
          <a:xfrm>
            <a:off x="640080" y="3063240"/>
            <a:ext cx="5120640" cy="228600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Workload</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wordpressexampledev-wp-dev-swpsfsjvczhhe</a:t>
            </a:r>
            <a:endParaRPr lang="en-US" sz="1000" dirty="0"/>
          </a:p>
          <a:p>
            <a:pPr indent="0" marL="0">
              <a:buNone/>
            </a:pPr>
            <a:r>
              <a:rPr lang="en-US" sz="1000" dirty="0">
                <a:solidFill>
                  <a:srgbClr val="CADCFC"/>
                </a:solidFill>
                <a:latin typeface="Calibri" pitchFamily="34" charset="0"/>
                <a:ea typeface="Calibri" pitchFamily="34" charset="-122"/>
                <a:cs typeface="Calibri" pitchFamily="34" charset="-120"/>
              </a:rPr>
              <a:t>Environment</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non-prod (dev)</a:t>
            </a:r>
            <a:endParaRPr lang="en-US" sz="1000" dirty="0"/>
          </a:p>
          <a:p>
            <a:pPr indent="0" marL="0">
              <a:buNone/>
            </a:pPr>
            <a:r>
              <a:rPr lang="en-US" sz="1000" dirty="0">
                <a:solidFill>
                  <a:srgbClr val="CADCFC"/>
                </a:solidFill>
                <a:latin typeface="Calibri" pitchFamily="34" charset="0"/>
                <a:ea typeface="Calibri" pitchFamily="34" charset="-122"/>
                <a:cs typeface="Calibri" pitchFamily="34" charset="-120"/>
              </a:rPr>
              <a:t>Subscription</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5e8eb071-5103-4178-b2bc-417cf42def4d</a:t>
            </a:r>
            <a:endParaRPr lang="en-US" sz="1000" dirty="0"/>
          </a:p>
          <a:p>
            <a:pPr indent="0" marL="0">
              <a:buNone/>
            </a:pPr>
            <a:r>
              <a:rPr lang="en-US" sz="1000" dirty="0">
                <a:solidFill>
                  <a:srgbClr val="CADCFC"/>
                </a:solidFill>
                <a:latin typeface="Calibri" pitchFamily="34" charset="0"/>
                <a:ea typeface="Calibri" pitchFamily="34" charset="-122"/>
                <a:cs typeface="Calibri" pitchFamily="34" charset="-120"/>
              </a:rPr>
              <a:t>Resource group</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ahms-wg-dev-rg</a:t>
            </a:r>
            <a:endParaRPr lang="en-US" sz="1000" dirty="0"/>
          </a:p>
        </p:txBody>
      </p:sp>
      <p:sp>
        <p:nvSpPr>
          <p:cNvPr id="5" name="Text 3"/>
          <p:cNvSpPr/>
          <p:nvPr/>
        </p:nvSpPr>
        <p:spPr>
          <a:xfrm>
            <a:off x="6035040" y="3063240"/>
            <a:ext cx="5120640" cy="2286000"/>
          </a:xfrm>
          <a:prstGeom prst="rect">
            <a:avLst/>
          </a:prstGeom>
          <a:noFill/>
          <a:ln/>
        </p:spPr>
        <p:txBody>
          <a:bodyPr wrap="square" rtlCol="0" anchor="t"/>
          <a:lstStyle/>
          <a:p>
            <a:pPr indent="0" marL="0">
              <a:buNone/>
            </a:pPr>
            <a:r>
              <a:rPr lang="en-US" sz="1000" dirty="0">
                <a:solidFill>
                  <a:srgbClr val="CADCFC"/>
                </a:solidFill>
                <a:latin typeface="Calibri" pitchFamily="34" charset="0"/>
                <a:ea typeface="Calibri" pitchFamily="34" charset="-122"/>
                <a:cs typeface="Calibri" pitchFamily="34" charset="-120"/>
              </a:rPr>
              <a:t>Evidence collected (UTC)</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2026-09-28 09:09:05</a:t>
            </a:r>
            <a:endParaRPr lang="en-US" sz="1000" dirty="0"/>
          </a:p>
          <a:p>
            <a:pPr indent="0" marL="0">
              <a:buNone/>
            </a:pPr>
            <a:r>
              <a:rPr lang="en-US" sz="1000" dirty="0">
                <a:solidFill>
                  <a:srgbClr val="CADCFC"/>
                </a:solidFill>
                <a:latin typeface="Calibri" pitchFamily="34" charset="0"/>
                <a:ea typeface="Calibri" pitchFamily="34" charset="-122"/>
                <a:cs typeface="Calibri" pitchFamily="34" charset="-120"/>
              </a:rPr>
              <a:t>Review date</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2026-09-28</a:t>
            </a:r>
            <a:endParaRPr lang="en-US" sz="1000" dirty="0"/>
          </a:p>
          <a:p>
            <a:pPr indent="0" marL="0">
              <a:buNone/>
            </a:pPr>
            <a:r>
              <a:rPr lang="en-US" sz="1000" dirty="0">
                <a:solidFill>
                  <a:srgbClr val="CADCFC"/>
                </a:solidFill>
                <a:latin typeface="Calibri" pitchFamily="34" charset="0"/>
                <a:ea typeface="Calibri" pitchFamily="34" charset="-122"/>
                <a:cs typeface="Calibri" pitchFamily="34" charset="-120"/>
              </a:rPr>
              <a:t>Reviewer</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Automated review — wordpress-waf-review skill</a:t>
            </a:r>
            <a:endParaRPr lang="en-US" sz="1000" dirty="0"/>
          </a:p>
          <a:p>
            <a:pPr indent="0" marL="0">
              <a:buNone/>
            </a:pPr>
            <a:r>
              <a:rPr lang="en-US" sz="1000" dirty="0">
                <a:solidFill>
                  <a:srgbClr val="CADCFC"/>
                </a:solidFill>
                <a:latin typeface="Calibri" pitchFamily="34" charset="0"/>
                <a:ea typeface="Calibri" pitchFamily="34" charset="-122"/>
                <a:cs typeface="Calibri" pitchFamily="34" charset="-120"/>
              </a:rPr>
              <a:t>Checklist</a:t>
            </a:r>
            <a:endParaRPr lang="en-US" sz="1000" dirty="0"/>
          </a:p>
          <a:p>
            <a:pPr indent="0" marL="0">
              <a:spcAft>
                <a:spcPts val="800"/>
              </a:spcAft>
              <a:buNone/>
            </a:pPr>
            <a:r>
              <a:rPr lang="en-US" sz="1300" b="1" dirty="0">
                <a:solidFill>
                  <a:srgbClr val="FFFFFF"/>
                </a:solidFill>
                <a:latin typeface="Calibri" pitchFamily="34" charset="0"/>
                <a:ea typeface="Calibri" pitchFamily="34" charset="-122"/>
                <a:cs typeface="Calibri" pitchFamily="34" charset="-120"/>
              </a:rPr>
              <a:t>AzureWordPressChecklist.md · 152 controls</a:t>
            </a:r>
            <a:endParaRPr lang="en-US" sz="1000" dirty="0"/>
          </a:p>
        </p:txBody>
      </p:sp>
      <p:sp>
        <p:nvSpPr>
          <p:cNvPr id="6" name="Text 4"/>
          <p:cNvSpPr/>
          <p:nvPr/>
        </p:nvSpPr>
        <p:spPr>
          <a:xfrm>
            <a:off x="7315200" y="5806440"/>
            <a:ext cx="4206240" cy="502920"/>
          </a:xfrm>
          <a:prstGeom prst="rect">
            <a:avLst/>
          </a:prstGeom>
          <a:noFill/>
          <a:ln/>
        </p:spPr>
        <p:txBody>
          <a:bodyPr wrap="square" rtlCol="0" anchor="ctr"/>
          <a:lstStyle/>
          <a:p>
            <a:pPr algn="r" indent="0" marL="0">
              <a:buNone/>
            </a:pPr>
            <a:r>
              <a:rPr lang="en-US" sz="2000" b="1" dirty="0">
                <a:solidFill>
                  <a:srgbClr val="C62828"/>
                </a:solidFill>
                <a:latin typeface="Trebuchet MS" pitchFamily="34" charset="0"/>
                <a:ea typeface="Trebuchet MS" pitchFamily="34" charset="-122"/>
                <a:cs typeface="Trebuchet MS" pitchFamily="34" charset="-120"/>
              </a:rPr>
              <a:t>32% score · 44% coverage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Overall posture</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640080" y="1143000"/>
            <a:ext cx="2514600" cy="1371600"/>
          </a:xfrm>
          <a:prstGeom prst="roundRect">
            <a:avLst>
              <a:gd name="adj" fmla="val 5333"/>
            </a:avLst>
          </a:prstGeom>
          <a:solidFill>
            <a:srgbClr val="F5F7FA"/>
          </a:solidFill>
          <a:ln w="12700">
            <a:solidFill>
              <a:srgbClr val="E2E8F0"/>
            </a:solidFill>
            <a:prstDash val="solid"/>
          </a:ln>
        </p:spPr>
      </p:sp>
      <p:sp>
        <p:nvSpPr>
          <p:cNvPr id="8" name="Text 5"/>
          <p:cNvSpPr/>
          <p:nvPr/>
        </p:nvSpPr>
        <p:spPr>
          <a:xfrm>
            <a:off x="640080" y="1234440"/>
            <a:ext cx="2514600" cy="777240"/>
          </a:xfrm>
          <a:prstGeom prst="rect">
            <a:avLst/>
          </a:prstGeom>
          <a:noFill/>
          <a:ln/>
        </p:spPr>
        <p:txBody>
          <a:bodyPr wrap="square" rtlCol="0" anchor="ctr"/>
          <a:lstStyle/>
          <a:p>
            <a:pPr algn="ctr" indent="0" marL="0">
              <a:buNone/>
            </a:pPr>
            <a:r>
              <a:rPr lang="en-US" sz="4400" b="1" dirty="0">
                <a:solidFill>
                  <a:srgbClr val="C62828"/>
                </a:solidFill>
                <a:latin typeface="Trebuchet MS" pitchFamily="34" charset="0"/>
                <a:ea typeface="Trebuchet MS" pitchFamily="34" charset="-122"/>
                <a:cs typeface="Trebuchet MS" pitchFamily="34" charset="-120"/>
              </a:rPr>
              <a:t>32%</a:t>
            </a:r>
            <a:endParaRPr lang="en-US" sz="4400" dirty="0"/>
          </a:p>
        </p:txBody>
      </p:sp>
      <p:sp>
        <p:nvSpPr>
          <p:cNvPr id="9" name="Text 6"/>
          <p:cNvSpPr/>
          <p:nvPr/>
        </p:nvSpPr>
        <p:spPr>
          <a:xfrm>
            <a:off x="640080" y="2011680"/>
            <a:ext cx="25146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Overall score</a:t>
            </a:r>
            <a:endParaRPr lang="en-US" sz="1100" dirty="0"/>
          </a:p>
        </p:txBody>
      </p:sp>
      <p:sp>
        <p:nvSpPr>
          <p:cNvPr id="10" name="Shape 7"/>
          <p:cNvSpPr/>
          <p:nvPr/>
        </p:nvSpPr>
        <p:spPr>
          <a:xfrm>
            <a:off x="3383280" y="1143000"/>
            <a:ext cx="2514600" cy="1371600"/>
          </a:xfrm>
          <a:prstGeom prst="roundRect">
            <a:avLst>
              <a:gd name="adj" fmla="val 5333"/>
            </a:avLst>
          </a:prstGeom>
          <a:solidFill>
            <a:srgbClr val="F5F7FA"/>
          </a:solidFill>
          <a:ln w="12700">
            <a:solidFill>
              <a:srgbClr val="E2E8F0"/>
            </a:solidFill>
            <a:prstDash val="solid"/>
          </a:ln>
        </p:spPr>
      </p:sp>
      <p:sp>
        <p:nvSpPr>
          <p:cNvPr id="11" name="Text 8"/>
          <p:cNvSpPr/>
          <p:nvPr/>
        </p:nvSpPr>
        <p:spPr>
          <a:xfrm>
            <a:off x="3383280" y="1234440"/>
            <a:ext cx="2514600" cy="777240"/>
          </a:xfrm>
          <a:prstGeom prst="rect">
            <a:avLst/>
          </a:prstGeom>
          <a:noFill/>
          <a:ln/>
        </p:spPr>
        <p:txBody>
          <a:bodyPr wrap="square" rtlCol="0" anchor="ctr"/>
          <a:lstStyle/>
          <a:p>
            <a:pPr algn="ctr" indent="0" marL="0">
              <a:buNone/>
            </a:pPr>
            <a:r>
              <a:rPr lang="en-US" sz="4400" b="1" dirty="0">
                <a:solidFill>
                  <a:srgbClr val="E8A33D"/>
                </a:solidFill>
                <a:latin typeface="Trebuchet MS" pitchFamily="34" charset="0"/>
                <a:ea typeface="Trebuchet MS" pitchFamily="34" charset="-122"/>
                <a:cs typeface="Trebuchet MS" pitchFamily="34" charset="-120"/>
              </a:rPr>
              <a:t>44%</a:t>
            </a:r>
            <a:endParaRPr lang="en-US" sz="4400" dirty="0"/>
          </a:p>
        </p:txBody>
      </p:sp>
      <p:sp>
        <p:nvSpPr>
          <p:cNvPr id="12" name="Text 9"/>
          <p:cNvSpPr/>
          <p:nvPr/>
        </p:nvSpPr>
        <p:spPr>
          <a:xfrm>
            <a:off x="3383280" y="2011680"/>
            <a:ext cx="25146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Evidence coverage</a:t>
            </a:r>
            <a:endParaRPr lang="en-US" sz="1100" dirty="0"/>
          </a:p>
        </p:txBody>
      </p:sp>
      <p:sp>
        <p:nvSpPr>
          <p:cNvPr id="13" name="Shape 10"/>
          <p:cNvSpPr/>
          <p:nvPr/>
        </p:nvSpPr>
        <p:spPr>
          <a:xfrm>
            <a:off x="6126480" y="1143000"/>
            <a:ext cx="2514600" cy="1371600"/>
          </a:xfrm>
          <a:prstGeom prst="roundRect">
            <a:avLst>
              <a:gd name="adj" fmla="val 5333"/>
            </a:avLst>
          </a:prstGeom>
          <a:solidFill>
            <a:srgbClr val="F5F7FA"/>
          </a:solidFill>
          <a:ln w="12700">
            <a:solidFill>
              <a:srgbClr val="E2E8F0"/>
            </a:solidFill>
            <a:prstDash val="solid"/>
          </a:ln>
        </p:spPr>
      </p:sp>
      <p:sp>
        <p:nvSpPr>
          <p:cNvPr id="14" name="Text 11"/>
          <p:cNvSpPr/>
          <p:nvPr/>
        </p:nvSpPr>
        <p:spPr>
          <a:xfrm>
            <a:off x="6126480" y="1234440"/>
            <a:ext cx="2514600" cy="777240"/>
          </a:xfrm>
          <a:prstGeom prst="rect">
            <a:avLst/>
          </a:prstGeom>
          <a:noFill/>
          <a:ln/>
        </p:spPr>
        <p:txBody>
          <a:bodyPr wrap="square" rtlCol="0" anchor="ctr"/>
          <a:lstStyle/>
          <a:p>
            <a:pPr algn="ctr" indent="0" marL="0">
              <a:buNone/>
            </a:pPr>
            <a:r>
              <a:rPr lang="en-US" sz="4400" b="1" dirty="0">
                <a:solidFill>
                  <a:srgbClr val="C62828"/>
                </a:solidFill>
                <a:latin typeface="Trebuchet MS" pitchFamily="34" charset="0"/>
                <a:ea typeface="Trebuchet MS" pitchFamily="34" charset="-122"/>
                <a:cs typeface="Trebuchet MS" pitchFamily="34" charset="-120"/>
              </a:rPr>
              <a:t>4</a:t>
            </a:r>
            <a:endParaRPr lang="en-US" sz="4400" dirty="0"/>
          </a:p>
        </p:txBody>
      </p:sp>
      <p:sp>
        <p:nvSpPr>
          <p:cNvPr id="15" name="Text 12"/>
          <p:cNvSpPr/>
          <p:nvPr/>
        </p:nvSpPr>
        <p:spPr>
          <a:xfrm>
            <a:off x="6126480" y="2011680"/>
            <a:ext cx="25146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Critical findings (sev 5)</a:t>
            </a:r>
            <a:endParaRPr lang="en-US" sz="1100" dirty="0"/>
          </a:p>
        </p:txBody>
      </p:sp>
      <p:sp>
        <p:nvSpPr>
          <p:cNvPr id="16" name="Shape 13"/>
          <p:cNvSpPr/>
          <p:nvPr/>
        </p:nvSpPr>
        <p:spPr>
          <a:xfrm>
            <a:off x="8869680" y="1143000"/>
            <a:ext cx="2514600" cy="1371600"/>
          </a:xfrm>
          <a:prstGeom prst="roundRect">
            <a:avLst>
              <a:gd name="adj" fmla="val 5333"/>
            </a:avLst>
          </a:prstGeom>
          <a:solidFill>
            <a:srgbClr val="F5F7FA"/>
          </a:solidFill>
          <a:ln w="12700">
            <a:solidFill>
              <a:srgbClr val="E2E8F0"/>
            </a:solidFill>
            <a:prstDash val="solid"/>
          </a:ln>
        </p:spPr>
      </p:sp>
      <p:sp>
        <p:nvSpPr>
          <p:cNvPr id="17" name="Text 14"/>
          <p:cNvSpPr/>
          <p:nvPr/>
        </p:nvSpPr>
        <p:spPr>
          <a:xfrm>
            <a:off x="8869680" y="1234440"/>
            <a:ext cx="2514600" cy="777240"/>
          </a:xfrm>
          <a:prstGeom prst="rect">
            <a:avLst/>
          </a:prstGeom>
          <a:noFill/>
          <a:ln/>
        </p:spPr>
        <p:txBody>
          <a:bodyPr wrap="square" rtlCol="0" anchor="ctr"/>
          <a:lstStyle/>
          <a:p>
            <a:pPr algn="ctr" indent="0" marL="0">
              <a:buNone/>
            </a:pPr>
            <a:r>
              <a:rPr lang="en-US" sz="4400" b="1" dirty="0">
                <a:solidFill>
                  <a:srgbClr val="E8A33D"/>
                </a:solidFill>
                <a:latin typeface="Trebuchet MS" pitchFamily="34" charset="0"/>
                <a:ea typeface="Trebuchet MS" pitchFamily="34" charset="-122"/>
                <a:cs typeface="Trebuchet MS" pitchFamily="34" charset="-120"/>
              </a:rPr>
              <a:t>10</a:t>
            </a:r>
            <a:endParaRPr lang="en-US" sz="4400" dirty="0"/>
          </a:p>
        </p:txBody>
      </p:sp>
      <p:sp>
        <p:nvSpPr>
          <p:cNvPr id="18" name="Text 15"/>
          <p:cNvSpPr/>
          <p:nvPr/>
        </p:nvSpPr>
        <p:spPr>
          <a:xfrm>
            <a:off x="8869680" y="2011680"/>
            <a:ext cx="25146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High findings (sev 4)</a:t>
            </a:r>
            <a:endParaRPr lang="en-US" sz="1100" dirty="0"/>
          </a:p>
        </p:txBody>
      </p:sp>
      <p:sp>
        <p:nvSpPr>
          <p:cNvPr id="19" name="Shape 16"/>
          <p:cNvSpPr/>
          <p:nvPr/>
        </p:nvSpPr>
        <p:spPr>
          <a:xfrm>
            <a:off x="640080" y="2788920"/>
            <a:ext cx="2514600" cy="566928"/>
          </a:xfrm>
          <a:prstGeom prst="rect">
            <a:avLst/>
          </a:prstGeom>
          <a:solidFill>
            <a:srgbClr val="2E7D32"/>
          </a:solidFill>
          <a:ln/>
        </p:spPr>
      </p:sp>
      <p:sp>
        <p:nvSpPr>
          <p:cNvPr id="20" name="Text 17"/>
          <p:cNvSpPr/>
          <p:nvPr/>
        </p:nvSpPr>
        <p:spPr>
          <a:xfrm>
            <a:off x="640080" y="2788920"/>
            <a:ext cx="2514600" cy="56692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24  Pass</a:t>
            </a:r>
            <a:endParaRPr lang="en-US" sz="1500" dirty="0"/>
          </a:p>
        </p:txBody>
      </p:sp>
      <p:sp>
        <p:nvSpPr>
          <p:cNvPr id="21" name="Shape 18"/>
          <p:cNvSpPr/>
          <p:nvPr/>
        </p:nvSpPr>
        <p:spPr>
          <a:xfrm>
            <a:off x="3383280" y="2788920"/>
            <a:ext cx="2514600" cy="566928"/>
          </a:xfrm>
          <a:prstGeom prst="rect">
            <a:avLst/>
          </a:prstGeom>
          <a:solidFill>
            <a:srgbClr val="C62828"/>
          </a:solidFill>
          <a:ln/>
        </p:spPr>
      </p:sp>
      <p:sp>
        <p:nvSpPr>
          <p:cNvPr id="22" name="Text 19"/>
          <p:cNvSpPr/>
          <p:nvPr/>
        </p:nvSpPr>
        <p:spPr>
          <a:xfrm>
            <a:off x="3383280" y="2788920"/>
            <a:ext cx="2514600" cy="56692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43  Fail</a:t>
            </a:r>
            <a:endParaRPr lang="en-US" sz="1500" dirty="0"/>
          </a:p>
        </p:txBody>
      </p:sp>
      <p:sp>
        <p:nvSpPr>
          <p:cNvPr id="23" name="Shape 20"/>
          <p:cNvSpPr/>
          <p:nvPr/>
        </p:nvSpPr>
        <p:spPr>
          <a:xfrm>
            <a:off x="6126480" y="2788920"/>
            <a:ext cx="2514600" cy="566928"/>
          </a:xfrm>
          <a:prstGeom prst="rect">
            <a:avLst/>
          </a:prstGeom>
          <a:solidFill>
            <a:srgbClr val="BDBDBD"/>
          </a:solidFill>
          <a:ln/>
        </p:spPr>
      </p:sp>
      <p:sp>
        <p:nvSpPr>
          <p:cNvPr id="24" name="Text 21"/>
          <p:cNvSpPr/>
          <p:nvPr/>
        </p:nvSpPr>
        <p:spPr>
          <a:xfrm>
            <a:off x="6126480" y="2788920"/>
            <a:ext cx="2514600" cy="56692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8  N/A</a:t>
            </a:r>
            <a:endParaRPr lang="en-US" sz="1500" dirty="0"/>
          </a:p>
        </p:txBody>
      </p:sp>
      <p:sp>
        <p:nvSpPr>
          <p:cNvPr id="25" name="Shape 22"/>
          <p:cNvSpPr/>
          <p:nvPr/>
        </p:nvSpPr>
        <p:spPr>
          <a:xfrm>
            <a:off x="8869680" y="2788920"/>
            <a:ext cx="2514600" cy="566928"/>
          </a:xfrm>
          <a:prstGeom prst="rect">
            <a:avLst/>
          </a:prstGeom>
          <a:solidFill>
            <a:srgbClr val="607D8B"/>
          </a:solidFill>
          <a:ln/>
        </p:spPr>
      </p:sp>
      <p:sp>
        <p:nvSpPr>
          <p:cNvPr id="26" name="Text 23"/>
          <p:cNvSpPr/>
          <p:nvPr/>
        </p:nvSpPr>
        <p:spPr>
          <a:xfrm>
            <a:off x="8869680" y="2788920"/>
            <a:ext cx="2514600" cy="566928"/>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77  Not verified</a:t>
            </a:r>
            <a:endParaRPr lang="en-US" sz="1500" dirty="0"/>
          </a:p>
        </p:txBody>
      </p:sp>
      <p:sp>
        <p:nvSpPr>
          <p:cNvPr id="27" name="Text 24"/>
          <p:cNvSpPr/>
          <p:nvPr/>
        </p:nvSpPr>
        <p:spPr>
          <a:xfrm>
            <a:off x="640080" y="3429000"/>
            <a:ext cx="10972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152 controls assessed across 8 checklist sections</a:t>
            </a:r>
            <a:endParaRPr lang="en-US" sz="1000" dirty="0"/>
          </a:p>
        </p:txBody>
      </p:sp>
      <p:sp>
        <p:nvSpPr>
          <p:cNvPr id="28" name="Text 25"/>
          <p:cNvSpPr/>
          <p:nvPr/>
        </p:nvSpPr>
        <p:spPr>
          <a:xfrm>
            <a:off x="640080" y="3840480"/>
            <a:ext cx="10972800" cy="1920240"/>
          </a:xfrm>
          <a:prstGeom prst="rect">
            <a:avLst/>
          </a:prstGeom>
          <a:noFill/>
          <a:ln/>
        </p:spPr>
        <p:txBody>
          <a:bodyPr wrap="square" rtlCol="0" anchor="t"/>
          <a:lstStyle/>
          <a:p>
            <a:pPr indent="0" marL="0">
              <a:lnSpc>
                <a:spcPct val="115000"/>
              </a:lnSpc>
              <a:buNone/>
            </a:pPr>
            <a:r>
              <a:rPr lang="en-US" sz="1300" dirty="0">
                <a:solidFill>
                  <a:srgbClr val="1E293B"/>
                </a:solidFill>
                <a:latin typeface="Calibri" pitchFamily="34" charset="0"/>
                <a:ea typeface="Calibri" pitchFamily="34" charset="-122"/>
                <a:cs typeface="Calibri" pitchFamily="34" charset="-120"/>
              </a:rPr>
              <a:t>This workload gets the hard parts of Azure platform security right: every data service is private-endpoint only with public access disabled, the application authenticates with a managed identity rather than stored credentials, TLS 1.2 is enforced end to end, and Key Vault uses RBAC with soft delete. The single biggest risk is that the Front Door web application firewall is running in Detection mode with no managed rule sets attached, so the public entry point to the site logs attacks and blocks none of them — and behind it the WordPress administrator password sits in plain text in an App Service connection string as part of a shared bootstrap account. No service-level objective, recovery time objective, or recovery point objective was supplied, so this review cannot confirm the configuration meets any availability commitment; what it can say is that a single non-zone-redundant worker and a high-availability-disabled Burstable database would not meet a typical production target. Evidence coverage is 44%, so this score reflects a partial picture — the gaps are concentrated in governance, operations, and everything requiring business context.</a:t>
            </a:r>
            <a:endParaRPr lang="en-US" sz="1300" dirty="0"/>
          </a:p>
        </p:txBody>
      </p:sp>
      <p:sp>
        <p:nvSpPr>
          <p:cNvPr id="29" name="Text 26"/>
          <p:cNvSpPr/>
          <p:nvPr/>
        </p:nvSpPr>
        <p:spPr>
          <a:xfrm>
            <a:off x="640080" y="5852160"/>
            <a:ext cx="10972800" cy="320040"/>
          </a:xfrm>
          <a:prstGeom prst="rect">
            <a:avLst/>
          </a:prstGeom>
          <a:noFill/>
          <a:ln/>
        </p:spPr>
        <p:txBody>
          <a:bodyPr wrap="square"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Evidence coverage is below 50% — this score reflects a partial picture of the workload.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Pillar scorecard</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graphicFrame>
        <p:nvGraphicFramePr>
          <p:cNvPr id="7" name="Chart 0" descr=""/>
          <p:cNvGraphicFramePr/>
          <p:nvPr/>
        </p:nvGraphicFramePr>
        <p:xfrm>
          <a:off x="640080" y="1188720"/>
          <a:ext cx="10972800" cy="39319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640080" y="5303520"/>
            <a:ext cx="10972800" cy="914400"/>
          </a:xfrm>
          <a:prstGeom prst="rect">
            <a:avLst/>
          </a:prstGeom>
          <a:noFill/>
          <a:ln/>
        </p:spPr>
        <p:txBody>
          <a:bodyPr wrap="square" rtlCol="0" anchor="t"/>
          <a:lstStyle/>
          <a:p>
            <a:pPr indent="0" marL="0">
              <a:lnSpc>
                <a:spcPct val="110000"/>
              </a:lnSpc>
              <a:buNone/>
            </a:pPr>
            <a:r>
              <a:rPr lang="en-US" sz="1200" dirty="0">
                <a:solidFill>
                  <a:srgbClr val="1E293B"/>
                </a:solidFill>
                <a:latin typeface="Calibri" pitchFamily="34" charset="0"/>
                <a:ea typeface="Calibri" pitchFamily="34" charset="-122"/>
                <a:cs typeface="Calibri" pitchFamily="34" charset="-120"/>
              </a:rPr>
              <a:t>Strongest pillar: 4. Cost Optimization at 50% score on 43% coverage — the highest evidence coverage in the review. Weakest pillar: 2. Reliability at 0% score on 53% coverage — no reliability control passed. No pillar reaches the 70% amber threshold, and every pillar is Red.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Control disposition across all 152 controls</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graphicFrame>
        <p:nvGraphicFramePr>
          <p:cNvPr id="7" name="Chart 0" descr=""/>
          <p:cNvGraphicFramePr/>
          <p:nvPr/>
        </p:nvGraphicFramePr>
        <p:xfrm>
          <a:off x="640080" y="11887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412480" y="1188720"/>
            <a:ext cx="3200400" cy="4480560"/>
          </a:xfrm>
          <a:prstGeom prst="roundRect">
            <a:avLst>
              <a:gd name="adj" fmla="val 2286"/>
            </a:avLst>
          </a:prstGeom>
          <a:solidFill>
            <a:srgbClr val="F5F7FA"/>
          </a:solidFill>
          <a:ln w="12700">
            <a:solidFill>
              <a:srgbClr val="E2E8F0"/>
            </a:solidFill>
            <a:prstDash val="solid"/>
          </a:ln>
        </p:spPr>
      </p:sp>
      <p:sp>
        <p:nvSpPr>
          <p:cNvPr id="9" name="Text 5"/>
          <p:cNvSpPr/>
          <p:nvPr/>
        </p:nvSpPr>
        <p:spPr>
          <a:xfrm>
            <a:off x="8641080" y="1371600"/>
            <a:ext cx="2743200" cy="4114800"/>
          </a:xfrm>
          <a:prstGeom prst="rect">
            <a:avLst/>
          </a:prstGeom>
          <a:noFill/>
          <a:ln/>
        </p:spPr>
        <p:txBody>
          <a:bodyPr wrap="square" rtlCol="0" anchor="t"/>
          <a:lstStyle/>
          <a:p>
            <a:pPr indent="0" marL="0">
              <a:spcAft>
                <a:spcPts val="1000"/>
              </a:spcAft>
              <a:buNone/>
            </a:pPr>
            <a:r>
              <a:rPr lang="en-US" sz="1500" b="1" dirty="0">
                <a:solidFill>
                  <a:srgbClr val="1E2761"/>
                </a:solidFill>
                <a:latin typeface="Trebuchet MS" pitchFamily="34" charset="0"/>
                <a:ea typeface="Trebuchet MS" pitchFamily="34" charset="-122"/>
                <a:cs typeface="Trebuchet MS" pitchFamily="34" charset="-120"/>
              </a:rPr>
              <a:t>All 152 controls</a:t>
            </a:r>
            <a:endParaRPr lang="en-US" sz="1500" dirty="0"/>
          </a:p>
          <a:p>
            <a:pPr indent="0" marL="0">
              <a:buNone/>
            </a:pPr>
            <a:r>
              <a:rPr lang="en-US" sz="1800" b="1" dirty="0">
                <a:solidFill>
                  <a:srgbClr val="2E7D32"/>
                </a:solidFill>
                <a:latin typeface="Trebuchet MS" pitchFamily="34" charset="0"/>
                <a:ea typeface="Trebuchet MS" pitchFamily="34" charset="-122"/>
                <a:cs typeface="Trebuchet MS" pitchFamily="34" charset="-120"/>
              </a:rPr>
              <a:t> 24   </a:t>
            </a:r>
            <a:pPr indent="0" marL="0">
              <a:spcAft>
                <a:spcPts val="600"/>
              </a:spcAft>
              <a:buNone/>
            </a:pPr>
            <a:r>
              <a:rPr lang="en-US" sz="1200" dirty="0">
                <a:solidFill>
                  <a:srgbClr val="1E293B"/>
                </a:solidFill>
                <a:latin typeface="Calibri" pitchFamily="34" charset="0"/>
                <a:ea typeface="Calibri" pitchFamily="34" charset="-122"/>
                <a:cs typeface="Calibri" pitchFamily="34" charset="-120"/>
              </a:rPr>
              <a:t>Pass</a:t>
            </a:r>
            <a:endParaRPr lang="en-US" sz="1500" dirty="0"/>
          </a:p>
          <a:p>
            <a:pPr indent="0" marL="0">
              <a:buNone/>
            </a:pPr>
            <a:r>
              <a:rPr lang="en-US" sz="1800" b="1" dirty="0">
                <a:solidFill>
                  <a:srgbClr val="C62828"/>
                </a:solidFill>
                <a:latin typeface="Trebuchet MS" pitchFamily="34" charset="0"/>
                <a:ea typeface="Trebuchet MS" pitchFamily="34" charset="-122"/>
                <a:cs typeface="Trebuchet MS" pitchFamily="34" charset="-120"/>
              </a:rPr>
              <a:t> 43   </a:t>
            </a:r>
            <a:pPr indent="0" marL="0">
              <a:spcAft>
                <a:spcPts val="600"/>
              </a:spcAft>
              <a:buNone/>
            </a:pPr>
            <a:r>
              <a:rPr lang="en-US" sz="1200" dirty="0">
                <a:solidFill>
                  <a:srgbClr val="1E293B"/>
                </a:solidFill>
                <a:latin typeface="Calibri" pitchFamily="34" charset="0"/>
                <a:ea typeface="Calibri" pitchFamily="34" charset="-122"/>
                <a:cs typeface="Calibri" pitchFamily="34" charset="-120"/>
              </a:rPr>
              <a:t>Fail</a:t>
            </a:r>
            <a:endParaRPr lang="en-US" sz="1500" dirty="0"/>
          </a:p>
          <a:p>
            <a:pPr indent="0" marL="0">
              <a:buNone/>
            </a:pPr>
            <a:r>
              <a:rPr lang="en-US" sz="1800" b="1" dirty="0">
                <a:solidFill>
                  <a:srgbClr val="BDBDBD"/>
                </a:solidFill>
                <a:latin typeface="Trebuchet MS" pitchFamily="34" charset="0"/>
                <a:ea typeface="Trebuchet MS" pitchFamily="34" charset="-122"/>
                <a:cs typeface="Trebuchet MS" pitchFamily="34" charset="-120"/>
              </a:rPr>
              <a:t>  8   </a:t>
            </a:r>
            <a:pPr indent="0" marL="0">
              <a:spcAft>
                <a:spcPts val="600"/>
              </a:spcAft>
              <a:buNone/>
            </a:pPr>
            <a:r>
              <a:rPr lang="en-US" sz="1200" dirty="0">
                <a:solidFill>
                  <a:srgbClr val="1E293B"/>
                </a:solidFill>
                <a:latin typeface="Calibri" pitchFamily="34" charset="0"/>
                <a:ea typeface="Calibri" pitchFamily="34" charset="-122"/>
                <a:cs typeface="Calibri" pitchFamily="34" charset="-120"/>
              </a:rPr>
              <a:t>N/A</a:t>
            </a:r>
            <a:endParaRPr lang="en-US" sz="1500" dirty="0"/>
          </a:p>
          <a:p>
            <a:pPr indent="0" marL="0">
              <a:buNone/>
            </a:pPr>
            <a:r>
              <a:rPr lang="en-US" sz="1800" b="1" dirty="0">
                <a:solidFill>
                  <a:srgbClr val="607D8B"/>
                </a:solidFill>
                <a:latin typeface="Trebuchet MS" pitchFamily="34" charset="0"/>
                <a:ea typeface="Trebuchet MS" pitchFamily="34" charset="-122"/>
                <a:cs typeface="Trebuchet MS" pitchFamily="34" charset="-120"/>
              </a:rPr>
              <a:t> 77   </a:t>
            </a:r>
            <a:pPr indent="0" marL="0">
              <a:spcAft>
                <a:spcPts val="600"/>
              </a:spcAft>
              <a:buNone/>
            </a:pPr>
            <a:r>
              <a:rPr lang="en-US" sz="1200" dirty="0">
                <a:solidFill>
                  <a:srgbClr val="1E293B"/>
                </a:solidFill>
                <a:latin typeface="Calibri" pitchFamily="34" charset="0"/>
                <a:ea typeface="Calibri" pitchFamily="34" charset="-122"/>
                <a:cs typeface="Calibri" pitchFamily="34" charset="-120"/>
              </a:rPr>
              <a:t>Not verified</a:t>
            </a:r>
            <a:endParaRPr lang="en-US" sz="1500" dirty="0"/>
          </a:p>
          <a:p>
            <a:pPr indent="0" marL="0">
              <a:buNone/>
            </a:pPr>
            <a:r>
              <a:rPr lang="en-US" sz="1500" dirty="0">
                <a:solidFill>
                  <a:srgbClr val="000000"/>
                </a:solidFill>
              </a:rPr>
              <a:t> </a:t>
            </a:r>
            <a:endParaRPr lang="en-US" sz="1500" dirty="0"/>
          </a:p>
          <a:p>
            <a:pPr indent="0" marL="0">
              <a:lnSpc>
                <a:spcPct val="110000"/>
              </a:lnSpc>
              <a:spcBef>
                <a:spcPts val="800"/>
              </a:spcBef>
              <a:buNone/>
            </a:pPr>
            <a:r>
              <a:rPr lang="en-US" sz="1100" dirty="0">
                <a:solidFill>
                  <a:srgbClr val="1E293B"/>
                </a:solidFill>
                <a:latin typeface="Calibri" pitchFamily="34" charset="0"/>
                <a:ea typeface="Calibri" pitchFamily="34" charset="-122"/>
                <a:cs typeface="Calibri" pitchFamily="34" charset="-120"/>
              </a:rPr>
              <a:t>77 controls could not be decided from the collected evidence. That is 51% of the checklist. The gaps cluster in governance, operations, and cost, where the answer lives in subscription RBAC, Cost Management, or a business conversation rather than in resource configuration.</a:t>
            </a:r>
            <a:endParaRPr lang="en-US" sz="1500" dirty="0"/>
          </a:p>
          <a:p>
            <a:pPr indent="0" marL="0">
              <a:spcBef>
                <a:spcPts val="800"/>
              </a:spcBef>
              <a:buNone/>
            </a:pPr>
            <a:r>
              <a:rPr lang="en-US" sz="1100" b="1" dirty="0">
                <a:solidFill>
                  <a:srgbClr val="1E2761"/>
                </a:solidFill>
                <a:latin typeface="Calibri" pitchFamily="34" charset="0"/>
                <a:ea typeface="Calibri" pitchFamily="34" charset="-122"/>
                <a:cs typeface="Calibri" pitchFamily="34" charset="-120"/>
              </a:rPr>
              <a:t>Those controls are undecided, not failed — they lower confidence in the score rather than the score itself.</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1. Workload foundations and governance</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8595360" y="329184"/>
            <a:ext cx="3017520" cy="603504"/>
          </a:xfrm>
          <a:prstGeom prst="roundRect">
            <a:avLst>
              <a:gd name="adj" fmla="val 12121"/>
            </a:avLst>
          </a:prstGeom>
          <a:solidFill>
            <a:srgbClr val="C62828"/>
          </a:solidFill>
          <a:ln/>
        </p:spPr>
      </p:sp>
      <p:sp>
        <p:nvSpPr>
          <p:cNvPr id="8" name="Text 5"/>
          <p:cNvSpPr/>
          <p:nvPr/>
        </p:nvSpPr>
        <p:spPr>
          <a:xfrm>
            <a:off x="8595360" y="329184"/>
            <a:ext cx="3017520" cy="329184"/>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25% score · 31% coverage</a:t>
            </a:r>
            <a:endParaRPr lang="en-US" sz="1300" dirty="0"/>
          </a:p>
        </p:txBody>
      </p:sp>
      <p:sp>
        <p:nvSpPr>
          <p:cNvPr id="9" name="Text 6"/>
          <p:cNvSpPr/>
          <p:nvPr/>
        </p:nvSpPr>
        <p:spPr>
          <a:xfrm>
            <a:off x="8595360" y="621792"/>
            <a:ext cx="301752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a:t>
            </a:r>
            <a:endParaRPr lang="en-US" sz="1000" dirty="0"/>
          </a:p>
        </p:txBody>
      </p:sp>
      <p:sp>
        <p:nvSpPr>
          <p:cNvPr id="10" name="Text 7"/>
          <p:cNvSpPr/>
          <p:nvPr/>
        </p:nvSpPr>
        <p:spPr>
          <a:xfrm>
            <a:off x="640080" y="1234440"/>
            <a:ext cx="5280660" cy="320040"/>
          </a:xfrm>
          <a:prstGeom prst="rect">
            <a:avLst/>
          </a:prstGeom>
          <a:noFill/>
          <a:ln/>
        </p:spPr>
        <p:txBody>
          <a:bodyPr wrap="square" rtlCol="0" anchor="ctr"/>
          <a:lstStyle/>
          <a:p>
            <a:pPr indent="0" marL="0">
              <a:buNone/>
            </a:pPr>
            <a:r>
              <a:rPr lang="en-US" sz="1800" b="1" dirty="0">
                <a:solidFill>
                  <a:srgbClr val="2E7D32"/>
                </a:solidFill>
                <a:latin typeface="Trebuchet MS" pitchFamily="34" charset="0"/>
                <a:ea typeface="Trebuchet MS" pitchFamily="34" charset="-122"/>
                <a:cs typeface="Trebuchet MS" pitchFamily="34" charset="-120"/>
              </a:rPr>
              <a:t>Evidence shows</a:t>
            </a:r>
            <a:endParaRPr lang="en-US" sz="1800" dirty="0"/>
          </a:p>
        </p:txBody>
      </p:sp>
      <p:sp>
        <p:nvSpPr>
          <p:cNvPr id="11" name="Shape 8"/>
          <p:cNvSpPr/>
          <p:nvPr/>
        </p:nvSpPr>
        <p:spPr>
          <a:xfrm>
            <a:off x="640080" y="1691640"/>
            <a:ext cx="5280660" cy="1298448"/>
          </a:xfrm>
          <a:prstGeom prst="roundRect">
            <a:avLst>
              <a:gd name="adj" fmla="val 4225"/>
            </a:avLst>
          </a:prstGeom>
          <a:solidFill>
            <a:srgbClr val="F5F7FA"/>
          </a:solidFill>
          <a:ln w="12700">
            <a:solidFill>
              <a:srgbClr val="E2E8F0"/>
            </a:solidFill>
            <a:prstDash val="solid"/>
          </a:ln>
        </p:spPr>
      </p:sp>
      <p:sp>
        <p:nvSpPr>
          <p:cNvPr id="12" name="Shape 9"/>
          <p:cNvSpPr/>
          <p:nvPr/>
        </p:nvSpPr>
        <p:spPr>
          <a:xfrm>
            <a:off x="640080" y="1691640"/>
            <a:ext cx="54864" cy="1298448"/>
          </a:xfrm>
          <a:prstGeom prst="rect">
            <a:avLst/>
          </a:prstGeom>
          <a:solidFill>
            <a:srgbClr val="2E7D32"/>
          </a:solidFill>
          <a:ln/>
        </p:spPr>
      </p:sp>
      <p:sp>
        <p:nvSpPr>
          <p:cNvPr id="13" name="Text 10"/>
          <p:cNvSpPr/>
          <p:nvPr/>
        </p:nvSpPr>
        <p:spPr>
          <a:xfrm>
            <a:off x="841248" y="1783080"/>
            <a:ext cx="4878324" cy="1115568"/>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FND-06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All 37 in-scope resources sit in a dedicated resource group and carry Environment = dev, giving clear separation from production.</a:t>
            </a:r>
            <a:endParaRPr lang="en-US" sz="1100" dirty="0"/>
          </a:p>
        </p:txBody>
      </p:sp>
      <p:sp>
        <p:nvSpPr>
          <p:cNvPr id="14" name="Text 11"/>
          <p:cNvSpPr/>
          <p:nvPr/>
        </p:nvSpPr>
        <p:spPr>
          <a:xfrm>
            <a:off x="6332220" y="1234440"/>
            <a:ext cx="5280660" cy="320040"/>
          </a:xfrm>
          <a:prstGeom prst="rect">
            <a:avLst/>
          </a:prstGeom>
          <a:noFill/>
          <a:ln/>
        </p:spPr>
        <p:txBody>
          <a:bodyPr wrap="square" rtlCol="0" anchor="ctr"/>
          <a:lstStyle/>
          <a:p>
            <a:pPr indent="0" marL="0">
              <a:buNone/>
            </a:pPr>
            <a:r>
              <a:rPr lang="en-US" sz="1800" b="1" dirty="0">
                <a:solidFill>
                  <a:srgbClr val="C62828"/>
                </a:solidFill>
                <a:latin typeface="Trebuchet MS" pitchFamily="34" charset="0"/>
                <a:ea typeface="Trebuchet MS" pitchFamily="34" charset="-122"/>
                <a:cs typeface="Trebuchet MS" pitchFamily="34" charset="-120"/>
              </a:rPr>
              <a:t>Gaps</a:t>
            </a:r>
            <a:endParaRPr lang="en-US" sz="1800" dirty="0"/>
          </a:p>
        </p:txBody>
      </p:sp>
      <p:sp>
        <p:nvSpPr>
          <p:cNvPr id="15" name="Shape 12"/>
          <p:cNvSpPr/>
          <p:nvPr/>
        </p:nvSpPr>
        <p:spPr>
          <a:xfrm>
            <a:off x="6332220" y="1691640"/>
            <a:ext cx="5280660" cy="1289304"/>
          </a:xfrm>
          <a:prstGeom prst="roundRect">
            <a:avLst>
              <a:gd name="adj" fmla="val 4255"/>
            </a:avLst>
          </a:prstGeom>
          <a:solidFill>
            <a:srgbClr val="F5F7FA"/>
          </a:solidFill>
          <a:ln w="12700">
            <a:solidFill>
              <a:srgbClr val="E2E8F0"/>
            </a:solidFill>
            <a:prstDash val="solid"/>
          </a:ln>
        </p:spPr>
      </p:sp>
      <p:sp>
        <p:nvSpPr>
          <p:cNvPr id="16" name="Shape 13"/>
          <p:cNvSpPr/>
          <p:nvPr/>
        </p:nvSpPr>
        <p:spPr>
          <a:xfrm>
            <a:off x="6332220" y="1691640"/>
            <a:ext cx="54864" cy="1289304"/>
          </a:xfrm>
          <a:prstGeom prst="rect">
            <a:avLst/>
          </a:prstGeom>
          <a:solidFill>
            <a:srgbClr val="C62828"/>
          </a:solidFill>
          <a:ln/>
        </p:spPr>
      </p:sp>
      <p:sp>
        <p:nvSpPr>
          <p:cNvPr id="17" name="Text 14"/>
          <p:cNvSpPr/>
          <p:nvPr/>
        </p:nvSpPr>
        <p:spPr>
          <a:xfrm>
            <a:off x="6533388" y="1783080"/>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FND-10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Three Azure Advisor security recommendations are open against this resource group (one High, one Medium, one Low) with the most recent dated 2026-08-30, and no triage, owner, or accepted-exception record accompanies them.</a:t>
            </a:r>
            <a:endParaRPr lang="en-US" sz="1100" dirty="0"/>
          </a:p>
        </p:txBody>
      </p:sp>
      <p:sp>
        <p:nvSpPr>
          <p:cNvPr id="18" name="Shape 15"/>
          <p:cNvSpPr/>
          <p:nvPr/>
        </p:nvSpPr>
        <p:spPr>
          <a:xfrm>
            <a:off x="6332220" y="3127248"/>
            <a:ext cx="5280660" cy="1289304"/>
          </a:xfrm>
          <a:prstGeom prst="roundRect">
            <a:avLst>
              <a:gd name="adj" fmla="val 4255"/>
            </a:avLst>
          </a:prstGeom>
          <a:solidFill>
            <a:srgbClr val="F5F7FA"/>
          </a:solidFill>
          <a:ln w="12700">
            <a:solidFill>
              <a:srgbClr val="E2E8F0"/>
            </a:solidFill>
            <a:prstDash val="solid"/>
          </a:ln>
        </p:spPr>
      </p:sp>
      <p:sp>
        <p:nvSpPr>
          <p:cNvPr id="19" name="Shape 16"/>
          <p:cNvSpPr/>
          <p:nvPr/>
        </p:nvSpPr>
        <p:spPr>
          <a:xfrm>
            <a:off x="6332220" y="3127248"/>
            <a:ext cx="54864" cy="1289304"/>
          </a:xfrm>
          <a:prstGeom prst="rect">
            <a:avLst/>
          </a:prstGeom>
          <a:solidFill>
            <a:srgbClr val="C62828"/>
          </a:solidFill>
          <a:ln/>
        </p:spPr>
      </p:sp>
      <p:sp>
        <p:nvSpPr>
          <p:cNvPr id="20" name="Text 17"/>
          <p:cNvSpPr/>
          <p:nvPr/>
        </p:nvSpPr>
        <p:spPr>
          <a:xfrm>
            <a:off x="6533388" y="3218688"/>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FND-11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No management locks exist on the resource group or on any stateful resource; the locks section is null for the MySQL server, storage account, Key Vault, and Redis cache as well.</a:t>
            </a:r>
            <a:endParaRPr lang="en-US" sz="1100" dirty="0"/>
          </a:p>
        </p:txBody>
      </p:sp>
      <p:sp>
        <p:nvSpPr>
          <p:cNvPr id="21" name="Shape 18"/>
          <p:cNvSpPr/>
          <p:nvPr/>
        </p:nvSpPr>
        <p:spPr>
          <a:xfrm>
            <a:off x="6332220" y="4562856"/>
            <a:ext cx="5280660" cy="1289304"/>
          </a:xfrm>
          <a:prstGeom prst="roundRect">
            <a:avLst>
              <a:gd name="adj" fmla="val 4255"/>
            </a:avLst>
          </a:prstGeom>
          <a:solidFill>
            <a:srgbClr val="F5F7FA"/>
          </a:solidFill>
          <a:ln w="12700">
            <a:solidFill>
              <a:srgbClr val="E2E8F0"/>
            </a:solidFill>
            <a:prstDash val="solid"/>
          </a:ln>
        </p:spPr>
      </p:sp>
      <p:sp>
        <p:nvSpPr>
          <p:cNvPr id="22" name="Shape 19"/>
          <p:cNvSpPr/>
          <p:nvPr/>
        </p:nvSpPr>
        <p:spPr>
          <a:xfrm>
            <a:off x="6332220" y="4562856"/>
            <a:ext cx="54864" cy="1289304"/>
          </a:xfrm>
          <a:prstGeom prst="rect">
            <a:avLst/>
          </a:prstGeom>
          <a:solidFill>
            <a:srgbClr val="C62828"/>
          </a:solidFill>
          <a:ln/>
        </p:spPr>
      </p:sp>
      <p:sp>
        <p:nvSpPr>
          <p:cNvPr id="23" name="Text 20"/>
          <p:cNvSpPr/>
          <p:nvPr/>
        </p:nvSpPr>
        <p:spPr>
          <a:xfrm>
            <a:off x="6533388" y="4654296"/>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FND-12 — severity 2</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resource group itself carries no tags, and five child resources are untagged (the four private DNS virtual-network links and the Event Grid system topic). Tagged resources carry only AppProfile, Environment, and…</a:t>
            </a:r>
            <a:endParaRPr lang="en-US" sz="1100" dirty="0"/>
          </a:p>
        </p:txBody>
      </p:sp>
      <p:sp>
        <p:nvSpPr>
          <p:cNvPr id="24" name="Text 21"/>
          <p:cNvSpPr/>
          <p:nvPr/>
        </p:nvSpPr>
        <p:spPr>
          <a:xfrm>
            <a:off x="640080" y="5989320"/>
            <a:ext cx="109728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9 of 13 controls not decided by collected evidence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2. Reliability</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8595360" y="329184"/>
            <a:ext cx="3017520" cy="603504"/>
          </a:xfrm>
          <a:prstGeom prst="roundRect">
            <a:avLst>
              <a:gd name="adj" fmla="val 12121"/>
            </a:avLst>
          </a:prstGeom>
          <a:solidFill>
            <a:srgbClr val="C62828"/>
          </a:solidFill>
          <a:ln/>
        </p:spPr>
      </p:sp>
      <p:sp>
        <p:nvSpPr>
          <p:cNvPr id="8" name="Text 5"/>
          <p:cNvSpPr/>
          <p:nvPr/>
        </p:nvSpPr>
        <p:spPr>
          <a:xfrm>
            <a:off x="8595360" y="329184"/>
            <a:ext cx="3017520" cy="329184"/>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0% score · 53% coverage</a:t>
            </a:r>
            <a:endParaRPr lang="en-US" sz="1300" dirty="0"/>
          </a:p>
        </p:txBody>
      </p:sp>
      <p:sp>
        <p:nvSpPr>
          <p:cNvPr id="9" name="Text 6"/>
          <p:cNvSpPr/>
          <p:nvPr/>
        </p:nvSpPr>
        <p:spPr>
          <a:xfrm>
            <a:off x="8595360" y="621792"/>
            <a:ext cx="301752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a:t>
            </a:r>
            <a:endParaRPr lang="en-US" sz="1000" dirty="0"/>
          </a:p>
        </p:txBody>
      </p:sp>
      <p:sp>
        <p:nvSpPr>
          <p:cNvPr id="10" name="Text 7"/>
          <p:cNvSpPr/>
          <p:nvPr/>
        </p:nvSpPr>
        <p:spPr>
          <a:xfrm>
            <a:off x="640080" y="1234440"/>
            <a:ext cx="5280660" cy="320040"/>
          </a:xfrm>
          <a:prstGeom prst="rect">
            <a:avLst/>
          </a:prstGeom>
          <a:noFill/>
          <a:ln/>
        </p:spPr>
        <p:txBody>
          <a:bodyPr wrap="square" rtlCol="0" anchor="ctr"/>
          <a:lstStyle/>
          <a:p>
            <a:pPr indent="0" marL="0">
              <a:buNone/>
            </a:pPr>
            <a:r>
              <a:rPr lang="en-US" sz="1800" b="1" dirty="0">
                <a:solidFill>
                  <a:srgbClr val="2E7D32"/>
                </a:solidFill>
                <a:latin typeface="Trebuchet MS" pitchFamily="34" charset="0"/>
                <a:ea typeface="Trebuchet MS" pitchFamily="34" charset="-122"/>
                <a:cs typeface="Trebuchet MS" pitchFamily="34" charset="-120"/>
              </a:rPr>
              <a:t>Evidence shows</a:t>
            </a:r>
            <a:endParaRPr lang="en-US" sz="1800" dirty="0"/>
          </a:p>
        </p:txBody>
      </p:sp>
      <p:sp>
        <p:nvSpPr>
          <p:cNvPr id="11" name="Text 8"/>
          <p:cNvSpPr/>
          <p:nvPr/>
        </p:nvSpPr>
        <p:spPr>
          <a:xfrm>
            <a:off x="640080" y="1691640"/>
            <a:ext cx="5280660" cy="54864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control in this pillar passed on the collected evidence.</a:t>
            </a:r>
            <a:endParaRPr lang="en-US" sz="1200" dirty="0"/>
          </a:p>
        </p:txBody>
      </p:sp>
      <p:sp>
        <p:nvSpPr>
          <p:cNvPr id="12" name="Text 9"/>
          <p:cNvSpPr/>
          <p:nvPr/>
        </p:nvSpPr>
        <p:spPr>
          <a:xfrm>
            <a:off x="6332220" y="1234440"/>
            <a:ext cx="5280660" cy="320040"/>
          </a:xfrm>
          <a:prstGeom prst="rect">
            <a:avLst/>
          </a:prstGeom>
          <a:noFill/>
          <a:ln/>
        </p:spPr>
        <p:txBody>
          <a:bodyPr wrap="square" rtlCol="0" anchor="ctr"/>
          <a:lstStyle/>
          <a:p>
            <a:pPr indent="0" marL="0">
              <a:buNone/>
            </a:pPr>
            <a:r>
              <a:rPr lang="en-US" sz="1800" b="1" dirty="0">
                <a:solidFill>
                  <a:srgbClr val="C62828"/>
                </a:solidFill>
                <a:latin typeface="Trebuchet MS" pitchFamily="34" charset="0"/>
                <a:ea typeface="Trebuchet MS" pitchFamily="34" charset="-122"/>
                <a:cs typeface="Trebuchet MS" pitchFamily="34" charset="-120"/>
              </a:rPr>
              <a:t>Gaps</a:t>
            </a:r>
            <a:endParaRPr lang="en-US" sz="1800" dirty="0"/>
          </a:p>
        </p:txBody>
      </p:sp>
      <p:sp>
        <p:nvSpPr>
          <p:cNvPr id="13" name="Shape 10"/>
          <p:cNvSpPr/>
          <p:nvPr/>
        </p:nvSpPr>
        <p:spPr>
          <a:xfrm>
            <a:off x="6332220" y="1691640"/>
            <a:ext cx="5280660" cy="1289304"/>
          </a:xfrm>
          <a:prstGeom prst="roundRect">
            <a:avLst>
              <a:gd name="adj" fmla="val 4255"/>
            </a:avLst>
          </a:prstGeom>
          <a:solidFill>
            <a:srgbClr val="F5F7FA"/>
          </a:solidFill>
          <a:ln w="12700">
            <a:solidFill>
              <a:srgbClr val="E2E8F0"/>
            </a:solidFill>
            <a:prstDash val="solid"/>
          </a:ln>
        </p:spPr>
      </p:sp>
      <p:sp>
        <p:nvSpPr>
          <p:cNvPr id="14" name="Shape 11"/>
          <p:cNvSpPr/>
          <p:nvPr/>
        </p:nvSpPr>
        <p:spPr>
          <a:xfrm>
            <a:off x="6332220" y="1691640"/>
            <a:ext cx="54864" cy="1289304"/>
          </a:xfrm>
          <a:prstGeom prst="rect">
            <a:avLst/>
          </a:prstGeom>
          <a:solidFill>
            <a:srgbClr val="C62828"/>
          </a:solidFill>
          <a:ln/>
        </p:spPr>
      </p:sp>
      <p:sp>
        <p:nvSpPr>
          <p:cNvPr id="15" name="Text 12"/>
          <p:cNvSpPr/>
          <p:nvPr/>
        </p:nvSpPr>
        <p:spPr>
          <a:xfrm>
            <a:off x="6533388" y="1783080"/>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REL-03 — severity 4</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plan runs a single worker with zone redundancy disabled, so any instance or zone fault takes the site offline. ARR affinity is correctly disabled, which is the one part of this control that is met.</a:t>
            </a:r>
            <a:endParaRPr lang="en-US" sz="1100" dirty="0"/>
          </a:p>
        </p:txBody>
      </p:sp>
      <p:sp>
        <p:nvSpPr>
          <p:cNvPr id="16" name="Shape 13"/>
          <p:cNvSpPr/>
          <p:nvPr/>
        </p:nvSpPr>
        <p:spPr>
          <a:xfrm>
            <a:off x="6332220" y="3127248"/>
            <a:ext cx="5280660" cy="1289304"/>
          </a:xfrm>
          <a:prstGeom prst="roundRect">
            <a:avLst>
              <a:gd name="adj" fmla="val 4255"/>
            </a:avLst>
          </a:prstGeom>
          <a:solidFill>
            <a:srgbClr val="F5F7FA"/>
          </a:solidFill>
          <a:ln w="12700">
            <a:solidFill>
              <a:srgbClr val="E2E8F0"/>
            </a:solidFill>
            <a:prstDash val="solid"/>
          </a:ln>
        </p:spPr>
      </p:sp>
      <p:sp>
        <p:nvSpPr>
          <p:cNvPr id="17" name="Shape 14"/>
          <p:cNvSpPr/>
          <p:nvPr/>
        </p:nvSpPr>
        <p:spPr>
          <a:xfrm>
            <a:off x="6332220" y="3127248"/>
            <a:ext cx="54864" cy="1289304"/>
          </a:xfrm>
          <a:prstGeom prst="rect">
            <a:avLst/>
          </a:prstGeom>
          <a:solidFill>
            <a:srgbClr val="C62828"/>
          </a:solidFill>
          <a:ln/>
        </p:spPr>
      </p:sp>
      <p:sp>
        <p:nvSpPr>
          <p:cNvPr id="18" name="Text 15"/>
          <p:cNvSpPr/>
          <p:nvPr/>
        </p:nvSpPr>
        <p:spPr>
          <a:xfrm>
            <a:off x="6533388" y="3218688"/>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REL-04 — severity 4</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Always On is off, so the container unloads when idle and the first request after idling pays a full cold start (the start-time limit is raised to 1800 seconds). No health-check path is configured, so the platform cannot remove an…</a:t>
            </a:r>
            <a:endParaRPr lang="en-US" sz="1100" dirty="0"/>
          </a:p>
        </p:txBody>
      </p:sp>
      <p:sp>
        <p:nvSpPr>
          <p:cNvPr id="19" name="Shape 16"/>
          <p:cNvSpPr/>
          <p:nvPr/>
        </p:nvSpPr>
        <p:spPr>
          <a:xfrm>
            <a:off x="6332220" y="4562856"/>
            <a:ext cx="5280660" cy="1289304"/>
          </a:xfrm>
          <a:prstGeom prst="roundRect">
            <a:avLst>
              <a:gd name="adj" fmla="val 4255"/>
            </a:avLst>
          </a:prstGeom>
          <a:solidFill>
            <a:srgbClr val="F5F7FA"/>
          </a:solidFill>
          <a:ln w="12700">
            <a:solidFill>
              <a:srgbClr val="E2E8F0"/>
            </a:solidFill>
            <a:prstDash val="solid"/>
          </a:ln>
        </p:spPr>
      </p:sp>
      <p:sp>
        <p:nvSpPr>
          <p:cNvPr id="20" name="Shape 17"/>
          <p:cNvSpPr/>
          <p:nvPr/>
        </p:nvSpPr>
        <p:spPr>
          <a:xfrm>
            <a:off x="6332220" y="4562856"/>
            <a:ext cx="54864" cy="1289304"/>
          </a:xfrm>
          <a:prstGeom prst="rect">
            <a:avLst/>
          </a:prstGeom>
          <a:solidFill>
            <a:srgbClr val="C62828"/>
          </a:solidFill>
          <a:ln/>
        </p:spPr>
      </p:sp>
      <p:sp>
        <p:nvSpPr>
          <p:cNvPr id="21" name="Text 18"/>
          <p:cNvSpPr/>
          <p:nvPr/>
        </p:nvSpPr>
        <p:spPr>
          <a:xfrm>
            <a:off x="6533388" y="4654296"/>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REL-06 — severity 4</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No autoscale profile exists and the plan's maximum worker count is one, so the workload cannot scale out under load or scale in to save cost.</a:t>
            </a:r>
            <a:endParaRPr lang="en-US" sz="1100" dirty="0"/>
          </a:p>
        </p:txBody>
      </p:sp>
      <p:sp>
        <p:nvSpPr>
          <p:cNvPr id="22" name="Text 19"/>
          <p:cNvSpPr/>
          <p:nvPr/>
        </p:nvSpPr>
        <p:spPr>
          <a:xfrm>
            <a:off x="640080" y="5989320"/>
            <a:ext cx="109728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8 of 17 controls not decided by collected evidence · 6 further failed controls appear in the findings register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3. Security</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8595360" y="329184"/>
            <a:ext cx="3017520" cy="603504"/>
          </a:xfrm>
          <a:prstGeom prst="roundRect">
            <a:avLst>
              <a:gd name="adj" fmla="val 12121"/>
            </a:avLst>
          </a:prstGeom>
          <a:solidFill>
            <a:srgbClr val="C62828"/>
          </a:solidFill>
          <a:ln/>
        </p:spPr>
      </p:sp>
      <p:sp>
        <p:nvSpPr>
          <p:cNvPr id="8" name="Text 5"/>
          <p:cNvSpPr/>
          <p:nvPr/>
        </p:nvSpPr>
        <p:spPr>
          <a:xfrm>
            <a:off x="8595360" y="329184"/>
            <a:ext cx="3017520" cy="329184"/>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39% score · 75% coverage</a:t>
            </a:r>
            <a:endParaRPr lang="en-US" sz="1300" dirty="0"/>
          </a:p>
        </p:txBody>
      </p:sp>
      <p:sp>
        <p:nvSpPr>
          <p:cNvPr id="9" name="Text 6"/>
          <p:cNvSpPr/>
          <p:nvPr/>
        </p:nvSpPr>
        <p:spPr>
          <a:xfrm>
            <a:off x="8595360" y="621792"/>
            <a:ext cx="301752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a:t>
            </a:r>
            <a:endParaRPr lang="en-US" sz="1000" dirty="0"/>
          </a:p>
        </p:txBody>
      </p:sp>
      <p:sp>
        <p:nvSpPr>
          <p:cNvPr id="10" name="Text 7"/>
          <p:cNvSpPr/>
          <p:nvPr/>
        </p:nvSpPr>
        <p:spPr>
          <a:xfrm>
            <a:off x="640080" y="1234440"/>
            <a:ext cx="5280660" cy="320040"/>
          </a:xfrm>
          <a:prstGeom prst="rect">
            <a:avLst/>
          </a:prstGeom>
          <a:noFill/>
          <a:ln/>
        </p:spPr>
        <p:txBody>
          <a:bodyPr wrap="square" rtlCol="0" anchor="ctr"/>
          <a:lstStyle/>
          <a:p>
            <a:pPr indent="0" marL="0">
              <a:buNone/>
            </a:pPr>
            <a:r>
              <a:rPr lang="en-US" sz="1800" b="1" dirty="0">
                <a:solidFill>
                  <a:srgbClr val="2E7D32"/>
                </a:solidFill>
                <a:latin typeface="Trebuchet MS" pitchFamily="34" charset="0"/>
                <a:ea typeface="Trebuchet MS" pitchFamily="34" charset="-122"/>
                <a:cs typeface="Trebuchet MS" pitchFamily="34" charset="-120"/>
              </a:rPr>
              <a:t>Evidence shows</a:t>
            </a:r>
            <a:endParaRPr lang="en-US" sz="1800" dirty="0"/>
          </a:p>
        </p:txBody>
      </p:sp>
      <p:sp>
        <p:nvSpPr>
          <p:cNvPr id="11" name="Shape 8"/>
          <p:cNvSpPr/>
          <p:nvPr/>
        </p:nvSpPr>
        <p:spPr>
          <a:xfrm>
            <a:off x="640080" y="1691640"/>
            <a:ext cx="5280660" cy="1289304"/>
          </a:xfrm>
          <a:prstGeom prst="roundRect">
            <a:avLst>
              <a:gd name="adj" fmla="val 4255"/>
            </a:avLst>
          </a:prstGeom>
          <a:solidFill>
            <a:srgbClr val="F5F7FA"/>
          </a:solidFill>
          <a:ln w="12700">
            <a:solidFill>
              <a:srgbClr val="E2E8F0"/>
            </a:solidFill>
            <a:prstDash val="solid"/>
          </a:ln>
        </p:spPr>
      </p:sp>
      <p:sp>
        <p:nvSpPr>
          <p:cNvPr id="12" name="Shape 9"/>
          <p:cNvSpPr/>
          <p:nvPr/>
        </p:nvSpPr>
        <p:spPr>
          <a:xfrm>
            <a:off x="640080" y="1691640"/>
            <a:ext cx="54864" cy="1289304"/>
          </a:xfrm>
          <a:prstGeom prst="rect">
            <a:avLst/>
          </a:prstGeom>
          <a:solidFill>
            <a:srgbClr val="2E7D32"/>
          </a:solidFill>
          <a:ln/>
        </p:spPr>
      </p:sp>
      <p:sp>
        <p:nvSpPr>
          <p:cNvPr id="13" name="Text 10"/>
          <p:cNvSpPr/>
          <p:nvPr/>
        </p:nvSpPr>
        <p:spPr>
          <a:xfrm>
            <a:off x="841248" y="1783080"/>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SEC-03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app uses a user-assigned managed identity for MySQL, Blob, and email, and resolves the Redis credential through a Key Vault reference rather than storing it. Data-plane grants are narrow: Key Vault Secrets User, Key Vault Crypto…</a:t>
            </a:r>
            <a:endParaRPr lang="en-US" sz="1100" dirty="0"/>
          </a:p>
        </p:txBody>
      </p:sp>
      <p:sp>
        <p:nvSpPr>
          <p:cNvPr id="14" name="Shape 11"/>
          <p:cNvSpPr/>
          <p:nvPr/>
        </p:nvSpPr>
        <p:spPr>
          <a:xfrm>
            <a:off x="640080" y="3127248"/>
            <a:ext cx="5280660" cy="1289304"/>
          </a:xfrm>
          <a:prstGeom prst="roundRect">
            <a:avLst>
              <a:gd name="adj" fmla="val 4255"/>
            </a:avLst>
          </a:prstGeom>
          <a:solidFill>
            <a:srgbClr val="F5F7FA"/>
          </a:solidFill>
          <a:ln w="12700">
            <a:solidFill>
              <a:srgbClr val="E2E8F0"/>
            </a:solidFill>
            <a:prstDash val="solid"/>
          </a:ln>
        </p:spPr>
      </p:sp>
      <p:sp>
        <p:nvSpPr>
          <p:cNvPr id="15" name="Shape 12"/>
          <p:cNvSpPr/>
          <p:nvPr/>
        </p:nvSpPr>
        <p:spPr>
          <a:xfrm>
            <a:off x="640080" y="3127248"/>
            <a:ext cx="54864" cy="1289304"/>
          </a:xfrm>
          <a:prstGeom prst="rect">
            <a:avLst/>
          </a:prstGeom>
          <a:solidFill>
            <a:srgbClr val="2E7D32"/>
          </a:solidFill>
          <a:ln/>
        </p:spPr>
      </p:sp>
      <p:sp>
        <p:nvSpPr>
          <p:cNvPr id="16" name="Text 13"/>
          <p:cNvSpPr/>
          <p:nvPr/>
        </p:nvSpPr>
        <p:spPr>
          <a:xfrm>
            <a:off x="841248" y="3218688"/>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SEC-04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MySQL access uses Microsoft Entra authentication through the workload's managed identity, and no MySQL password appears in application settings or connection strings.</a:t>
            </a:r>
            <a:endParaRPr lang="en-US" sz="1100" dirty="0"/>
          </a:p>
        </p:txBody>
      </p:sp>
      <p:sp>
        <p:nvSpPr>
          <p:cNvPr id="17" name="Shape 14"/>
          <p:cNvSpPr/>
          <p:nvPr/>
        </p:nvSpPr>
        <p:spPr>
          <a:xfrm>
            <a:off x="640080" y="4562856"/>
            <a:ext cx="5280660" cy="1289304"/>
          </a:xfrm>
          <a:prstGeom prst="roundRect">
            <a:avLst>
              <a:gd name="adj" fmla="val 4255"/>
            </a:avLst>
          </a:prstGeom>
          <a:solidFill>
            <a:srgbClr val="F5F7FA"/>
          </a:solidFill>
          <a:ln w="12700">
            <a:solidFill>
              <a:srgbClr val="E2E8F0"/>
            </a:solidFill>
            <a:prstDash val="solid"/>
          </a:ln>
        </p:spPr>
      </p:sp>
      <p:sp>
        <p:nvSpPr>
          <p:cNvPr id="18" name="Shape 15"/>
          <p:cNvSpPr/>
          <p:nvPr/>
        </p:nvSpPr>
        <p:spPr>
          <a:xfrm>
            <a:off x="640080" y="4562856"/>
            <a:ext cx="54864" cy="1289304"/>
          </a:xfrm>
          <a:prstGeom prst="rect">
            <a:avLst/>
          </a:prstGeom>
          <a:solidFill>
            <a:srgbClr val="2E7D32"/>
          </a:solidFill>
          <a:ln/>
        </p:spPr>
      </p:sp>
      <p:sp>
        <p:nvSpPr>
          <p:cNvPr id="19" name="Text 16"/>
          <p:cNvSpPr/>
          <p:nvPr/>
        </p:nvSpPr>
        <p:spPr>
          <a:xfrm>
            <a:off x="841248" y="4654296"/>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SEC-06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HTTPS is enforced on the site, both the site and SCM endpoints require TLS 1.2 or later, and FTP is restricted to FTPS. The runtime is delivered as linuxFxVersion = "sitecontainers", so PHP and WordPress versions are governed by the…</a:t>
            </a:r>
            <a:endParaRPr lang="en-US" sz="1100" dirty="0"/>
          </a:p>
        </p:txBody>
      </p:sp>
      <p:sp>
        <p:nvSpPr>
          <p:cNvPr id="20" name="Text 17"/>
          <p:cNvSpPr/>
          <p:nvPr/>
        </p:nvSpPr>
        <p:spPr>
          <a:xfrm>
            <a:off x="6332220" y="1234440"/>
            <a:ext cx="5280660" cy="320040"/>
          </a:xfrm>
          <a:prstGeom prst="rect">
            <a:avLst/>
          </a:prstGeom>
          <a:noFill/>
          <a:ln/>
        </p:spPr>
        <p:txBody>
          <a:bodyPr wrap="square" rtlCol="0" anchor="ctr"/>
          <a:lstStyle/>
          <a:p>
            <a:pPr indent="0" marL="0">
              <a:buNone/>
            </a:pPr>
            <a:r>
              <a:rPr lang="en-US" sz="1800" b="1" dirty="0">
                <a:solidFill>
                  <a:srgbClr val="C62828"/>
                </a:solidFill>
                <a:latin typeface="Trebuchet MS" pitchFamily="34" charset="0"/>
                <a:ea typeface="Trebuchet MS" pitchFamily="34" charset="-122"/>
                <a:cs typeface="Trebuchet MS" pitchFamily="34" charset="-120"/>
              </a:rPr>
              <a:t>Gaps</a:t>
            </a:r>
            <a:endParaRPr lang="en-US" sz="1800" dirty="0"/>
          </a:p>
        </p:txBody>
      </p:sp>
      <p:sp>
        <p:nvSpPr>
          <p:cNvPr id="21" name="Shape 18"/>
          <p:cNvSpPr/>
          <p:nvPr/>
        </p:nvSpPr>
        <p:spPr>
          <a:xfrm>
            <a:off x="6332220" y="1691640"/>
            <a:ext cx="5280660" cy="1289304"/>
          </a:xfrm>
          <a:prstGeom prst="roundRect">
            <a:avLst>
              <a:gd name="adj" fmla="val 4255"/>
            </a:avLst>
          </a:prstGeom>
          <a:solidFill>
            <a:srgbClr val="F5F7FA"/>
          </a:solidFill>
          <a:ln w="12700">
            <a:solidFill>
              <a:srgbClr val="E2E8F0"/>
            </a:solidFill>
            <a:prstDash val="solid"/>
          </a:ln>
        </p:spPr>
      </p:sp>
      <p:sp>
        <p:nvSpPr>
          <p:cNvPr id="22" name="Shape 19"/>
          <p:cNvSpPr/>
          <p:nvPr/>
        </p:nvSpPr>
        <p:spPr>
          <a:xfrm>
            <a:off x="6332220" y="1691640"/>
            <a:ext cx="54864" cy="1289304"/>
          </a:xfrm>
          <a:prstGeom prst="rect">
            <a:avLst/>
          </a:prstGeom>
          <a:solidFill>
            <a:srgbClr val="C62828"/>
          </a:solidFill>
          <a:ln/>
        </p:spPr>
      </p:sp>
      <p:sp>
        <p:nvSpPr>
          <p:cNvPr id="23" name="Text 20"/>
          <p:cNvSpPr/>
          <p:nvPr/>
        </p:nvSpPr>
        <p:spPr>
          <a:xfrm>
            <a:off x="6533388" y="1783080"/>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SEC-07 — severity 5</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Front Door is deployed with a WAF policy correctly associated to the endpoint for /*, but the policy runs in Detection mode, so it logs matches and blocks nothing. The profile is also Standard_AzureFrontDoor, which does not support…</a:t>
            </a:r>
            <a:endParaRPr lang="en-US" sz="1100" dirty="0"/>
          </a:p>
        </p:txBody>
      </p:sp>
      <p:sp>
        <p:nvSpPr>
          <p:cNvPr id="24" name="Shape 21"/>
          <p:cNvSpPr/>
          <p:nvPr/>
        </p:nvSpPr>
        <p:spPr>
          <a:xfrm>
            <a:off x="6332220" y="3127248"/>
            <a:ext cx="5280660" cy="1289304"/>
          </a:xfrm>
          <a:prstGeom prst="roundRect">
            <a:avLst>
              <a:gd name="adj" fmla="val 4255"/>
            </a:avLst>
          </a:prstGeom>
          <a:solidFill>
            <a:srgbClr val="F5F7FA"/>
          </a:solidFill>
          <a:ln w="12700">
            <a:solidFill>
              <a:srgbClr val="E2E8F0"/>
            </a:solidFill>
            <a:prstDash val="solid"/>
          </a:ln>
        </p:spPr>
      </p:sp>
      <p:sp>
        <p:nvSpPr>
          <p:cNvPr id="25" name="Shape 22"/>
          <p:cNvSpPr/>
          <p:nvPr/>
        </p:nvSpPr>
        <p:spPr>
          <a:xfrm>
            <a:off x="6332220" y="3127248"/>
            <a:ext cx="54864" cy="1289304"/>
          </a:xfrm>
          <a:prstGeom prst="rect">
            <a:avLst/>
          </a:prstGeom>
          <a:solidFill>
            <a:srgbClr val="C62828"/>
          </a:solidFill>
          <a:ln/>
        </p:spPr>
      </p:sp>
      <p:sp>
        <p:nvSpPr>
          <p:cNvPr id="26" name="Text 23"/>
          <p:cNvSpPr/>
          <p:nvPr/>
        </p:nvSpPr>
        <p:spPr>
          <a:xfrm>
            <a:off x="6533388" y="3218688"/>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SEC-08 — severity 5</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WAF policy contains no managed rule sets and no custom rules at all, so even in Prevention mode it would inspect nothing. There is no bot protection and no rate limiting, and DDoS Network Protection is not enabled on the virtual…</a:t>
            </a:r>
            <a:endParaRPr lang="en-US" sz="1100" dirty="0"/>
          </a:p>
        </p:txBody>
      </p:sp>
      <p:sp>
        <p:nvSpPr>
          <p:cNvPr id="27" name="Shape 24"/>
          <p:cNvSpPr/>
          <p:nvPr/>
        </p:nvSpPr>
        <p:spPr>
          <a:xfrm>
            <a:off x="6332220" y="4562856"/>
            <a:ext cx="5280660" cy="1289304"/>
          </a:xfrm>
          <a:prstGeom prst="roundRect">
            <a:avLst>
              <a:gd name="adj" fmla="val 4255"/>
            </a:avLst>
          </a:prstGeom>
          <a:solidFill>
            <a:srgbClr val="F5F7FA"/>
          </a:solidFill>
          <a:ln w="12700">
            <a:solidFill>
              <a:srgbClr val="E2E8F0"/>
            </a:solidFill>
            <a:prstDash val="solid"/>
          </a:ln>
        </p:spPr>
      </p:sp>
      <p:sp>
        <p:nvSpPr>
          <p:cNvPr id="28" name="Shape 25"/>
          <p:cNvSpPr/>
          <p:nvPr/>
        </p:nvSpPr>
        <p:spPr>
          <a:xfrm>
            <a:off x="6332220" y="4562856"/>
            <a:ext cx="54864" cy="1289304"/>
          </a:xfrm>
          <a:prstGeom prst="rect">
            <a:avLst/>
          </a:prstGeom>
          <a:solidFill>
            <a:srgbClr val="C62828"/>
          </a:solidFill>
          <a:ln/>
        </p:spPr>
      </p:sp>
      <p:sp>
        <p:nvSpPr>
          <p:cNvPr id="29" name="Text 26"/>
          <p:cNvSpPr/>
          <p:nvPr/>
        </p:nvSpPr>
        <p:spPr>
          <a:xfrm>
            <a:off x="6533388" y="4654296"/>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SEC-14 — severity 5</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A WordPress administrator password is stored in clear text as an App Service connection string rather than in Key Vault, readable by anyone with Contributor rights on the site or access to a configuration export. Separately, Azure…</a:t>
            </a:r>
            <a:endParaRPr lang="en-US" sz="1100" dirty="0"/>
          </a:p>
        </p:txBody>
      </p:sp>
      <p:sp>
        <p:nvSpPr>
          <p:cNvPr id="30" name="Text 27"/>
          <p:cNvSpPr/>
          <p:nvPr/>
        </p:nvSpPr>
        <p:spPr>
          <a:xfrm>
            <a:off x="640080" y="5989320"/>
            <a:ext cx="109728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6 of 24 controls not decided by collected evidence · 8 further failed controls appear in the findings register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4. Cost Optimization</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8595360" y="329184"/>
            <a:ext cx="3017520" cy="603504"/>
          </a:xfrm>
          <a:prstGeom prst="roundRect">
            <a:avLst>
              <a:gd name="adj" fmla="val 12121"/>
            </a:avLst>
          </a:prstGeom>
          <a:solidFill>
            <a:srgbClr val="C62828"/>
          </a:solidFill>
          <a:ln/>
        </p:spPr>
      </p:sp>
      <p:sp>
        <p:nvSpPr>
          <p:cNvPr id="8" name="Text 5"/>
          <p:cNvSpPr/>
          <p:nvPr/>
        </p:nvSpPr>
        <p:spPr>
          <a:xfrm>
            <a:off x="8595360" y="329184"/>
            <a:ext cx="3017520" cy="329184"/>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50% score · 43% coverage</a:t>
            </a:r>
            <a:endParaRPr lang="en-US" sz="1300" dirty="0"/>
          </a:p>
        </p:txBody>
      </p:sp>
      <p:sp>
        <p:nvSpPr>
          <p:cNvPr id="9" name="Text 6"/>
          <p:cNvSpPr/>
          <p:nvPr/>
        </p:nvSpPr>
        <p:spPr>
          <a:xfrm>
            <a:off x="8595360" y="621792"/>
            <a:ext cx="301752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a:t>
            </a:r>
            <a:endParaRPr lang="en-US" sz="1000" dirty="0"/>
          </a:p>
        </p:txBody>
      </p:sp>
      <p:sp>
        <p:nvSpPr>
          <p:cNvPr id="10" name="Text 7"/>
          <p:cNvSpPr/>
          <p:nvPr/>
        </p:nvSpPr>
        <p:spPr>
          <a:xfrm>
            <a:off x="640080" y="1234440"/>
            <a:ext cx="5280660" cy="320040"/>
          </a:xfrm>
          <a:prstGeom prst="rect">
            <a:avLst/>
          </a:prstGeom>
          <a:noFill/>
          <a:ln/>
        </p:spPr>
        <p:txBody>
          <a:bodyPr wrap="square" rtlCol="0" anchor="ctr"/>
          <a:lstStyle/>
          <a:p>
            <a:pPr indent="0" marL="0">
              <a:buNone/>
            </a:pPr>
            <a:r>
              <a:rPr lang="en-US" sz="1800" b="1" dirty="0">
                <a:solidFill>
                  <a:srgbClr val="2E7D32"/>
                </a:solidFill>
                <a:latin typeface="Trebuchet MS" pitchFamily="34" charset="0"/>
                <a:ea typeface="Trebuchet MS" pitchFamily="34" charset="-122"/>
                <a:cs typeface="Trebuchet MS" pitchFamily="34" charset="-120"/>
              </a:rPr>
              <a:t>Evidence shows</a:t>
            </a:r>
            <a:endParaRPr lang="en-US" sz="1800" dirty="0"/>
          </a:p>
        </p:txBody>
      </p:sp>
      <p:sp>
        <p:nvSpPr>
          <p:cNvPr id="11" name="Shape 8"/>
          <p:cNvSpPr/>
          <p:nvPr/>
        </p:nvSpPr>
        <p:spPr>
          <a:xfrm>
            <a:off x="640080" y="1691640"/>
            <a:ext cx="5280660" cy="1289304"/>
          </a:xfrm>
          <a:prstGeom prst="roundRect">
            <a:avLst>
              <a:gd name="adj" fmla="val 4255"/>
            </a:avLst>
          </a:prstGeom>
          <a:solidFill>
            <a:srgbClr val="F5F7FA"/>
          </a:solidFill>
          <a:ln w="12700">
            <a:solidFill>
              <a:srgbClr val="E2E8F0"/>
            </a:solidFill>
            <a:prstDash val="solid"/>
          </a:ln>
        </p:spPr>
      </p:sp>
      <p:sp>
        <p:nvSpPr>
          <p:cNvPr id="12" name="Shape 9"/>
          <p:cNvSpPr/>
          <p:nvPr/>
        </p:nvSpPr>
        <p:spPr>
          <a:xfrm>
            <a:off x="640080" y="1691640"/>
            <a:ext cx="54864" cy="1289304"/>
          </a:xfrm>
          <a:prstGeom prst="rect">
            <a:avLst/>
          </a:prstGeom>
          <a:solidFill>
            <a:srgbClr val="2E7D32"/>
          </a:solidFill>
          <a:ln/>
        </p:spPr>
      </p:sp>
      <p:sp>
        <p:nvSpPr>
          <p:cNvPr id="13" name="Text 10"/>
          <p:cNvSpPr/>
          <p:nvPr/>
        </p:nvSpPr>
        <p:spPr>
          <a:xfrm>
            <a:off x="841248" y="1783080"/>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CST-04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dev MySQL server is stopped while not in use, which is exactly the eligible non-production stop/start pattern, and it runs on the lowest Burstable size. Cost is well controlled for a development environment.</a:t>
            </a:r>
            <a:endParaRPr lang="en-US" sz="1100" dirty="0"/>
          </a:p>
        </p:txBody>
      </p:sp>
      <p:sp>
        <p:nvSpPr>
          <p:cNvPr id="14" name="Shape 11"/>
          <p:cNvSpPr/>
          <p:nvPr/>
        </p:nvSpPr>
        <p:spPr>
          <a:xfrm>
            <a:off x="640080" y="3127248"/>
            <a:ext cx="5280660" cy="1289304"/>
          </a:xfrm>
          <a:prstGeom prst="roundRect">
            <a:avLst>
              <a:gd name="adj" fmla="val 4255"/>
            </a:avLst>
          </a:prstGeom>
          <a:solidFill>
            <a:srgbClr val="F5F7FA"/>
          </a:solidFill>
          <a:ln w="12700">
            <a:solidFill>
              <a:srgbClr val="E2E8F0"/>
            </a:solidFill>
            <a:prstDash val="solid"/>
          </a:ln>
        </p:spPr>
      </p:sp>
      <p:sp>
        <p:nvSpPr>
          <p:cNvPr id="15" name="Shape 12"/>
          <p:cNvSpPr/>
          <p:nvPr/>
        </p:nvSpPr>
        <p:spPr>
          <a:xfrm>
            <a:off x="640080" y="3127248"/>
            <a:ext cx="54864" cy="1289304"/>
          </a:xfrm>
          <a:prstGeom prst="rect">
            <a:avLst/>
          </a:prstGeom>
          <a:solidFill>
            <a:srgbClr val="2E7D32"/>
          </a:solidFill>
          <a:ln/>
        </p:spPr>
      </p:sp>
      <p:sp>
        <p:nvSpPr>
          <p:cNvPr id="16" name="Text 13"/>
          <p:cNvSpPr/>
          <p:nvPr/>
        </p:nvSpPr>
        <p:spPr>
          <a:xfrm>
            <a:off x="841248" y="3218688"/>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CST-09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Retention is at the 30-day included default with no costly over-retention, the workspace uses the standard pay-as-you-go SKU, and Application Insights is workspace-based and co-located in the same region, avoiding cross-region…</a:t>
            </a:r>
            <a:endParaRPr lang="en-US" sz="1100" dirty="0"/>
          </a:p>
        </p:txBody>
      </p:sp>
      <p:sp>
        <p:nvSpPr>
          <p:cNvPr id="17" name="Shape 14"/>
          <p:cNvSpPr/>
          <p:nvPr/>
        </p:nvSpPr>
        <p:spPr>
          <a:xfrm>
            <a:off x="640080" y="4562856"/>
            <a:ext cx="5280660" cy="1289304"/>
          </a:xfrm>
          <a:prstGeom prst="roundRect">
            <a:avLst>
              <a:gd name="adj" fmla="val 4255"/>
            </a:avLst>
          </a:prstGeom>
          <a:solidFill>
            <a:srgbClr val="F5F7FA"/>
          </a:solidFill>
          <a:ln w="12700">
            <a:solidFill>
              <a:srgbClr val="E2E8F0"/>
            </a:solidFill>
            <a:prstDash val="solid"/>
          </a:ln>
        </p:spPr>
      </p:sp>
      <p:sp>
        <p:nvSpPr>
          <p:cNvPr id="18" name="Shape 15"/>
          <p:cNvSpPr/>
          <p:nvPr/>
        </p:nvSpPr>
        <p:spPr>
          <a:xfrm>
            <a:off x="640080" y="4562856"/>
            <a:ext cx="54864" cy="1289304"/>
          </a:xfrm>
          <a:prstGeom prst="rect">
            <a:avLst/>
          </a:prstGeom>
          <a:solidFill>
            <a:srgbClr val="2E7D32"/>
          </a:solidFill>
          <a:ln/>
        </p:spPr>
      </p:sp>
      <p:sp>
        <p:nvSpPr>
          <p:cNvPr id="19" name="Text 16"/>
          <p:cNvSpPr/>
          <p:nvPr/>
        </p:nvSpPr>
        <p:spPr>
          <a:xfrm>
            <a:off x="841248" y="4654296"/>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CST-11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App Service plan hosts a single site, so there is no consolidation risk from mismatched scaling, security, ownership, or SLO requirements.</a:t>
            </a:r>
            <a:endParaRPr lang="en-US" sz="1100" dirty="0"/>
          </a:p>
        </p:txBody>
      </p:sp>
      <p:sp>
        <p:nvSpPr>
          <p:cNvPr id="20" name="Text 17"/>
          <p:cNvSpPr/>
          <p:nvPr/>
        </p:nvSpPr>
        <p:spPr>
          <a:xfrm>
            <a:off x="6332220" y="1234440"/>
            <a:ext cx="5280660" cy="320040"/>
          </a:xfrm>
          <a:prstGeom prst="rect">
            <a:avLst/>
          </a:prstGeom>
          <a:noFill/>
          <a:ln/>
        </p:spPr>
        <p:txBody>
          <a:bodyPr wrap="square" rtlCol="0" anchor="ctr"/>
          <a:lstStyle/>
          <a:p>
            <a:pPr indent="0" marL="0">
              <a:buNone/>
            </a:pPr>
            <a:r>
              <a:rPr lang="en-US" sz="1800" b="1" dirty="0">
                <a:solidFill>
                  <a:srgbClr val="C62828"/>
                </a:solidFill>
                <a:latin typeface="Trebuchet MS" pitchFamily="34" charset="0"/>
                <a:ea typeface="Trebuchet MS" pitchFamily="34" charset="-122"/>
                <a:cs typeface="Trebuchet MS" pitchFamily="34" charset="-120"/>
              </a:rPr>
              <a:t>Gaps</a:t>
            </a:r>
            <a:endParaRPr lang="en-US" sz="1800" dirty="0"/>
          </a:p>
        </p:txBody>
      </p:sp>
      <p:sp>
        <p:nvSpPr>
          <p:cNvPr id="21" name="Shape 18"/>
          <p:cNvSpPr/>
          <p:nvPr/>
        </p:nvSpPr>
        <p:spPr>
          <a:xfrm>
            <a:off x="6332220" y="1691640"/>
            <a:ext cx="5280660" cy="1289304"/>
          </a:xfrm>
          <a:prstGeom prst="roundRect">
            <a:avLst>
              <a:gd name="adj" fmla="val 4255"/>
            </a:avLst>
          </a:prstGeom>
          <a:solidFill>
            <a:srgbClr val="F5F7FA"/>
          </a:solidFill>
          <a:ln w="12700">
            <a:solidFill>
              <a:srgbClr val="E2E8F0"/>
            </a:solidFill>
            <a:prstDash val="solid"/>
          </a:ln>
        </p:spPr>
      </p:sp>
      <p:sp>
        <p:nvSpPr>
          <p:cNvPr id="22" name="Shape 19"/>
          <p:cNvSpPr/>
          <p:nvPr/>
        </p:nvSpPr>
        <p:spPr>
          <a:xfrm>
            <a:off x="6332220" y="1691640"/>
            <a:ext cx="54864" cy="1289304"/>
          </a:xfrm>
          <a:prstGeom prst="rect">
            <a:avLst/>
          </a:prstGeom>
          <a:solidFill>
            <a:srgbClr val="C62828"/>
          </a:solidFill>
          <a:ln/>
        </p:spPr>
      </p:sp>
      <p:sp>
        <p:nvSpPr>
          <p:cNvPr id="23" name="Text 20"/>
          <p:cNvSpPr/>
          <p:nvPr/>
        </p:nvSpPr>
        <p:spPr>
          <a:xfrm>
            <a:off x="6533388" y="1783080"/>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CST-08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single Front Door route has caching disabled entirely, so every request - including static assets - is fetched from the App Service origin. That maximises origin compute and egress cost while delivering none of the edge benefit…</a:t>
            </a:r>
            <a:endParaRPr lang="en-US" sz="1100" dirty="0"/>
          </a:p>
        </p:txBody>
      </p:sp>
      <p:sp>
        <p:nvSpPr>
          <p:cNvPr id="24" name="Shape 21"/>
          <p:cNvSpPr/>
          <p:nvPr/>
        </p:nvSpPr>
        <p:spPr>
          <a:xfrm>
            <a:off x="6332220" y="3127248"/>
            <a:ext cx="5280660" cy="1289304"/>
          </a:xfrm>
          <a:prstGeom prst="roundRect">
            <a:avLst>
              <a:gd name="adj" fmla="val 4255"/>
            </a:avLst>
          </a:prstGeom>
          <a:solidFill>
            <a:srgbClr val="F5F7FA"/>
          </a:solidFill>
          <a:ln w="12700">
            <a:solidFill>
              <a:srgbClr val="E2E8F0"/>
            </a:solidFill>
            <a:prstDash val="solid"/>
          </a:ln>
        </p:spPr>
      </p:sp>
      <p:sp>
        <p:nvSpPr>
          <p:cNvPr id="25" name="Shape 22"/>
          <p:cNvSpPr/>
          <p:nvPr/>
        </p:nvSpPr>
        <p:spPr>
          <a:xfrm>
            <a:off x="6332220" y="3127248"/>
            <a:ext cx="54864" cy="1289304"/>
          </a:xfrm>
          <a:prstGeom prst="rect">
            <a:avLst/>
          </a:prstGeom>
          <a:solidFill>
            <a:srgbClr val="C62828"/>
          </a:solidFill>
          <a:ln/>
        </p:spPr>
      </p:sp>
      <p:sp>
        <p:nvSpPr>
          <p:cNvPr id="26" name="Text 23"/>
          <p:cNvSpPr/>
          <p:nvPr/>
        </p:nvSpPr>
        <p:spPr>
          <a:xfrm>
            <a:off x="6533388" y="3218688"/>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CST-05 — severity 2</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dbsubnet at 10.0.1.0/25 is provisioned with its own network security group but carries no workload - MySQL reaches the VNet through a private endpoint in pesubnet instead. There is also no autoscale scale-in and no non-production…</a:t>
            </a:r>
            <a:endParaRPr lang="en-US" sz="1100" dirty="0"/>
          </a:p>
        </p:txBody>
      </p:sp>
      <p:sp>
        <p:nvSpPr>
          <p:cNvPr id="27" name="Shape 24"/>
          <p:cNvSpPr/>
          <p:nvPr/>
        </p:nvSpPr>
        <p:spPr>
          <a:xfrm>
            <a:off x="6332220" y="4562856"/>
            <a:ext cx="5280660" cy="1289304"/>
          </a:xfrm>
          <a:prstGeom prst="roundRect">
            <a:avLst>
              <a:gd name="adj" fmla="val 4255"/>
            </a:avLst>
          </a:prstGeom>
          <a:solidFill>
            <a:srgbClr val="F5F7FA"/>
          </a:solidFill>
          <a:ln w="12700">
            <a:solidFill>
              <a:srgbClr val="E2E8F0"/>
            </a:solidFill>
            <a:prstDash val="solid"/>
          </a:ln>
        </p:spPr>
      </p:sp>
      <p:sp>
        <p:nvSpPr>
          <p:cNvPr id="28" name="Shape 25"/>
          <p:cNvSpPr/>
          <p:nvPr/>
        </p:nvSpPr>
        <p:spPr>
          <a:xfrm>
            <a:off x="6332220" y="4562856"/>
            <a:ext cx="54864" cy="1289304"/>
          </a:xfrm>
          <a:prstGeom prst="rect">
            <a:avLst/>
          </a:prstGeom>
          <a:solidFill>
            <a:srgbClr val="C62828"/>
          </a:solidFill>
          <a:ln/>
        </p:spPr>
      </p:sp>
      <p:sp>
        <p:nvSpPr>
          <p:cNvPr id="29" name="Text 26"/>
          <p:cNvSpPr/>
          <p:nvPr/>
        </p:nvSpPr>
        <p:spPr>
          <a:xfrm>
            <a:off x="6533388" y="4654296"/>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CST-07 — severity 2</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All blob data sits in the Hot tier with no lifecycle management policy, so media, prior versions, and soft-deleted blobs are never tiered or expired and cost grows without bound.</a:t>
            </a:r>
            <a:endParaRPr lang="en-US" sz="1100" dirty="0"/>
          </a:p>
        </p:txBody>
      </p:sp>
      <p:sp>
        <p:nvSpPr>
          <p:cNvPr id="30" name="Text 27"/>
          <p:cNvSpPr/>
          <p:nvPr/>
        </p:nvSpPr>
        <p:spPr>
          <a:xfrm>
            <a:off x="640080" y="5989320"/>
            <a:ext cx="109728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8 of 14 controls not decided by collected evidence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5. Operational Excellence</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8595360" y="329184"/>
            <a:ext cx="3017520" cy="603504"/>
          </a:xfrm>
          <a:prstGeom prst="roundRect">
            <a:avLst>
              <a:gd name="adj" fmla="val 12121"/>
            </a:avLst>
          </a:prstGeom>
          <a:solidFill>
            <a:srgbClr val="C62828"/>
          </a:solidFill>
          <a:ln/>
        </p:spPr>
      </p:sp>
      <p:sp>
        <p:nvSpPr>
          <p:cNvPr id="8" name="Text 5"/>
          <p:cNvSpPr/>
          <p:nvPr/>
        </p:nvSpPr>
        <p:spPr>
          <a:xfrm>
            <a:off x="8595360" y="329184"/>
            <a:ext cx="3017520" cy="329184"/>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25% score · 24% coverage</a:t>
            </a:r>
            <a:endParaRPr lang="en-US" sz="1300" dirty="0"/>
          </a:p>
        </p:txBody>
      </p:sp>
      <p:sp>
        <p:nvSpPr>
          <p:cNvPr id="9" name="Text 6"/>
          <p:cNvSpPr/>
          <p:nvPr/>
        </p:nvSpPr>
        <p:spPr>
          <a:xfrm>
            <a:off x="8595360" y="621792"/>
            <a:ext cx="301752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a:t>
            </a:r>
            <a:endParaRPr lang="en-US" sz="1000" dirty="0"/>
          </a:p>
        </p:txBody>
      </p:sp>
      <p:sp>
        <p:nvSpPr>
          <p:cNvPr id="10" name="Text 7"/>
          <p:cNvSpPr/>
          <p:nvPr/>
        </p:nvSpPr>
        <p:spPr>
          <a:xfrm>
            <a:off x="640080" y="1234440"/>
            <a:ext cx="5280660" cy="320040"/>
          </a:xfrm>
          <a:prstGeom prst="rect">
            <a:avLst/>
          </a:prstGeom>
          <a:noFill/>
          <a:ln/>
        </p:spPr>
        <p:txBody>
          <a:bodyPr wrap="square" rtlCol="0" anchor="ctr"/>
          <a:lstStyle/>
          <a:p>
            <a:pPr indent="0" marL="0">
              <a:buNone/>
            </a:pPr>
            <a:r>
              <a:rPr lang="en-US" sz="1800" b="1" dirty="0">
                <a:solidFill>
                  <a:srgbClr val="2E7D32"/>
                </a:solidFill>
                <a:latin typeface="Trebuchet MS" pitchFamily="34" charset="0"/>
                <a:ea typeface="Trebuchet MS" pitchFamily="34" charset="-122"/>
                <a:cs typeface="Trebuchet MS" pitchFamily="34" charset="-120"/>
              </a:rPr>
              <a:t>Evidence shows</a:t>
            </a:r>
            <a:endParaRPr lang="en-US" sz="1800" dirty="0"/>
          </a:p>
        </p:txBody>
      </p:sp>
      <p:sp>
        <p:nvSpPr>
          <p:cNvPr id="11" name="Shape 8"/>
          <p:cNvSpPr/>
          <p:nvPr/>
        </p:nvSpPr>
        <p:spPr>
          <a:xfrm>
            <a:off x="640080" y="1691640"/>
            <a:ext cx="5280660" cy="1298448"/>
          </a:xfrm>
          <a:prstGeom prst="roundRect">
            <a:avLst>
              <a:gd name="adj" fmla="val 4225"/>
            </a:avLst>
          </a:prstGeom>
          <a:solidFill>
            <a:srgbClr val="F5F7FA"/>
          </a:solidFill>
          <a:ln w="12700">
            <a:solidFill>
              <a:srgbClr val="E2E8F0"/>
            </a:solidFill>
            <a:prstDash val="solid"/>
          </a:ln>
        </p:spPr>
      </p:sp>
      <p:sp>
        <p:nvSpPr>
          <p:cNvPr id="12" name="Shape 9"/>
          <p:cNvSpPr/>
          <p:nvPr/>
        </p:nvSpPr>
        <p:spPr>
          <a:xfrm>
            <a:off x="640080" y="1691640"/>
            <a:ext cx="54864" cy="1298448"/>
          </a:xfrm>
          <a:prstGeom prst="rect">
            <a:avLst/>
          </a:prstGeom>
          <a:solidFill>
            <a:srgbClr val="2E7D32"/>
          </a:solidFill>
          <a:ln/>
        </p:spPr>
      </p:sp>
      <p:sp>
        <p:nvSpPr>
          <p:cNvPr id="13" name="Text 10"/>
          <p:cNvSpPr/>
          <p:nvPr/>
        </p:nvSpPr>
        <p:spPr>
          <a:xfrm>
            <a:off x="841248" y="1783080"/>
            <a:ext cx="4878324" cy="1115568"/>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OPS-08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site is instrumented with the Application Insights agent extension pointing at a workspace-based component, so requests, dependencies, exceptions, and traces are collected. Deployment markers, business metrics, and availability…</a:t>
            </a:r>
            <a:endParaRPr lang="en-US" sz="1100" dirty="0"/>
          </a:p>
        </p:txBody>
      </p:sp>
      <p:sp>
        <p:nvSpPr>
          <p:cNvPr id="14" name="Text 11"/>
          <p:cNvSpPr/>
          <p:nvPr/>
        </p:nvSpPr>
        <p:spPr>
          <a:xfrm>
            <a:off x="6332220" y="1234440"/>
            <a:ext cx="5280660" cy="320040"/>
          </a:xfrm>
          <a:prstGeom prst="rect">
            <a:avLst/>
          </a:prstGeom>
          <a:noFill/>
          <a:ln/>
        </p:spPr>
        <p:txBody>
          <a:bodyPr wrap="square" rtlCol="0" anchor="ctr"/>
          <a:lstStyle/>
          <a:p>
            <a:pPr indent="0" marL="0">
              <a:buNone/>
            </a:pPr>
            <a:r>
              <a:rPr lang="en-US" sz="1800" b="1" dirty="0">
                <a:solidFill>
                  <a:srgbClr val="C62828"/>
                </a:solidFill>
                <a:latin typeface="Trebuchet MS" pitchFamily="34" charset="0"/>
                <a:ea typeface="Trebuchet MS" pitchFamily="34" charset="-122"/>
                <a:cs typeface="Trebuchet MS" pitchFamily="34" charset="-120"/>
              </a:rPr>
              <a:t>Gaps</a:t>
            </a:r>
            <a:endParaRPr lang="en-US" sz="1800" dirty="0"/>
          </a:p>
        </p:txBody>
      </p:sp>
      <p:sp>
        <p:nvSpPr>
          <p:cNvPr id="15" name="Shape 12"/>
          <p:cNvSpPr/>
          <p:nvPr/>
        </p:nvSpPr>
        <p:spPr>
          <a:xfrm>
            <a:off x="6332220" y="1691640"/>
            <a:ext cx="5280660" cy="1289304"/>
          </a:xfrm>
          <a:prstGeom prst="roundRect">
            <a:avLst>
              <a:gd name="adj" fmla="val 4255"/>
            </a:avLst>
          </a:prstGeom>
          <a:solidFill>
            <a:srgbClr val="F5F7FA"/>
          </a:solidFill>
          <a:ln w="12700">
            <a:solidFill>
              <a:srgbClr val="E2E8F0"/>
            </a:solidFill>
            <a:prstDash val="solid"/>
          </a:ln>
        </p:spPr>
      </p:sp>
      <p:sp>
        <p:nvSpPr>
          <p:cNvPr id="16" name="Shape 13"/>
          <p:cNvSpPr/>
          <p:nvPr/>
        </p:nvSpPr>
        <p:spPr>
          <a:xfrm>
            <a:off x="6332220" y="1691640"/>
            <a:ext cx="54864" cy="1289304"/>
          </a:xfrm>
          <a:prstGeom prst="rect">
            <a:avLst/>
          </a:prstGeom>
          <a:solidFill>
            <a:srgbClr val="C62828"/>
          </a:solidFill>
          <a:ln/>
        </p:spPr>
      </p:sp>
      <p:sp>
        <p:nvSpPr>
          <p:cNvPr id="17" name="Text 14"/>
          <p:cNvSpPr/>
          <p:nvPr/>
        </p:nvSpPr>
        <p:spPr>
          <a:xfrm>
            <a:off x="6533388" y="1783080"/>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OPS-09 — severity 4</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only alerting asset is the auto-created Failure Anomalies smart detector. There are no metric alerts, no log alerts, and no action groups, so there is no owner, severity, routing, deduplication, or runbook link for errors…</a:t>
            </a:r>
            <a:endParaRPr lang="en-US" sz="1100" dirty="0"/>
          </a:p>
        </p:txBody>
      </p:sp>
      <p:sp>
        <p:nvSpPr>
          <p:cNvPr id="18" name="Shape 15"/>
          <p:cNvSpPr/>
          <p:nvPr/>
        </p:nvSpPr>
        <p:spPr>
          <a:xfrm>
            <a:off x="6332220" y="3127248"/>
            <a:ext cx="5280660" cy="1289304"/>
          </a:xfrm>
          <a:prstGeom prst="roundRect">
            <a:avLst>
              <a:gd name="adj" fmla="val 4255"/>
            </a:avLst>
          </a:prstGeom>
          <a:solidFill>
            <a:srgbClr val="F5F7FA"/>
          </a:solidFill>
          <a:ln w="12700">
            <a:solidFill>
              <a:srgbClr val="E2E8F0"/>
            </a:solidFill>
            <a:prstDash val="solid"/>
          </a:ln>
        </p:spPr>
      </p:sp>
      <p:sp>
        <p:nvSpPr>
          <p:cNvPr id="19" name="Shape 16"/>
          <p:cNvSpPr/>
          <p:nvPr/>
        </p:nvSpPr>
        <p:spPr>
          <a:xfrm>
            <a:off x="6332220" y="3127248"/>
            <a:ext cx="54864" cy="1289304"/>
          </a:xfrm>
          <a:prstGeom prst="rect">
            <a:avLst/>
          </a:prstGeom>
          <a:solidFill>
            <a:srgbClr val="C62828"/>
          </a:solidFill>
          <a:ln/>
        </p:spPr>
      </p:sp>
      <p:sp>
        <p:nvSpPr>
          <p:cNvPr id="20" name="Text 17"/>
          <p:cNvSpPr/>
          <p:nvPr/>
        </p:nvSpPr>
        <p:spPr>
          <a:xfrm>
            <a:off x="6533388" y="3218688"/>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OPS-04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No deployment slots exist, even though the Premium v3 plan supports them. Every deployment therefore goes straight to the production site with no warm-up, no swap-with-preview progressive exposure, and no fast rollback path.</a:t>
            </a:r>
            <a:endParaRPr lang="en-US" sz="1100" dirty="0"/>
          </a:p>
        </p:txBody>
      </p:sp>
      <p:sp>
        <p:nvSpPr>
          <p:cNvPr id="21" name="Shape 18"/>
          <p:cNvSpPr/>
          <p:nvPr/>
        </p:nvSpPr>
        <p:spPr>
          <a:xfrm>
            <a:off x="6332220" y="4562856"/>
            <a:ext cx="5280660" cy="1289304"/>
          </a:xfrm>
          <a:prstGeom prst="roundRect">
            <a:avLst>
              <a:gd name="adj" fmla="val 4255"/>
            </a:avLst>
          </a:prstGeom>
          <a:solidFill>
            <a:srgbClr val="F5F7FA"/>
          </a:solidFill>
          <a:ln w="12700">
            <a:solidFill>
              <a:srgbClr val="E2E8F0"/>
            </a:solidFill>
            <a:prstDash val="solid"/>
          </a:ln>
        </p:spPr>
      </p:sp>
      <p:sp>
        <p:nvSpPr>
          <p:cNvPr id="22" name="Shape 19"/>
          <p:cNvSpPr/>
          <p:nvPr/>
        </p:nvSpPr>
        <p:spPr>
          <a:xfrm>
            <a:off x="6332220" y="4562856"/>
            <a:ext cx="54864" cy="1289304"/>
          </a:xfrm>
          <a:prstGeom prst="rect">
            <a:avLst/>
          </a:prstGeom>
          <a:solidFill>
            <a:srgbClr val="C62828"/>
          </a:solidFill>
          <a:ln/>
        </p:spPr>
      </p:sp>
      <p:sp>
        <p:nvSpPr>
          <p:cNvPr id="23" name="Text 20"/>
          <p:cNvSpPr/>
          <p:nvPr/>
        </p:nvSpPr>
        <p:spPr>
          <a:xfrm>
            <a:off x="6533388" y="4654296"/>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OPS-07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Diagnostics are good for App Service, MySQL, Front Door, Key Vault, Redis, and Communication Services, all sending to the shared workspace. They are absent for the storage account, all three NSGs, and the virtual network, and could…</a:t>
            </a:r>
            <a:endParaRPr lang="en-US" sz="1100" dirty="0"/>
          </a:p>
        </p:txBody>
      </p:sp>
      <p:sp>
        <p:nvSpPr>
          <p:cNvPr id="24" name="Text 21"/>
          <p:cNvSpPr/>
          <p:nvPr/>
        </p:nvSpPr>
        <p:spPr>
          <a:xfrm>
            <a:off x="640080" y="5989320"/>
            <a:ext cx="109728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13 of 17 controls not decided by collected evidence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6. Performance Efficiency</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8595360" y="329184"/>
            <a:ext cx="3017520" cy="603504"/>
          </a:xfrm>
          <a:prstGeom prst="roundRect">
            <a:avLst>
              <a:gd name="adj" fmla="val 12121"/>
            </a:avLst>
          </a:prstGeom>
          <a:solidFill>
            <a:srgbClr val="C62828"/>
          </a:solidFill>
          <a:ln/>
        </p:spPr>
      </p:sp>
      <p:sp>
        <p:nvSpPr>
          <p:cNvPr id="8" name="Text 5"/>
          <p:cNvSpPr/>
          <p:nvPr/>
        </p:nvSpPr>
        <p:spPr>
          <a:xfrm>
            <a:off x="8595360" y="329184"/>
            <a:ext cx="3017520" cy="329184"/>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50% score · 40% coverage</a:t>
            </a:r>
            <a:endParaRPr lang="en-US" sz="1300" dirty="0"/>
          </a:p>
        </p:txBody>
      </p:sp>
      <p:sp>
        <p:nvSpPr>
          <p:cNvPr id="9" name="Text 6"/>
          <p:cNvSpPr/>
          <p:nvPr/>
        </p:nvSpPr>
        <p:spPr>
          <a:xfrm>
            <a:off x="8595360" y="621792"/>
            <a:ext cx="301752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a:t>
            </a:r>
            <a:endParaRPr lang="en-US" sz="1000" dirty="0"/>
          </a:p>
        </p:txBody>
      </p:sp>
      <p:sp>
        <p:nvSpPr>
          <p:cNvPr id="10" name="Text 7"/>
          <p:cNvSpPr/>
          <p:nvPr/>
        </p:nvSpPr>
        <p:spPr>
          <a:xfrm>
            <a:off x="640080" y="1234440"/>
            <a:ext cx="5280660" cy="320040"/>
          </a:xfrm>
          <a:prstGeom prst="rect">
            <a:avLst/>
          </a:prstGeom>
          <a:noFill/>
          <a:ln/>
        </p:spPr>
        <p:txBody>
          <a:bodyPr wrap="square" rtlCol="0" anchor="ctr"/>
          <a:lstStyle/>
          <a:p>
            <a:pPr indent="0" marL="0">
              <a:buNone/>
            </a:pPr>
            <a:r>
              <a:rPr lang="en-US" sz="1800" b="1" dirty="0">
                <a:solidFill>
                  <a:srgbClr val="2E7D32"/>
                </a:solidFill>
                <a:latin typeface="Trebuchet MS" pitchFamily="34" charset="0"/>
                <a:ea typeface="Trebuchet MS" pitchFamily="34" charset="-122"/>
                <a:cs typeface="Trebuchet MS" pitchFamily="34" charset="-120"/>
              </a:rPr>
              <a:t>Evidence shows</a:t>
            </a:r>
            <a:endParaRPr lang="en-US" sz="1800" dirty="0"/>
          </a:p>
        </p:txBody>
      </p:sp>
      <p:sp>
        <p:nvSpPr>
          <p:cNvPr id="11" name="Shape 8"/>
          <p:cNvSpPr/>
          <p:nvPr/>
        </p:nvSpPr>
        <p:spPr>
          <a:xfrm>
            <a:off x="640080" y="1691640"/>
            <a:ext cx="5280660" cy="1289304"/>
          </a:xfrm>
          <a:prstGeom prst="roundRect">
            <a:avLst>
              <a:gd name="adj" fmla="val 4255"/>
            </a:avLst>
          </a:prstGeom>
          <a:solidFill>
            <a:srgbClr val="F5F7FA"/>
          </a:solidFill>
          <a:ln w="12700">
            <a:solidFill>
              <a:srgbClr val="E2E8F0"/>
            </a:solidFill>
            <a:prstDash val="solid"/>
          </a:ln>
        </p:spPr>
      </p:sp>
      <p:sp>
        <p:nvSpPr>
          <p:cNvPr id="12" name="Shape 9"/>
          <p:cNvSpPr/>
          <p:nvPr/>
        </p:nvSpPr>
        <p:spPr>
          <a:xfrm>
            <a:off x="640080" y="1691640"/>
            <a:ext cx="54864" cy="1289304"/>
          </a:xfrm>
          <a:prstGeom prst="rect">
            <a:avLst/>
          </a:prstGeom>
          <a:solidFill>
            <a:srgbClr val="2E7D32"/>
          </a:solidFill>
          <a:ln/>
        </p:spPr>
      </p:sp>
      <p:sp>
        <p:nvSpPr>
          <p:cNvPr id="13" name="Text 10"/>
          <p:cNvSpPr/>
          <p:nvPr/>
        </p:nvSpPr>
        <p:spPr>
          <a:xfrm>
            <a:off x="841248" y="1783080"/>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PRF-04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A consistent measurement pipeline is in place: Application Insights collects end-to-end request, dependency, and exception timing, and App Service, MySQL, Redis, Front Door, and Communication Services all emit metrics and logs to the…</a:t>
            </a:r>
            <a:endParaRPr lang="en-US" sz="1100" dirty="0"/>
          </a:p>
        </p:txBody>
      </p:sp>
      <p:sp>
        <p:nvSpPr>
          <p:cNvPr id="14" name="Shape 11"/>
          <p:cNvSpPr/>
          <p:nvPr/>
        </p:nvSpPr>
        <p:spPr>
          <a:xfrm>
            <a:off x="640080" y="3127248"/>
            <a:ext cx="5280660" cy="1289304"/>
          </a:xfrm>
          <a:prstGeom prst="roundRect">
            <a:avLst>
              <a:gd name="adj" fmla="val 4255"/>
            </a:avLst>
          </a:prstGeom>
          <a:solidFill>
            <a:srgbClr val="F5F7FA"/>
          </a:solidFill>
          <a:ln w="12700">
            <a:solidFill>
              <a:srgbClr val="E2E8F0"/>
            </a:solidFill>
            <a:prstDash val="solid"/>
          </a:ln>
        </p:spPr>
      </p:sp>
      <p:sp>
        <p:nvSpPr>
          <p:cNvPr id="15" name="Shape 12"/>
          <p:cNvSpPr/>
          <p:nvPr/>
        </p:nvSpPr>
        <p:spPr>
          <a:xfrm>
            <a:off x="640080" y="3127248"/>
            <a:ext cx="54864" cy="1289304"/>
          </a:xfrm>
          <a:prstGeom prst="rect">
            <a:avLst/>
          </a:prstGeom>
          <a:solidFill>
            <a:srgbClr val="2E7D32"/>
          </a:solidFill>
          <a:ln/>
        </p:spPr>
      </p:sp>
      <p:sp>
        <p:nvSpPr>
          <p:cNvPr id="16" name="Text 13"/>
          <p:cNvSpPr/>
          <p:nvPr/>
        </p:nvSpPr>
        <p:spPr>
          <a:xfrm>
            <a:off x="841248" y="3218688"/>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PRF-07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With caching disabled on the only route, no personalised or authenticated response can be cached or leaked at the edge, so this control is met by default. The cost and performance consequence of caching nothing is assessed under…</a:t>
            </a:r>
            <a:endParaRPr lang="en-US" sz="1100" dirty="0"/>
          </a:p>
        </p:txBody>
      </p:sp>
      <p:sp>
        <p:nvSpPr>
          <p:cNvPr id="17" name="Shape 14"/>
          <p:cNvSpPr/>
          <p:nvPr/>
        </p:nvSpPr>
        <p:spPr>
          <a:xfrm>
            <a:off x="640080" y="4562856"/>
            <a:ext cx="5280660" cy="1289304"/>
          </a:xfrm>
          <a:prstGeom prst="roundRect">
            <a:avLst>
              <a:gd name="adj" fmla="val 4255"/>
            </a:avLst>
          </a:prstGeom>
          <a:solidFill>
            <a:srgbClr val="F5F7FA"/>
          </a:solidFill>
          <a:ln w="12700">
            <a:solidFill>
              <a:srgbClr val="E2E8F0"/>
            </a:solidFill>
            <a:prstDash val="solid"/>
          </a:ln>
        </p:spPr>
      </p:sp>
      <p:sp>
        <p:nvSpPr>
          <p:cNvPr id="18" name="Shape 15"/>
          <p:cNvSpPr/>
          <p:nvPr/>
        </p:nvSpPr>
        <p:spPr>
          <a:xfrm>
            <a:off x="640080" y="4562856"/>
            <a:ext cx="54864" cy="1289304"/>
          </a:xfrm>
          <a:prstGeom prst="rect">
            <a:avLst/>
          </a:prstGeom>
          <a:solidFill>
            <a:srgbClr val="2E7D32"/>
          </a:solidFill>
          <a:ln/>
        </p:spPr>
      </p:sp>
      <p:sp>
        <p:nvSpPr>
          <p:cNvPr id="19" name="Text 16"/>
          <p:cNvSpPr/>
          <p:nvPr/>
        </p:nvSpPr>
        <p:spPr>
          <a:xfrm>
            <a:off x="841248" y="4654296"/>
            <a:ext cx="4878324" cy="1106424"/>
          </a:xfrm>
          <a:prstGeom prst="rect">
            <a:avLst/>
          </a:prstGeom>
          <a:noFill/>
          <a:ln/>
        </p:spPr>
        <p:txBody>
          <a:bodyPr wrap="square" rtlCol="0" anchor="t"/>
          <a:lstStyle/>
          <a:p>
            <a:pPr indent="0" marL="0">
              <a:spcAft>
                <a:spcPts val="300"/>
              </a:spcAft>
              <a:buNone/>
            </a:pPr>
            <a:r>
              <a:rPr lang="en-US" sz="1100" b="1" dirty="0">
                <a:solidFill>
                  <a:srgbClr val="2E7D32"/>
                </a:solidFill>
                <a:latin typeface="Trebuchet MS" pitchFamily="34" charset="0"/>
                <a:ea typeface="Trebuchet MS" pitchFamily="34" charset="-122"/>
                <a:cs typeface="Trebuchet MS" pitchFamily="34" charset="-120"/>
              </a:rPr>
              <a:t>PRF-09 — Pass</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Object caching is deliberately implemented through Azure Managed Redis, wired into WordPress with the credential resolved from Key Vault and the cache reachable only over a private endpoint.</a:t>
            </a:r>
            <a:endParaRPr lang="en-US" sz="1100" dirty="0"/>
          </a:p>
        </p:txBody>
      </p:sp>
      <p:sp>
        <p:nvSpPr>
          <p:cNvPr id="20" name="Text 17"/>
          <p:cNvSpPr/>
          <p:nvPr/>
        </p:nvSpPr>
        <p:spPr>
          <a:xfrm>
            <a:off x="6332220" y="1234440"/>
            <a:ext cx="5280660" cy="320040"/>
          </a:xfrm>
          <a:prstGeom prst="rect">
            <a:avLst/>
          </a:prstGeom>
          <a:noFill/>
          <a:ln/>
        </p:spPr>
        <p:txBody>
          <a:bodyPr wrap="square" rtlCol="0" anchor="ctr"/>
          <a:lstStyle/>
          <a:p>
            <a:pPr indent="0" marL="0">
              <a:buNone/>
            </a:pPr>
            <a:r>
              <a:rPr lang="en-US" sz="1800" b="1" dirty="0">
                <a:solidFill>
                  <a:srgbClr val="C62828"/>
                </a:solidFill>
                <a:latin typeface="Trebuchet MS" pitchFamily="34" charset="0"/>
                <a:ea typeface="Trebuchet MS" pitchFamily="34" charset="-122"/>
                <a:cs typeface="Trebuchet MS" pitchFamily="34" charset="-120"/>
              </a:rPr>
              <a:t>Gaps</a:t>
            </a:r>
            <a:endParaRPr lang="en-US" sz="1800" dirty="0"/>
          </a:p>
        </p:txBody>
      </p:sp>
      <p:sp>
        <p:nvSpPr>
          <p:cNvPr id="21" name="Shape 18"/>
          <p:cNvSpPr/>
          <p:nvPr/>
        </p:nvSpPr>
        <p:spPr>
          <a:xfrm>
            <a:off x="6332220" y="1691640"/>
            <a:ext cx="5280660" cy="1289304"/>
          </a:xfrm>
          <a:prstGeom prst="roundRect">
            <a:avLst>
              <a:gd name="adj" fmla="val 4255"/>
            </a:avLst>
          </a:prstGeom>
          <a:solidFill>
            <a:srgbClr val="F5F7FA"/>
          </a:solidFill>
          <a:ln w="12700">
            <a:solidFill>
              <a:srgbClr val="E2E8F0"/>
            </a:solidFill>
            <a:prstDash val="solid"/>
          </a:ln>
        </p:spPr>
      </p:sp>
      <p:sp>
        <p:nvSpPr>
          <p:cNvPr id="22" name="Shape 19"/>
          <p:cNvSpPr/>
          <p:nvPr/>
        </p:nvSpPr>
        <p:spPr>
          <a:xfrm>
            <a:off x="6332220" y="1691640"/>
            <a:ext cx="54864" cy="1289304"/>
          </a:xfrm>
          <a:prstGeom prst="rect">
            <a:avLst/>
          </a:prstGeom>
          <a:solidFill>
            <a:srgbClr val="C62828"/>
          </a:solidFill>
          <a:ln/>
        </p:spPr>
      </p:sp>
      <p:sp>
        <p:nvSpPr>
          <p:cNvPr id="23" name="Text 20"/>
          <p:cNvSpPr/>
          <p:nvPr/>
        </p:nvSpPr>
        <p:spPr>
          <a:xfrm>
            <a:off x="6533388" y="1783080"/>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PRF-03 — severity 4</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The selected tiers cannot meet a production performance or availability target as configured. The plan is capped at one worker, MySQL Burstable cannot support HA, read replicas, or accelerated logs, Redis Balanced_B0 is the entry…</a:t>
            </a:r>
            <a:endParaRPr lang="en-US" sz="1100" dirty="0"/>
          </a:p>
        </p:txBody>
      </p:sp>
      <p:sp>
        <p:nvSpPr>
          <p:cNvPr id="24" name="Shape 21"/>
          <p:cNvSpPr/>
          <p:nvPr/>
        </p:nvSpPr>
        <p:spPr>
          <a:xfrm>
            <a:off x="6332220" y="3127248"/>
            <a:ext cx="5280660" cy="1289304"/>
          </a:xfrm>
          <a:prstGeom prst="roundRect">
            <a:avLst>
              <a:gd name="adj" fmla="val 4255"/>
            </a:avLst>
          </a:prstGeom>
          <a:solidFill>
            <a:srgbClr val="F5F7FA"/>
          </a:solidFill>
          <a:ln w="12700">
            <a:solidFill>
              <a:srgbClr val="E2E8F0"/>
            </a:solidFill>
            <a:prstDash val="solid"/>
          </a:ln>
        </p:spPr>
      </p:sp>
      <p:sp>
        <p:nvSpPr>
          <p:cNvPr id="25" name="Shape 22"/>
          <p:cNvSpPr/>
          <p:nvPr/>
        </p:nvSpPr>
        <p:spPr>
          <a:xfrm>
            <a:off x="6332220" y="3127248"/>
            <a:ext cx="54864" cy="1289304"/>
          </a:xfrm>
          <a:prstGeom prst="rect">
            <a:avLst/>
          </a:prstGeom>
          <a:solidFill>
            <a:srgbClr val="C62828"/>
          </a:solidFill>
          <a:ln/>
        </p:spPr>
      </p:sp>
      <p:sp>
        <p:nvSpPr>
          <p:cNvPr id="26" name="Text 23"/>
          <p:cNvSpPr/>
          <p:nvPr/>
        </p:nvSpPr>
        <p:spPr>
          <a:xfrm>
            <a:off x="6533388" y="3218688"/>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PRF-05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Controlled scale-out is not implemented - the plan cannot exceed one worker - so App Service autoscale, MySQL connection limits, cache capacity, SNAT capacity, and Front Door origin behaviour have never been exercised under load.</a:t>
            </a:r>
            <a:endParaRPr lang="en-US" sz="1100" dirty="0"/>
          </a:p>
        </p:txBody>
      </p:sp>
      <p:sp>
        <p:nvSpPr>
          <p:cNvPr id="27" name="Shape 24"/>
          <p:cNvSpPr/>
          <p:nvPr/>
        </p:nvSpPr>
        <p:spPr>
          <a:xfrm>
            <a:off x="6332220" y="4562856"/>
            <a:ext cx="5280660" cy="1289304"/>
          </a:xfrm>
          <a:prstGeom prst="roundRect">
            <a:avLst>
              <a:gd name="adj" fmla="val 4255"/>
            </a:avLst>
          </a:prstGeom>
          <a:solidFill>
            <a:srgbClr val="F5F7FA"/>
          </a:solidFill>
          <a:ln w="12700">
            <a:solidFill>
              <a:srgbClr val="E2E8F0"/>
            </a:solidFill>
            <a:prstDash val="solid"/>
          </a:ln>
        </p:spPr>
      </p:sp>
      <p:sp>
        <p:nvSpPr>
          <p:cNvPr id="28" name="Shape 25"/>
          <p:cNvSpPr/>
          <p:nvPr/>
        </p:nvSpPr>
        <p:spPr>
          <a:xfrm>
            <a:off x="6332220" y="4562856"/>
            <a:ext cx="54864" cy="1289304"/>
          </a:xfrm>
          <a:prstGeom prst="rect">
            <a:avLst/>
          </a:prstGeom>
          <a:solidFill>
            <a:srgbClr val="C62828"/>
          </a:solidFill>
          <a:ln/>
        </p:spPr>
      </p:sp>
      <p:sp>
        <p:nvSpPr>
          <p:cNvPr id="29" name="Text 26"/>
          <p:cNvSpPr/>
          <p:nvPr/>
        </p:nvSpPr>
        <p:spPr>
          <a:xfrm>
            <a:off x="6533388" y="4654296"/>
            <a:ext cx="4878324" cy="1106424"/>
          </a:xfrm>
          <a:prstGeom prst="rect">
            <a:avLst/>
          </a:prstGeom>
          <a:noFill/>
          <a:ln/>
        </p:spPr>
        <p:txBody>
          <a:bodyPr wrap="square" rtlCol="0" anchor="t"/>
          <a:lstStyle/>
          <a:p>
            <a:pPr indent="0" marL="0">
              <a:spcAft>
                <a:spcPts val="300"/>
              </a:spcAft>
              <a:buNone/>
            </a:pPr>
            <a:r>
              <a:rPr lang="en-US" sz="1100" b="1" dirty="0">
                <a:solidFill>
                  <a:srgbClr val="C62828"/>
                </a:solidFill>
                <a:latin typeface="Trebuchet MS" pitchFamily="34" charset="0"/>
                <a:ea typeface="Trebuchet MS" pitchFamily="34" charset="-122"/>
                <a:cs typeface="Trebuchet MS" pitchFamily="34" charset="-120"/>
              </a:rPr>
              <a:t>PRF-08 — severity 3</a:t>
            </a:r>
            <a:endParaRPr lang="en-US" sz="1100" dirty="0"/>
          </a:p>
          <a:p>
            <a:pPr indent="0" marL="0">
              <a:lnSpc>
                <a:spcPct val="105000"/>
              </a:lnSpc>
              <a:buNone/>
            </a:pPr>
            <a:r>
              <a:rPr lang="en-US" sz="1100" dirty="0">
                <a:solidFill>
                  <a:srgbClr val="1E293B"/>
                </a:solidFill>
                <a:latin typeface="Calibri" pitchFamily="34" charset="0"/>
                <a:ea typeface="Calibri" pitchFamily="34" charset="-122"/>
                <a:cs typeface="Calibri" pitchFamily="34" charset="-120"/>
              </a:rPr>
              <a:t>No static content is cached at the edge and no compression is configured, so every asset request reaches the origin uncompressed. HTTP/2 is also disabled on the site. Media offload to Blob Storage is enabled, which is the one part of…</a:t>
            </a:r>
            <a:endParaRPr lang="en-US" sz="1100" dirty="0"/>
          </a:p>
        </p:txBody>
      </p:sp>
      <p:sp>
        <p:nvSpPr>
          <p:cNvPr id="30" name="Text 27"/>
          <p:cNvSpPr/>
          <p:nvPr/>
        </p:nvSpPr>
        <p:spPr>
          <a:xfrm>
            <a:off x="640080" y="5989320"/>
            <a:ext cx="109728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9 of 15 controls not decided by collected evidence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Resource-specific controls (Section 7)</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2743200"/>
                <a:gridCol w="777240"/>
                <a:gridCol w="594360"/>
                <a:gridCol w="548640"/>
                <a:gridCol w="548640"/>
                <a:gridCol w="960120"/>
                <a:gridCol w="4800600"/>
              </a:tblGrid>
              <a:tr h="38404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Resource area</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Controls</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Pass</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Fail</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N/A</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Not verified</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Key issue</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App Service plan, web app, slots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No deployment slot exists, so every release restarts the only instance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MySQL Flexible Server</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Burstable tier rules out HA and replicas; no maintenance window is set</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Azure Managed Redis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Correct service and private-only, but WordPress object caching is switched off</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Network (VNet, NSG, PE, DNS)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No NSG flow logs, no DDoS Network Protection, and one unused subnet</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App Insights and Log Analytics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Telemetry is public-ingest and public-query while every data service is private-only</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Communication Services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Managed identity and a scoped custom role; no budget or failed-send alert</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Defender for Cloud and Policy</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Three security recommendations open with no owner or due date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120640"/>
            <a:ext cx="10972800" cy="640080"/>
          </a:xfrm>
          <a:prstGeom prst="rect">
            <a:avLst/>
          </a:prstGeom>
          <a:noFill/>
          <a:ln/>
        </p:spPr>
        <p:txBody>
          <a:bodyPr wrap="square" rtlCol="0" anchor="t"/>
          <a:lstStyle/>
          <a:p>
            <a:pPr indent="0" marL="0">
              <a:lnSpc>
                <a:spcPct val="110000"/>
              </a:lnSpc>
              <a:buNone/>
            </a:pPr>
            <a:r>
              <a:rPr lang="en-US" sz="1100" dirty="0">
                <a:solidFill>
                  <a:srgbClr val="64748B"/>
                </a:solidFill>
                <a:latin typeface="Calibri" pitchFamily="34" charset="0"/>
                <a:ea typeface="Calibri" pitchFamily="34" charset="-122"/>
                <a:cs typeface="Calibri" pitchFamily="34" charset="-120"/>
              </a:rPr>
              <a:t>Key Vault and Front Door have no supplementary controls in Section 7 — they are assessed in full within the Security, Operational Excellence and Performance pillars. 1 resource area is omitted from this table because every one of its controls is N/A: NAT Gateway is not deployed in this workload.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Findings overview</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graphicFrame>
        <p:nvGraphicFramePr>
          <p:cNvPr id="7" name="Chart 0" descr=""/>
          <p:cNvGraphicFramePr/>
          <p:nvPr/>
        </p:nvGraphicFramePr>
        <p:xfrm>
          <a:off x="640080" y="1234440"/>
          <a:ext cx="5394960" cy="402336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640080" y="5303520"/>
            <a:ext cx="539496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Findings by severity — Fail and Not verified combined</a:t>
            </a:r>
            <a:endParaRPr lang="en-US" sz="1000" dirty="0"/>
          </a:p>
        </p:txBody>
      </p:sp>
      <p:sp>
        <p:nvSpPr>
          <p:cNvPr id="9" name="Shape 5"/>
          <p:cNvSpPr/>
          <p:nvPr/>
        </p:nvSpPr>
        <p:spPr>
          <a:xfrm>
            <a:off x="6400800" y="1234440"/>
            <a:ext cx="2468880" cy="1965960"/>
          </a:xfrm>
          <a:prstGeom prst="roundRect">
            <a:avLst>
              <a:gd name="adj" fmla="val 3721"/>
            </a:avLst>
          </a:prstGeom>
          <a:solidFill>
            <a:srgbClr val="F5F7FA"/>
          </a:solidFill>
          <a:ln w="12700">
            <a:solidFill>
              <a:srgbClr val="C62828"/>
            </a:solidFill>
            <a:prstDash val="solid"/>
          </a:ln>
        </p:spPr>
      </p:sp>
      <p:sp>
        <p:nvSpPr>
          <p:cNvPr id="10" name="Text 6"/>
          <p:cNvSpPr/>
          <p:nvPr/>
        </p:nvSpPr>
        <p:spPr>
          <a:xfrm>
            <a:off x="6565392" y="1344168"/>
            <a:ext cx="2139696" cy="320040"/>
          </a:xfrm>
          <a:prstGeom prst="rect">
            <a:avLst/>
          </a:prstGeom>
          <a:noFill/>
          <a:ln/>
        </p:spPr>
        <p:txBody>
          <a:bodyPr wrap="square" rtlCol="0" anchor="ctr"/>
          <a:lstStyle/>
          <a:p>
            <a:pPr indent="0" marL="0">
              <a:buNone/>
            </a:pPr>
            <a:r>
              <a:rPr lang="en-US" sz="1500" b="1" dirty="0">
                <a:solidFill>
                  <a:srgbClr val="C62828"/>
                </a:solidFill>
                <a:latin typeface="Trebuchet MS" pitchFamily="34" charset="0"/>
                <a:ea typeface="Trebuchet MS" pitchFamily="34" charset="-122"/>
                <a:cs typeface="Trebuchet MS" pitchFamily="34" charset="-120"/>
              </a:rPr>
              <a:t>Do now  ·  7</a:t>
            </a:r>
            <a:endParaRPr lang="en-US" sz="1500" dirty="0"/>
          </a:p>
        </p:txBody>
      </p:sp>
      <p:sp>
        <p:nvSpPr>
          <p:cNvPr id="11" name="Text 7"/>
          <p:cNvSpPr/>
          <p:nvPr/>
        </p:nvSpPr>
        <p:spPr>
          <a:xfrm>
            <a:off x="6565392" y="1737360"/>
            <a:ext cx="2139696" cy="1325880"/>
          </a:xfrm>
          <a:prstGeom prst="rect">
            <a:avLst/>
          </a:prstGeom>
          <a:noFill/>
          <a:ln/>
        </p:spPr>
        <p:txBody>
          <a:bodyPr wrap="square" rtlCol="0" anchor="t"/>
          <a:lstStyle/>
          <a:p>
            <a:pPr indent="0" marL="0">
              <a:lnSpc>
                <a:spcPct val="110000"/>
              </a:lnSpc>
              <a:buNone/>
            </a:pPr>
            <a:r>
              <a:rPr lang="en-US" sz="1100" dirty="0">
                <a:solidFill>
                  <a:srgbClr val="1E293B"/>
                </a:solidFill>
                <a:latin typeface="Calibri" pitchFamily="34" charset="0"/>
                <a:ea typeface="Calibri" pitchFamily="34" charset="-122"/>
                <a:cs typeface="Calibri" pitchFamily="34" charset="-120"/>
              </a:rPr>
              <a:t>SEC-14, SEC-20, REL-04, SEC-05, SEC-10, SEC-15, SEC-18</a:t>
            </a:r>
            <a:endParaRPr lang="en-US" sz="1100" dirty="0"/>
          </a:p>
        </p:txBody>
      </p:sp>
      <p:sp>
        <p:nvSpPr>
          <p:cNvPr id="12" name="Shape 8"/>
          <p:cNvSpPr/>
          <p:nvPr/>
        </p:nvSpPr>
        <p:spPr>
          <a:xfrm>
            <a:off x="9144000" y="1234440"/>
            <a:ext cx="2468880" cy="1965960"/>
          </a:xfrm>
          <a:prstGeom prst="roundRect">
            <a:avLst>
              <a:gd name="adj" fmla="val 3721"/>
            </a:avLst>
          </a:prstGeom>
          <a:solidFill>
            <a:srgbClr val="F5F7FA"/>
          </a:solidFill>
          <a:ln w="12700">
            <a:solidFill>
              <a:srgbClr val="E8A33D"/>
            </a:solidFill>
            <a:prstDash val="solid"/>
          </a:ln>
        </p:spPr>
      </p:sp>
      <p:sp>
        <p:nvSpPr>
          <p:cNvPr id="13" name="Text 9"/>
          <p:cNvSpPr/>
          <p:nvPr/>
        </p:nvSpPr>
        <p:spPr>
          <a:xfrm>
            <a:off x="9308592" y="1344168"/>
            <a:ext cx="2139696" cy="320040"/>
          </a:xfrm>
          <a:prstGeom prst="rect">
            <a:avLst/>
          </a:prstGeom>
          <a:noFill/>
          <a:ln/>
        </p:spPr>
        <p:txBody>
          <a:bodyPr wrap="square" rtlCol="0" anchor="ctr"/>
          <a:lstStyle/>
          <a:p>
            <a:pPr indent="0" marL="0">
              <a:buNone/>
            </a:pPr>
            <a:r>
              <a:rPr lang="en-US" sz="1500" b="1" dirty="0">
                <a:solidFill>
                  <a:srgbClr val="E8A33D"/>
                </a:solidFill>
                <a:latin typeface="Trebuchet MS" pitchFamily="34" charset="0"/>
                <a:ea typeface="Trebuchet MS" pitchFamily="34" charset="-122"/>
                <a:cs typeface="Trebuchet MS" pitchFamily="34" charset="-120"/>
              </a:rPr>
              <a:t>Plan  ·  22</a:t>
            </a:r>
            <a:endParaRPr lang="en-US" sz="1500" dirty="0"/>
          </a:p>
        </p:txBody>
      </p:sp>
      <p:sp>
        <p:nvSpPr>
          <p:cNvPr id="14" name="Text 10"/>
          <p:cNvSpPr/>
          <p:nvPr/>
        </p:nvSpPr>
        <p:spPr>
          <a:xfrm>
            <a:off x="9308592" y="1737360"/>
            <a:ext cx="2139696" cy="1325880"/>
          </a:xfrm>
          <a:prstGeom prst="rect">
            <a:avLst/>
          </a:prstGeom>
          <a:noFill/>
          <a:ln/>
        </p:spPr>
        <p:txBody>
          <a:bodyPr wrap="square" rtlCol="0" anchor="t"/>
          <a:lstStyle/>
          <a:p>
            <a:pPr indent="0" marL="0">
              <a:lnSpc>
                <a:spcPct val="110000"/>
              </a:lnSpc>
              <a:buNone/>
            </a:pPr>
            <a:r>
              <a:rPr lang="en-US" sz="1100" dirty="0">
                <a:solidFill>
                  <a:srgbClr val="1E293B"/>
                </a:solidFill>
                <a:latin typeface="Calibri" pitchFamily="34" charset="0"/>
                <a:ea typeface="Calibri" pitchFamily="34" charset="-122"/>
                <a:cs typeface="Calibri" pitchFamily="34" charset="-120"/>
              </a:rPr>
              <a:t>SEC-07, SEC-08, MAN-07, OPS-09, PRF-03, REL-03, REL-06, REL-08, +14 more</a:t>
            </a:r>
            <a:endParaRPr lang="en-US" sz="1100" dirty="0"/>
          </a:p>
        </p:txBody>
      </p:sp>
      <p:sp>
        <p:nvSpPr>
          <p:cNvPr id="15" name="Shape 11"/>
          <p:cNvSpPr/>
          <p:nvPr/>
        </p:nvSpPr>
        <p:spPr>
          <a:xfrm>
            <a:off x="6400800" y="3474720"/>
            <a:ext cx="2468880" cy="1965960"/>
          </a:xfrm>
          <a:prstGeom prst="roundRect">
            <a:avLst>
              <a:gd name="adj" fmla="val 3721"/>
            </a:avLst>
          </a:prstGeom>
          <a:solidFill>
            <a:srgbClr val="F5F7FA"/>
          </a:solidFill>
          <a:ln w="12700">
            <a:solidFill>
              <a:srgbClr val="4F7CAC"/>
            </a:solidFill>
            <a:prstDash val="solid"/>
          </a:ln>
        </p:spPr>
      </p:sp>
      <p:sp>
        <p:nvSpPr>
          <p:cNvPr id="16" name="Text 12"/>
          <p:cNvSpPr/>
          <p:nvPr/>
        </p:nvSpPr>
        <p:spPr>
          <a:xfrm>
            <a:off x="6565392" y="3584448"/>
            <a:ext cx="2139696" cy="320040"/>
          </a:xfrm>
          <a:prstGeom prst="rect">
            <a:avLst/>
          </a:prstGeom>
          <a:noFill/>
          <a:ln/>
        </p:spPr>
        <p:txBody>
          <a:bodyPr wrap="square" rtlCol="0" anchor="ctr"/>
          <a:lstStyle/>
          <a:p>
            <a:pPr indent="0" marL="0">
              <a:buNone/>
            </a:pPr>
            <a:r>
              <a:rPr lang="en-US" sz="1500" b="1" dirty="0">
                <a:solidFill>
                  <a:srgbClr val="4F7CAC"/>
                </a:solidFill>
                <a:latin typeface="Trebuchet MS" pitchFamily="34" charset="0"/>
                <a:ea typeface="Trebuchet MS" pitchFamily="34" charset="-122"/>
                <a:cs typeface="Trebuchet MS" pitchFamily="34" charset="-120"/>
              </a:rPr>
              <a:t>Schedule  ·  49</a:t>
            </a:r>
            <a:endParaRPr lang="en-US" sz="1500" dirty="0"/>
          </a:p>
        </p:txBody>
      </p:sp>
      <p:sp>
        <p:nvSpPr>
          <p:cNvPr id="17" name="Text 13"/>
          <p:cNvSpPr/>
          <p:nvPr/>
        </p:nvSpPr>
        <p:spPr>
          <a:xfrm>
            <a:off x="6565392" y="3977640"/>
            <a:ext cx="2139696" cy="1325880"/>
          </a:xfrm>
          <a:prstGeom prst="rect">
            <a:avLst/>
          </a:prstGeom>
          <a:noFill/>
          <a:ln/>
        </p:spPr>
        <p:txBody>
          <a:bodyPr wrap="square" rtlCol="0" anchor="t"/>
          <a:lstStyle/>
          <a:p>
            <a:pPr indent="0" marL="0">
              <a:lnSpc>
                <a:spcPct val="110000"/>
              </a:lnSpc>
              <a:buNone/>
            </a:pPr>
            <a:r>
              <a:rPr lang="en-US" sz="1100" dirty="0">
                <a:solidFill>
                  <a:srgbClr val="1E293B"/>
                </a:solidFill>
                <a:latin typeface="Calibri" pitchFamily="34" charset="0"/>
                <a:ea typeface="Calibri" pitchFamily="34" charset="-122"/>
                <a:cs typeface="Calibri" pitchFamily="34" charset="-120"/>
              </a:rPr>
              <a:t>CST-08, DEF-06, FND-10, FND-11, MON-02, MON-04, NET-04, OPS-04, +41 more</a:t>
            </a:r>
            <a:endParaRPr lang="en-US" sz="1100" dirty="0"/>
          </a:p>
        </p:txBody>
      </p:sp>
      <p:sp>
        <p:nvSpPr>
          <p:cNvPr id="18" name="Shape 14"/>
          <p:cNvSpPr/>
          <p:nvPr/>
        </p:nvSpPr>
        <p:spPr>
          <a:xfrm>
            <a:off x="9144000" y="3474720"/>
            <a:ext cx="2468880" cy="1965960"/>
          </a:xfrm>
          <a:prstGeom prst="roundRect">
            <a:avLst>
              <a:gd name="adj" fmla="val 3721"/>
            </a:avLst>
          </a:prstGeom>
          <a:solidFill>
            <a:srgbClr val="F5F7FA"/>
          </a:solidFill>
          <a:ln w="12700">
            <a:solidFill>
              <a:srgbClr val="607D8B"/>
            </a:solidFill>
            <a:prstDash val="solid"/>
          </a:ln>
        </p:spPr>
      </p:sp>
      <p:sp>
        <p:nvSpPr>
          <p:cNvPr id="19" name="Text 15"/>
          <p:cNvSpPr/>
          <p:nvPr/>
        </p:nvSpPr>
        <p:spPr>
          <a:xfrm>
            <a:off x="9308592" y="3584448"/>
            <a:ext cx="2139696" cy="320040"/>
          </a:xfrm>
          <a:prstGeom prst="rect">
            <a:avLst/>
          </a:prstGeom>
          <a:noFill/>
          <a:ln/>
        </p:spPr>
        <p:txBody>
          <a:bodyPr wrap="square" rtlCol="0" anchor="ctr"/>
          <a:lstStyle/>
          <a:p>
            <a:pPr indent="0" marL="0">
              <a:buNone/>
            </a:pPr>
            <a:r>
              <a:rPr lang="en-US" sz="1500" b="1" dirty="0">
                <a:solidFill>
                  <a:srgbClr val="607D8B"/>
                </a:solidFill>
                <a:latin typeface="Trebuchet MS" pitchFamily="34" charset="0"/>
                <a:ea typeface="Trebuchet MS" pitchFamily="34" charset="-122"/>
                <a:cs typeface="Trebuchet MS" pitchFamily="34" charset="-120"/>
              </a:rPr>
              <a:t>Backlog  ·  42</a:t>
            </a:r>
            <a:endParaRPr lang="en-US" sz="1500" dirty="0"/>
          </a:p>
        </p:txBody>
      </p:sp>
      <p:sp>
        <p:nvSpPr>
          <p:cNvPr id="20" name="Text 16"/>
          <p:cNvSpPr/>
          <p:nvPr/>
        </p:nvSpPr>
        <p:spPr>
          <a:xfrm>
            <a:off x="9308592" y="3977640"/>
            <a:ext cx="2139696" cy="1325880"/>
          </a:xfrm>
          <a:prstGeom prst="rect">
            <a:avLst/>
          </a:prstGeom>
          <a:noFill/>
          <a:ln/>
        </p:spPr>
        <p:txBody>
          <a:bodyPr wrap="square" rtlCol="0" anchor="t"/>
          <a:lstStyle/>
          <a:p>
            <a:pPr indent="0" marL="0">
              <a:lnSpc>
                <a:spcPct val="110000"/>
              </a:lnSpc>
              <a:buNone/>
            </a:pPr>
            <a:r>
              <a:rPr lang="en-US" sz="1100" dirty="0">
                <a:solidFill>
                  <a:srgbClr val="1E293B"/>
                </a:solidFill>
                <a:latin typeface="Calibri" pitchFamily="34" charset="0"/>
                <a:ea typeface="Calibri" pitchFamily="34" charset="-122"/>
                <a:cs typeface="Calibri" pitchFamily="34" charset="-120"/>
              </a:rPr>
              <a:t>ACS-05, CST-05, CST-07, DEF-02, FND-12, MON-06, NET-06, SQL-02, +34 more</a:t>
            </a:r>
            <a:endParaRPr lang="en-US" sz="1100" dirty="0"/>
          </a:p>
        </p:txBody>
      </p:sp>
      <p:sp>
        <p:nvSpPr>
          <p:cNvPr id="21" name="Text 17"/>
          <p:cNvSpPr/>
          <p:nvPr/>
        </p:nvSpPr>
        <p:spPr>
          <a:xfrm>
            <a:off x="6400800" y="5394960"/>
            <a:ext cx="5212080" cy="457200"/>
          </a:xfrm>
          <a:prstGeom prst="rect">
            <a:avLst/>
          </a:prstGeom>
          <a:noFill/>
          <a:ln/>
        </p:spPr>
        <p:txBody>
          <a:bodyPr wrap="square" rtlCol="0" anchor="t"/>
          <a:lstStyle/>
          <a:p>
            <a:pPr indent="0" marL="0">
              <a:lnSpc>
                <a:spcPct val="110000"/>
              </a:lnSpc>
              <a:buNone/>
            </a:pPr>
            <a:r>
              <a:rPr lang="en-US" sz="1100" dirty="0">
                <a:solidFill>
                  <a:srgbClr val="64748B"/>
                </a:solidFill>
                <a:latin typeface="Calibri" pitchFamily="34" charset="0"/>
                <a:ea typeface="Calibri" pitchFamily="34" charset="-122"/>
                <a:cs typeface="Calibri" pitchFamily="34" charset="-120"/>
              </a:rPr>
              <a:t>120 findings in total — 43 failed controls and 77 not verified. Not-verified findings carry a verification action, not a fix.</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C62828"/>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C62828"/>
                </a:solidFill>
                <a:latin typeface="Trebuchet MS" pitchFamily="34" charset="0"/>
                <a:ea typeface="Trebuchet MS" pitchFamily="34" charset="-122"/>
                <a:cs typeface="Trebuchet MS" pitchFamily="34" charset="-120"/>
              </a:rPr>
              <a:t>F-001 · SEC-07</a:t>
            </a:r>
            <a:pPr indent="0" marL="0">
              <a:lnSpc>
                <a:spcPct val="98000"/>
              </a:lnSpc>
              <a:buNone/>
            </a:pPr>
            <a:r>
              <a:rPr lang="en-US" sz="1000" b="1" dirty="0">
                <a:solidFill>
                  <a:srgbClr val="C62828"/>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Put Front Door Standard or Premium with WAF in front of the public site; a…</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Front Door is deployed with a WAF policy correctly associated to the endpoint for /*, but the policy runs in Detection mode, so it logs matches and blocks nothing.</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The public entry point to the site records attacks but blocks none of them, so a routine automated scan can reach WordPress unimpeded.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Upgrade the profile to Front Door Premium, tune the managed rule set in Detection, then switch the policy to Prevention.</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C62828"/>
                </a:solidFill>
                <a:latin typeface="Calibri" pitchFamily="34" charset="0"/>
                <a:ea typeface="Calibri" pitchFamily="34" charset="-122"/>
                <a:cs typeface="Calibri" pitchFamily="34" charset="-120"/>
              </a:rPr>
              <a:t>Sev 5 · Effort 3 · Risk 3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C62828"/>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C62828"/>
                </a:solidFill>
                <a:latin typeface="Trebuchet MS" pitchFamily="34" charset="0"/>
                <a:ea typeface="Trebuchet MS" pitchFamily="34" charset="-122"/>
                <a:cs typeface="Trebuchet MS" pitchFamily="34" charset="-120"/>
              </a:rPr>
              <a:t>F-002 · SEC-08</a:t>
            </a:r>
            <a:pPr indent="0" marL="0">
              <a:lnSpc>
                <a:spcPct val="98000"/>
              </a:lnSpc>
              <a:buNone/>
            </a:pPr>
            <a:r>
              <a:rPr lang="en-US" sz="1000" b="1" dirty="0">
                <a:solidFill>
                  <a:srgbClr val="C62828"/>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Current managed WAF rules, bot protection where supported, targeted rate l…</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 WAF policy contains no managed rule sets and no custom rules at all, so even in Prevention mode it would inspect nothing.</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With no managed rule sets attached, the WAF cannot recognise SQL injection, cross-site scripting, or known WordPress exploits at all.</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Attach the current Microsoft Default rule set and Bot Manager rule set, add rate limiting for login and XML-RPC paths, and evaluate DDoS Network…</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C62828"/>
                </a:solidFill>
                <a:latin typeface="Calibri" pitchFamily="34" charset="0"/>
                <a:ea typeface="Calibri" pitchFamily="34" charset="-122"/>
                <a:cs typeface="Calibri" pitchFamily="34" charset="-120"/>
              </a:rPr>
              <a:t>Sev 5 · Effort 3 · Risk 3 · Cost 1</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C62828"/>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C62828"/>
                </a:solidFill>
                <a:latin typeface="Trebuchet MS" pitchFamily="34" charset="0"/>
                <a:ea typeface="Trebuchet MS" pitchFamily="34" charset="-122"/>
                <a:cs typeface="Trebuchet MS" pitchFamily="34" charset="-120"/>
              </a:rPr>
              <a:t>F-003 · SEC-14</a:t>
            </a:r>
            <a:pPr indent="0" marL="0">
              <a:lnSpc>
                <a:spcPct val="98000"/>
              </a:lnSpc>
              <a:buNone/>
            </a:pPr>
            <a:r>
              <a:rPr lang="en-US" sz="1000" b="1" dirty="0">
                <a:solidFill>
                  <a:srgbClr val="C62828"/>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WordPress salts, keys, database settings, SMTP credentials, certificates…</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A WordPress administrator password is stored in clear text as an App Service connection string rather than in Key Vault, readable by anyone with Contributor rights on the site or access to a configuration export.</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A working administrator password is readable by anyone with configuration access to the web app, and it has no expiry or rotation behind it.</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Remove the administrator credential from App Service configuration, rotate it immediately, move it to Key Vault behind a reference, and set expiry with…</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C62828"/>
                </a:solidFill>
                <a:latin typeface="Calibri" pitchFamily="34" charset="0"/>
                <a:ea typeface="Calibri" pitchFamily="34" charset="-122"/>
                <a:cs typeface="Calibri" pitchFamily="34" charset="-120"/>
              </a:rPr>
              <a:t>Sev 5 · Effort 2 · Risk 3 · Cost 1</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C62828"/>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C62828"/>
                </a:solidFill>
                <a:latin typeface="Trebuchet MS" pitchFamily="34" charset="0"/>
                <a:ea typeface="Trebuchet MS" pitchFamily="34" charset="-122"/>
                <a:cs typeface="Trebuchet MS" pitchFamily="34" charset="-120"/>
              </a:rPr>
              <a:t>F-004 · SEC-20</a:t>
            </a:r>
            <a:pPr indent="0" marL="0">
              <a:lnSpc>
                <a:spcPct val="98000"/>
              </a:lnSpc>
              <a:buNone/>
            </a:pPr>
            <a:r>
              <a:rPr lang="en-US" sz="1000" b="1" dirty="0">
                <a:solidFill>
                  <a:srgbClr val="C62828"/>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Least-privilege WordPress roles, individual administrators, strong authent…</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 workload carries a single shared bootstrap administrator account whose username, contact address, and static password are held in platform configuration.</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A shared administrator account means privileged actions cannot be attributed to a person, and offboarding does not remove access.</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Replace the shared account with named administrators, enforce strong authentication, remove the bootstrap credential from configuration, and audit…</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C62828"/>
                </a:solidFill>
                <a:latin typeface="Calibri" pitchFamily="34" charset="0"/>
                <a:ea typeface="Calibri" pitchFamily="34" charset="-122"/>
                <a:cs typeface="Calibri" pitchFamily="34" charset="-120"/>
              </a:rPr>
              <a:t>Sev 5 · Effort 2 · Risk 3 · Cost 1</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607D8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F-005 · MAN-07</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Direct-origin bypass, WAF enforcement, authentication, authorizatio…</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penetration testing, direct-origin bypass attempt, WAF enforcement verification, authentication or authorization testing, WordPress admin protection test, or security-alert response drill was evidenced.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Commission an origin-bypass and WAF-enforcement test after moving the policy to Prevention, and rehearse the security-alert response path.</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5 · Effort 3 · Risk 3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E2593B"/>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F-006 · OPS-09</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Actionable alerts with owners, severity, routing, deduplication, runbooks…</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 only alerting asset is the auto-created Failure Anomalies smart detector.</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There are no alerts and no action group, so an outage or security event is discovered by a customer rather than by the team.</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Create an action group with an accountable owner and define alerts for SLO symptoms, dependency health, secret and certificate expiry, and quota.</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3 · Risk 3 · Cost 1</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Operations</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E2593B"/>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F-007 · PRF-03</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Select App Service, MySQL, Redis, storage, and Front Door SKUs/tier featur…</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 selected tiers cannot meet a production performance or availability target as configured.</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Current compute and database tiers cannot sustain production load, and the 32-bit worker process caps addressable memory at 2 GB.</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Re-select tiers against agreed targets: multi-worker zone-redundant Premium v3, General Purpose MySQL, a Redis size with HA, and Front Door Premium.</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3 · Risk 4 · Cost 4</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Performance</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E2593B"/>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F-008 · REL-03</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Production on at least two App Service instances; use zone redundancy and…</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 plan runs a single worker with zone redundancy disabled, so any instance or zone fault takes the site offline.</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A single worker on a non-zone-redundant plan means any instance or datacentre fault takes the site offline with no automatic recovery.</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Scale the Premium v3 plan to at least two workers and enable zone redundancy in South Africa North, sized against an agreed SLO.</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3 · Risk 3 · Cost 4</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E2593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F-009 · REL-04</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Always On and use a fast, dependency-aware Health Check endpoint that remo…</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Always On is off, so the container unloads when idle and the first request after idling pays a full cold start (the start-time limit is raised to 1800 seconds).</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Without Always On, a health check, or auto-heal, the site cold-starts after idle and an unhealthy instance keeps serving traffic.</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Enable Always On, publish a lightweight dependency-aware health-check endpoint, and configure auto-heal rules for slow requests, memory, and HTTP error…</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2 · Risk 4 · Cost 4</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E2593B"/>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F-010 · REL-06</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Configure tested autoscale with minimum, maximum, triggers, cooldowns, quo…</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autoscale profile exists and the plan's maximum worker count is one, so the workload cannot scale out under load or scale in to save cost.</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No autoscale rule exists, so a traffic spike degrades or fails rather than adding capacity.</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Define and load-test an autoscale rule with a minimum of two instances, explicit triggers, cooldowns, and headroom.</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3 · Risk 2 · Cost 2</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E2593B"/>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F-011 · REL-08</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Configure MySQL HA, backup retention, and geo-redundant backup according t…</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High availability is disabled, backup retention is the 7-day default, and geo-redundant backup is off.</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The database has no high availability, seven-day backup retention, and no geo-redundant backup, so a regional or server failure means extended downtime and…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Move to a General Purpose tier, enable zone-redundant HA, and set backup retention and geo-redundancy from an agreed RPO.</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3 · Risk 4 · Cost 5</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E2593B"/>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F-012 · SEC-05</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Disable App Service basic publishing credentials, SCM basic authentication…</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Remote debugging is off and FTP is restricted to FTPS only, but the SCM/Kudu endpoint accepts traffic from any address.</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The deployment endpoint accepts connections from any address on the internet, giving an attacker a direct route to publish code.</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Set the SCM default action to Deny, allow only the deployment agent ranges, and disable basic publishing credentials and SCM basic authentication.</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2 · Risk 2 · Cost 1</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E2593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F-013 · SEC-10</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WordPress login and administration paths using WAF and application control…</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WAF custom rules protect wp-login.php, wp-admin, xmlrpc.php, or admin-ajax.php, and phpMyAdmin is enabled on the site container, adding a second administrative surface behind the same unprotected path set.</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A database administration console is exposed on the site with no additional protection on its path.</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Add WAF rate-limit and geo/IP match rules for the WordPress administration paths, and disable phpMyAdmin or restrict it to a maintenance window.</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2 · Risk 2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E2593B"/>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F-014 · SEC-15</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Harden Key Vault with RBAC, least privilege, purge protection, soft delete…</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 vault is well configured in most respects - RBAC authorization, soft delete, deny-by-default network ACLs, private endpoint, and audit diagnostics to Log Analytics - but purge protection is not enabled, so a…</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A deleted vault or secret can be purged before the retention period expires, making an accidental or malicious deletion unrecoverable.</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Enable purge protection and raise soft-delete retention to at least 90 days. Purge protection cannot be disabled once set, so confirm the recovery…</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2 · Risk 2 · Cost 1</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E2593B"/>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E2593B"/>
                </a:solidFill>
                <a:latin typeface="Trebuchet MS" pitchFamily="34" charset="0"/>
                <a:ea typeface="Trebuchet MS" pitchFamily="34" charset="-122"/>
                <a:cs typeface="Trebuchet MS" pitchFamily="34" charset="-120"/>
              </a:rPr>
              <a:t>F-015 · SEC-18</a:t>
            </a:r>
            <a:pPr indent="0" marL="0">
              <a:lnSpc>
                <a:spcPct val="98000"/>
              </a:lnSpc>
              <a:buNone/>
            </a:pPr>
            <a:r>
              <a:rPr lang="en-US" sz="1000" b="1" dirty="0">
                <a:solidFill>
                  <a:srgbClr val="E2593B"/>
                </a:solidFill>
                <a:latin typeface="Calibri" pitchFamily="34" charset="0"/>
                <a:ea typeface="Calibri" pitchFamily="34" charset="-122"/>
                <a:cs typeface="Calibri" pitchFamily="34" charset="-120"/>
              </a:rPr>
              <a:t>   Fail</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WordPress application settings: disable WP_DEBUG in production, set DIS…</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phpMyAdmin is enabled, exposing a database administration console on the public site.</a:t>
            </a:r>
            <a:endParaRPr lang="en-US" sz="1100" dirty="0"/>
          </a:p>
          <a:p>
            <a:pPr indent="0" marL="0">
              <a:lnSpc>
                <a:spcPct val="98000"/>
              </a:lnSpc>
              <a:buNone/>
            </a:pPr>
            <a:r>
              <a:rPr lang="en-US" sz="1000" b="1" dirty="0">
                <a:solidFill>
                  <a:srgbClr val="64748B"/>
                </a:solidFill>
                <a:latin typeface="Calibri" pitchFamily="34" charset="0"/>
                <a:ea typeface="Calibri" pitchFamily="34" charset="-122"/>
                <a:cs typeface="Calibri" pitchFamily="34" charset="-120"/>
              </a:rPr>
              <a:t>Impact: </a:t>
            </a:r>
            <a:pPr indent="0" marL="0">
              <a:lnSpc>
                <a:spcPct val="98000"/>
              </a:lnSpc>
              <a:buNone/>
            </a:pPr>
            <a:r>
              <a:rPr lang="en-US" sz="1000" dirty="0">
                <a:solidFill>
                  <a:srgbClr val="64748B"/>
                </a:solidFill>
                <a:latin typeface="Calibri" pitchFamily="34" charset="0"/>
                <a:ea typeface="Calibri" pitchFamily="34" charset="-122"/>
                <a:cs typeface="Calibri" pitchFamily="34" charset="-120"/>
              </a:rPr>
              <a:t>The WordPress login and admin paths receive no rate limiting or geographic restriction, leaving credential-stuffing unchecked.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Action: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Disable phpMyAdmin, set DISALLOW_FILE_EDIT and DISALLOW_FILE_MODS, and confirm XML-RPC and application passwords are blocked or restricted.</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E2593B"/>
                </a:solidFill>
                <a:latin typeface="Calibri" pitchFamily="34" charset="0"/>
                <a:ea typeface="Calibri" pitchFamily="34" charset="-122"/>
                <a:cs typeface="Calibri" pitchFamily="34" charset="-120"/>
              </a:rPr>
              <a:t>Sev 4 · Effort 2 · Risk 2 · Cost 1</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607D8B"/>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F-016 · FND-03</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Rate critical flows and define measurable SLOs, SLIs, RTOs, RPOs, a…</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SLO, SLI, RTO, RPO, or accepted-risk statement was provided, so every redundancy and backup setting in this review is assessed against Azure defaults rather than business targets.</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Agree measurable SLOs and recovery targets with the business owner before accepting the current single-instance, 7-day-retention design.</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Foundations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607D8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F-017 · MAN-01</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Critical flows, dependencies, SLOs/SLIs, RTOs/RPOs, and accepted ri…</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critical user flows, service-level objectives or indicators, recovery time or recovery point objectives, dependency map, or accepted-risk register was provided.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Hold a workshop with the business owner to agree critical flows, SLOs/SLIs, RTO/RPO, and an accepted-risk register, then re-score Sections 2 and 6 against those targets.</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607D8B"/>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F-018 · MAN-02</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Whole-workload restore and recovery for database, uploads, applicat…</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Backup configuration for MySQL could not be read because the server is stopped, and no restore of the database, media uploads, application configuration, secrets, DNS, certificates, edge routing, or network policy has been evidenced.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Run a full workload restore rehearsal into an isolated environment, time it against the agreed RTO/RPO, and record the result.</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4 · Risk 3 · Cost 1</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607D8B"/>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F-019 · MAN-04</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Entra tenant controls, Azure RBAC, PIM/JIT, MFA, Conditional Access…</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role assignments were returned at resource-group scope, and no evidence covers Entra tenant controls, Privileged Identity Management, multifactor authentication, Conditional Access, break-glass accounts, MySQL role grants, or access-review outcomes.</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Export Azure RBAC at subscription and resource-group scope, confirm PIM and Conditional Access coverage for privileged roles, and run a documented access review.</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607D8B"/>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F-020 · MAN-05</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WordPress core, plugin, theme, package, container, and IaC vulnerab…</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WordPress core, plugin, theme, package, container image, or infrastructure-as-code scanning evidence was supplied, and no vulnerability or secret-scanning results, provenance attestation, patch cadence, or named owner exists in the collected data.</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Introduce dependency and secret scanning across the WordPress and IaC repositories, with a named owner and an agreed remediation window by severity.</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607D8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F-021 · MAN-06</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Secret, certificate, key, and credential rotation, including depend…</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rotation has been exercised for secrets, certificates, keys, or credentials, and no dependent-application validation or emergency access procedure was evidenced.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Set expiry on all Key Vault secrets, rehearse a rotation including application revalidation, and document the emergency access path.</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607D8B"/>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F-022 · MAN-08</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IaC, peer review, policy checks, pipeline promotion, safe release…</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infrastructure-as-code repository, peer-review process, policy gate, pipeline promotion path, safe-release strategy, rollback procedure, or drift detection was evidenced.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Bring the workload under infrastructure as code with peer review and policy checks, and add drift detection against the deployed state.</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4 · Risk 3 · Cost 1</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Operations</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607D8B"/>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F-023 · MAN-09</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Alert ownership, SLO/symptom coverage, action groups, dashboards, r…</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There are no alert rules and no action groups in the workload, so there is nothing to test for ownership, symptom coverage, routing, or notification delivery.</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Build a symptom-based alert set tied to the agreed SLOs, route it to an owned action group, and test notification delivery end to end.</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Operations</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607D8B"/>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F-024 · MAN-10</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Load, stress, soak, scalability, cache-invalidation, and failure-mo…</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load, stress, soak, scalability, cache-invalidation, or failure-mode testing was evidenced, and no production-like environment exists in the collected inventory.</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Establish a production-like environment and load-test the critical flows, including cache invalidation behaviour, before any production traffic commitment.</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4 · Risk 3 · Cost 1</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Performance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607D8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F-025 · MAN-12</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WordPress operational governance for approved plugins/themes, stagi…</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governance evidence was supplied for approved plugins and themes, staging validation, administrator access management, privacy and consent handling, PII processing, or email deliverability monitoring.</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Define an approved plugin and theme list with a staging validation gate, move administrators to named accounts, and monitor email deliverability and bounce rates.</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Operations</a:t>
            </a:r>
            <a:endParaRPr lang="en-US" sz="1000" dirty="0"/>
          </a:p>
        </p:txBody>
      </p:sp>
      <p:sp>
        <p:nvSpPr>
          <p:cNvPr id="12" name="Shape 9"/>
          <p:cNvSpPr/>
          <p:nvPr/>
        </p:nvSpPr>
        <p:spPr>
          <a:xfrm>
            <a:off x="640080" y="2414016"/>
            <a:ext cx="10972800" cy="1097280"/>
          </a:xfrm>
          <a:prstGeom prst="roundRect">
            <a:avLst>
              <a:gd name="adj" fmla="val 5000"/>
            </a:avLst>
          </a:prstGeom>
          <a:solidFill>
            <a:srgbClr val="F5F7FA"/>
          </a:solidFill>
          <a:ln w="12700">
            <a:solidFill>
              <a:srgbClr val="E2E8F0"/>
            </a:solidFill>
            <a:prstDash val="solid"/>
          </a:ln>
        </p:spPr>
      </p:sp>
      <p:sp>
        <p:nvSpPr>
          <p:cNvPr id="13" name="Shape 10"/>
          <p:cNvSpPr/>
          <p:nvPr/>
        </p:nvSpPr>
        <p:spPr>
          <a:xfrm>
            <a:off x="640080" y="2414016"/>
            <a:ext cx="64008" cy="1097280"/>
          </a:xfrm>
          <a:prstGeom prst="rect">
            <a:avLst/>
          </a:prstGeom>
          <a:solidFill>
            <a:srgbClr val="607D8B"/>
          </a:solidFill>
          <a:ln/>
        </p:spPr>
      </p:sp>
      <p:sp>
        <p:nvSpPr>
          <p:cNvPr id="14" name="Text 11"/>
          <p:cNvSpPr/>
          <p:nvPr/>
        </p:nvSpPr>
        <p:spPr>
          <a:xfrm>
            <a:off x="841248" y="2478024"/>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F-026 · REL-09</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A consistent recovery set for database, uploads/media, application…</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recovery-set definition was supplied covering database, uploads, configuration, secrets, DNS, certificates, edge routing, and network policy as a consistent unit.</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Define a single recovery set and runbook, using MySQL native point-in-time restore for the database rather than App Service backup.</a:t>
            </a:r>
            <a:endParaRPr lang="en-US" sz="1100" dirty="0"/>
          </a:p>
        </p:txBody>
      </p:sp>
      <p:sp>
        <p:nvSpPr>
          <p:cNvPr id="15" name="Text 12"/>
          <p:cNvSpPr/>
          <p:nvPr/>
        </p:nvSpPr>
        <p:spPr>
          <a:xfrm>
            <a:off x="9646920" y="2478024"/>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16" name="Text 13"/>
          <p:cNvSpPr/>
          <p:nvPr/>
        </p:nvSpPr>
        <p:spPr>
          <a:xfrm>
            <a:off x="9646920" y="2761488"/>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17" name="Shape 14"/>
          <p:cNvSpPr/>
          <p:nvPr/>
        </p:nvSpPr>
        <p:spPr>
          <a:xfrm>
            <a:off x="640080" y="3639312"/>
            <a:ext cx="10972800" cy="1097280"/>
          </a:xfrm>
          <a:prstGeom prst="roundRect">
            <a:avLst>
              <a:gd name="adj" fmla="val 5000"/>
            </a:avLst>
          </a:prstGeom>
          <a:solidFill>
            <a:srgbClr val="F5F7FA"/>
          </a:solidFill>
          <a:ln w="12700">
            <a:solidFill>
              <a:srgbClr val="E2E8F0"/>
            </a:solidFill>
            <a:prstDash val="solid"/>
          </a:ln>
        </p:spPr>
      </p:sp>
      <p:sp>
        <p:nvSpPr>
          <p:cNvPr id="18" name="Shape 15"/>
          <p:cNvSpPr/>
          <p:nvPr/>
        </p:nvSpPr>
        <p:spPr>
          <a:xfrm>
            <a:off x="640080" y="3639312"/>
            <a:ext cx="64008" cy="1097280"/>
          </a:xfrm>
          <a:prstGeom prst="rect">
            <a:avLst/>
          </a:prstGeom>
          <a:solidFill>
            <a:srgbClr val="607D8B"/>
          </a:solidFill>
          <a:ln/>
        </p:spPr>
      </p:sp>
      <p:sp>
        <p:nvSpPr>
          <p:cNvPr id="19" name="Text 16"/>
          <p:cNvSpPr/>
          <p:nvPr/>
        </p:nvSpPr>
        <p:spPr>
          <a:xfrm>
            <a:off x="841248" y="3703320"/>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F-027 · REL-10</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Point-in-time restore, application/media restore, cache loss, slot…</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dated restore, cache-loss, slot-rollback, or regional-recovery exercise report was supplied.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Perform and document a full restore exercise, measuring achieved RTO and RPO against the agreed targets.</a:t>
            </a:r>
            <a:endParaRPr lang="en-US" sz="1100" dirty="0"/>
          </a:p>
        </p:txBody>
      </p:sp>
      <p:sp>
        <p:nvSpPr>
          <p:cNvPr id="20" name="Text 17"/>
          <p:cNvSpPr/>
          <p:nvPr/>
        </p:nvSpPr>
        <p:spPr>
          <a:xfrm>
            <a:off x="9646920" y="3703320"/>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21" name="Text 18"/>
          <p:cNvSpPr/>
          <p:nvPr/>
        </p:nvSpPr>
        <p:spPr>
          <a:xfrm>
            <a:off x="9646920" y="3986784"/>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Reliability</a:t>
            </a:r>
            <a:endParaRPr lang="en-US" sz="1000" dirty="0"/>
          </a:p>
        </p:txBody>
      </p:sp>
      <p:sp>
        <p:nvSpPr>
          <p:cNvPr id="22" name="Shape 19"/>
          <p:cNvSpPr/>
          <p:nvPr/>
        </p:nvSpPr>
        <p:spPr>
          <a:xfrm>
            <a:off x="640080" y="4864608"/>
            <a:ext cx="10972800" cy="1097280"/>
          </a:xfrm>
          <a:prstGeom prst="roundRect">
            <a:avLst>
              <a:gd name="adj" fmla="val 5000"/>
            </a:avLst>
          </a:prstGeom>
          <a:solidFill>
            <a:srgbClr val="F5F7FA"/>
          </a:solidFill>
          <a:ln w="12700">
            <a:solidFill>
              <a:srgbClr val="E2E8F0"/>
            </a:solidFill>
            <a:prstDash val="solid"/>
          </a:ln>
        </p:spPr>
      </p:sp>
      <p:sp>
        <p:nvSpPr>
          <p:cNvPr id="23" name="Shape 20"/>
          <p:cNvSpPr/>
          <p:nvPr/>
        </p:nvSpPr>
        <p:spPr>
          <a:xfrm>
            <a:off x="640080" y="4864608"/>
            <a:ext cx="64008" cy="1097280"/>
          </a:xfrm>
          <a:prstGeom prst="rect">
            <a:avLst/>
          </a:prstGeom>
          <a:solidFill>
            <a:srgbClr val="607D8B"/>
          </a:solidFill>
          <a:ln/>
        </p:spPr>
      </p:sp>
      <p:sp>
        <p:nvSpPr>
          <p:cNvPr id="24" name="Text 21"/>
          <p:cNvSpPr/>
          <p:nvPr/>
        </p:nvSpPr>
        <p:spPr>
          <a:xfrm>
            <a:off x="841248" y="4928616"/>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F-028 · SEC-02</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Secure development practices for WordPress code, themes, plugins, d…</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secure-development evidence, dependency or secret scanning results, container provenance, or patch SLA was supplied for the WordPress code, themes, and plugins.</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Add secret and vulnerability scanning to the build for WordPress core, plugins, themes, and the site container, with risk-based patch SLAs.</a:t>
            </a:r>
            <a:endParaRPr lang="en-US" sz="1100" dirty="0"/>
          </a:p>
        </p:txBody>
      </p:sp>
      <p:sp>
        <p:nvSpPr>
          <p:cNvPr id="25" name="Text 22"/>
          <p:cNvSpPr/>
          <p:nvPr/>
        </p:nvSpPr>
        <p:spPr>
          <a:xfrm>
            <a:off x="9646920" y="4928616"/>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26" name="Text 23"/>
          <p:cNvSpPr/>
          <p:nvPr/>
        </p:nvSpPr>
        <p:spPr>
          <a:xfrm>
            <a:off x="9646920" y="5212080"/>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Critical and high findings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640080" y="1188720"/>
            <a:ext cx="10972800" cy="1097280"/>
          </a:xfrm>
          <a:prstGeom prst="roundRect">
            <a:avLst>
              <a:gd name="adj" fmla="val 5000"/>
            </a:avLst>
          </a:prstGeom>
          <a:solidFill>
            <a:srgbClr val="F5F7FA"/>
          </a:solidFill>
          <a:ln w="12700">
            <a:solidFill>
              <a:srgbClr val="E2E8F0"/>
            </a:solidFill>
            <a:prstDash val="solid"/>
          </a:ln>
        </p:spPr>
      </p:sp>
      <p:sp>
        <p:nvSpPr>
          <p:cNvPr id="8" name="Shape 5"/>
          <p:cNvSpPr/>
          <p:nvPr/>
        </p:nvSpPr>
        <p:spPr>
          <a:xfrm>
            <a:off x="640080" y="1188720"/>
            <a:ext cx="64008" cy="1097280"/>
          </a:xfrm>
          <a:prstGeom prst="rect">
            <a:avLst/>
          </a:prstGeom>
          <a:solidFill>
            <a:srgbClr val="607D8B"/>
          </a:solidFill>
          <a:ln/>
        </p:spPr>
      </p:sp>
      <p:sp>
        <p:nvSpPr>
          <p:cNvPr id="9" name="Text 6"/>
          <p:cNvSpPr/>
          <p:nvPr/>
        </p:nvSpPr>
        <p:spPr>
          <a:xfrm>
            <a:off x="841248" y="1252728"/>
            <a:ext cx="8823960" cy="969264"/>
          </a:xfrm>
          <a:prstGeom prst="rect">
            <a:avLst/>
          </a:prstGeom>
          <a:noFill/>
          <a:ln/>
        </p:spPr>
        <p:txBody>
          <a:bodyPr wrap="square" rtlCol="0" anchor="t"/>
          <a:lstStyle/>
          <a:p>
            <a:pPr indent="0" marL="0">
              <a:lnSpc>
                <a:spcPct val="98000"/>
              </a:lnSpc>
              <a:buNone/>
            </a:pPr>
            <a:r>
              <a:rPr lang="en-US" sz="1100" b="1" dirty="0">
                <a:solidFill>
                  <a:srgbClr val="607D8B"/>
                </a:solidFill>
                <a:latin typeface="Trebuchet MS" pitchFamily="34" charset="0"/>
                <a:ea typeface="Trebuchet MS" pitchFamily="34" charset="-122"/>
                <a:cs typeface="Trebuchet MS" pitchFamily="34" charset="-120"/>
              </a:rPr>
              <a:t>F-029 · SEC-23</a:t>
            </a:r>
            <a:pPr indent="0" marL="0">
              <a:lnSpc>
                <a:spcPct val="98000"/>
              </a:lnSpc>
              <a:buNone/>
            </a:pPr>
            <a:r>
              <a:rPr lang="en-US" sz="1000" b="1" dirty="0">
                <a:solidFill>
                  <a:srgbClr val="607D8B"/>
                </a:solidFill>
                <a:latin typeface="Calibri" pitchFamily="34" charset="0"/>
                <a:ea typeface="Calibri" pitchFamily="34" charset="-122"/>
                <a:cs typeface="Calibri" pitchFamily="34" charset="-120"/>
              </a:rPr>
              <a:t>   Not verified</a:t>
            </a:r>
            <a:pPr indent="0" marL="0">
              <a:lnSpc>
                <a:spcPct val="98000"/>
              </a:lnSpc>
              <a:spcAft>
                <a:spcPts val="200"/>
              </a:spcAft>
              <a:buNone/>
            </a:pPr>
            <a:r>
              <a:rPr lang="en-US" sz="1100" b="1" dirty="0">
                <a:solidFill>
                  <a:srgbClr val="1E2761"/>
                </a:solidFill>
                <a:latin typeface="Trebuchet MS" pitchFamily="34" charset="0"/>
                <a:ea typeface="Trebuchet MS" pitchFamily="34" charset="-122"/>
                <a:cs typeface="Trebuchet MS" pitchFamily="34" charset="-120"/>
              </a:rPr>
              <a:t>   WAF prevention, direct-origin bypass, authentication, authorization…</a:t>
            </a:r>
            <a:endParaRPr lang="en-US" sz="1100" dirty="0"/>
          </a:p>
          <a:p>
            <a:pPr indent="0" marL="0">
              <a:lnSpc>
                <a:spcPct val="98000"/>
              </a:lnSpc>
              <a:buNone/>
            </a:pPr>
            <a:r>
              <a:rPr lang="en-US" sz="1000" dirty="0">
                <a:solidFill>
                  <a:srgbClr val="1E293B"/>
                </a:solidFill>
                <a:latin typeface="Calibri" pitchFamily="34" charset="0"/>
                <a:ea typeface="Calibri" pitchFamily="34" charset="-122"/>
                <a:cs typeface="Calibri" pitchFamily="34" charset="-120"/>
              </a:rPr>
              <a:t>No penetration test, direct-origin bypass test, WAF enforcement test, or security-alert response drill was supplied.</a:t>
            </a:r>
            <a:endParaRPr lang="en-US" sz="1100" dirty="0"/>
          </a:p>
          <a:p>
            <a:pPr indent="0" marL="0">
              <a:lnSpc>
                <a:spcPct val="98000"/>
              </a:lnSpc>
              <a:buNone/>
            </a:pPr>
            <a:r>
              <a:rPr lang="en-US" sz="1000" b="1" dirty="0">
                <a:solidFill>
                  <a:srgbClr val="1E2761"/>
                </a:solidFill>
                <a:latin typeface="Calibri" pitchFamily="34" charset="0"/>
                <a:ea typeface="Calibri" pitchFamily="34" charset="-122"/>
                <a:cs typeface="Calibri" pitchFamily="34" charset="-120"/>
              </a:rPr>
              <a:t>Verify: </a:t>
            </a:r>
            <a:pPr indent="0" marL="0">
              <a:lnSpc>
                <a:spcPct val="98000"/>
              </a:lnSpc>
              <a:buNone/>
            </a:pPr>
            <a:r>
              <a:rPr lang="en-US" sz="1000" dirty="0">
                <a:solidFill>
                  <a:srgbClr val="1E2761"/>
                </a:solidFill>
                <a:latin typeface="Calibri" pitchFamily="34" charset="0"/>
                <a:ea typeface="Calibri" pitchFamily="34" charset="-122"/>
                <a:cs typeface="Calibri" pitchFamily="34" charset="-120"/>
              </a:rPr>
              <a:t>Test origin bypass, WAF enforcement, administrator protection, and alert response once the WAF is in Prevention mode, and retain the results.</a:t>
            </a:r>
            <a:endParaRPr lang="en-US" sz="1100" dirty="0"/>
          </a:p>
        </p:txBody>
      </p:sp>
      <p:sp>
        <p:nvSpPr>
          <p:cNvPr id="10" name="Text 7"/>
          <p:cNvSpPr/>
          <p:nvPr/>
        </p:nvSpPr>
        <p:spPr>
          <a:xfrm>
            <a:off x="9646920" y="1252728"/>
            <a:ext cx="1920240" cy="274320"/>
          </a:xfrm>
          <a:prstGeom prst="rect">
            <a:avLst/>
          </a:prstGeom>
          <a:noFill/>
          <a:ln/>
        </p:spPr>
        <p:txBody>
          <a:bodyPr wrap="square" rtlCol="0" anchor="ctr"/>
          <a:lstStyle/>
          <a:p>
            <a:pPr algn="r" indent="0" marL="0">
              <a:buNone/>
            </a:pPr>
            <a:r>
              <a:rPr lang="en-US" sz="1000" b="1" dirty="0">
                <a:solidFill>
                  <a:srgbClr val="607D8B"/>
                </a:solidFill>
                <a:latin typeface="Calibri" pitchFamily="34" charset="0"/>
                <a:ea typeface="Calibri" pitchFamily="34" charset="-122"/>
                <a:cs typeface="Calibri" pitchFamily="34" charset="-120"/>
              </a:rPr>
              <a:t>Sev 4 · Effort 3 · Risk 3 · Cost 1</a:t>
            </a:r>
            <a:endParaRPr lang="en-US" sz="1000" dirty="0"/>
          </a:p>
        </p:txBody>
      </p:sp>
      <p:sp>
        <p:nvSpPr>
          <p:cNvPr id="11" name="Text 8"/>
          <p:cNvSpPr/>
          <p:nvPr/>
        </p:nvSpPr>
        <p:spPr>
          <a:xfrm>
            <a:off x="9646920" y="1536192"/>
            <a:ext cx="19202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Security</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Remediation priorities</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914400"/>
                <a:gridCol w="5257800"/>
                <a:gridCol w="731520"/>
                <a:gridCol w="411480"/>
                <a:gridCol w="548640"/>
                <a:gridCol w="457200"/>
                <a:gridCol w="457200"/>
                <a:gridCol w="1005840"/>
                <a:gridCol w="1188720"/>
              </a:tblGrid>
              <a:tr h="42976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Priority</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Action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Sev</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Effort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Cost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Target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Remove the administrator credential from App Service configuration, rotate it immediately, move it to Key Vault behind a reference, and set expiry…</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SEC-14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Replace the shared account with named administrators, enforce strong authentication, remove the bootstrap credential from configuration, and audit…</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SEC-20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Always On, publish a lightweight dependency-aware health-check endpoint, and configure auto-heal rules for slow requests, memory, and HTTP…</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REL-04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Set the SCM default action to Deny, allow only the deployment agent ranges, and disable basic publishing credentials and SCM basic authentication.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SEC-05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Add WAF rate-limit and geo/IP match rules for the WordPress administration paths, and disable phpMyAdmin or restrict it to a maintenance window.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SEC-10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purge protection and raise soft-delete retention to at least 90 days. Purge protection cannot be disabled once set, so confirm the recovery…</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SEC-15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C62828"/>
                          </a:solidFill>
                          <a:latin typeface="Calibri" pitchFamily="34" charset="0"/>
                          <a:ea typeface="Calibri" pitchFamily="34" charset="-122"/>
                          <a:cs typeface="Calibri" pitchFamily="34" charset="-120"/>
                        </a:rPr>
                        <a:t>Do now</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Disable phpMyAdmin, set DISALLOW_FILE_EDIT and DISALLOW_FILE_MODS, and confirm XML-RPC and application passwords are blocked or restricted.</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SEC-18</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Upgrade the profile to Front Door Premium, tune the managed rule set in Detection, then switch the policy to Prevention.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SEC-07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Attach the current Microsoft Default rule set and Bot Manager rule set, add rate limiting for login and XML-RPC paths, and evaluate DDoS Network…</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SEC-08</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an action group with an accountable owner and define alerts for SLO symptoms, dependency health, secret and certificate expiry, and quota.</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OPS-09</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943600"/>
            <a:ext cx="1097280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Priorities 1–10 of 43 failed controls. Not-verified controls are excluded: their action is to collect evidence, not to change configuration.</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Remediation priorities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914400"/>
                <a:gridCol w="5257800"/>
                <a:gridCol w="731520"/>
                <a:gridCol w="411480"/>
                <a:gridCol w="548640"/>
                <a:gridCol w="457200"/>
                <a:gridCol w="457200"/>
                <a:gridCol w="1005840"/>
                <a:gridCol w="1188720"/>
              </a:tblGrid>
              <a:tr h="42976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Priority</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Action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Sev</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Effort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Cost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Target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Re-select tiers against agreed targets: multi-worker zone-redundant Premium v3, General Purpose MySQL, a Redis size with HA, and Front Door Premium.</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PRF-03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Scale the Premium v3 plan to at least two workers and enable zone redundancy in South Africa North, sized against an agreed SLO.</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REL-03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Define and load-test an autoscale rule with a minimum of two instances, explicit triggers, cooldowns, and headroom.</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REL-06</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E8A33D"/>
                          </a:solidFill>
                          <a:latin typeface="Calibri" pitchFamily="34" charset="0"/>
                          <a:ea typeface="Calibri" pitchFamily="34" charset="-122"/>
                          <a:cs typeface="Calibri" pitchFamily="34" charset="-120"/>
                        </a:rPr>
                        <a:t>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Move to a General Purpose tier, enable zone-redundant HA, and set backup retention and geo-redundancy from an agreed RPO.</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REL-08</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caching and compression for static paths with explicit cache keys and query handling, keeping authenticated responses uncached.</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CST-08</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a Defender governance rule assigning owners and due dates for open recommendations, and review the secure-score trend on a set cadence.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DEF-06</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Triage the open Advisor and Defender recommendations, assign owners and due dates, and record formally accepted exceptions.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FND-10</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Apply CanNotDelete locks to MySQL, Blob Storage, Key Vault, and Redis, and document a break-glass removal procedure.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FND-11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an Azure Monitor Private Link Scope for the workspace and component, or record an explicit risk decision to keep public access with RBAC as…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MON-02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standard availability tests from at least three relevant locations against the Front Door endpoint, and alert on failure.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MON-04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943600"/>
            <a:ext cx="1097280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Priorities 11–20 of 43 failed controls. Not-verified controls are excluded: their action is to collect evidence, not to change configuration.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Remediation priorities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914400"/>
                <a:gridCol w="5257800"/>
                <a:gridCol w="731520"/>
                <a:gridCol w="411480"/>
                <a:gridCol w="548640"/>
                <a:gridCol w="457200"/>
                <a:gridCol w="457200"/>
                <a:gridCol w="1005840"/>
                <a:gridCol w="1188720"/>
              </a:tblGrid>
              <a:tr h="42976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Priority</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Action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Sev</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Effort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Cost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Target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NSG flow logs to the storage account with restricted access, and record a risk decision on DDoS Network Protection given the Front Door edge.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NET-04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Add a staging slot with slot-specific settings, warm-up, health validation, and a tested swap-back rollback.</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OPS-04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diagnostics on the storage account and WAF policy, add NSG flow logs, and confirm every resource routes to the workspace with purposeful…</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OPS-07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Raise the worker ceiling, configure autoscale, and validate database connections, cache capacity, and SNAT headroom under a load test.</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PRF-05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Front Door caching with compression for static paths and turn on HTTP/2 on the App Service site.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PRF-08</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Add a deployment slot with warm-up and health validation, and swap with preview so traffic only moves to a proven-ready instance.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REL-07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Move WordPress media to ZRS or GZRS, or record a formal risk acceptance against an agreed RPO for regional failure.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REL-11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blob versioning and point-in-time restore with a retention window that matches the agreed RPO for media.</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REL-12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Point the probe at the App Service health-check endpoint, shorten the interval, and document the intended failover behaviour.</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REL-13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availability tests and SLO-symptom alerts for the critical flows, route them to an owned action group, and retain the results.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REL-17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943600"/>
            <a:ext cx="1097280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Priorities 21–30 of 43 failed controls. Not-verified controls are excluded: their action is to collect evidence, not to change configuration.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Remediation priorities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914400"/>
                <a:gridCol w="5257800"/>
                <a:gridCol w="731520"/>
                <a:gridCol w="411480"/>
                <a:gridCol w="548640"/>
                <a:gridCol w="457200"/>
                <a:gridCol w="457200"/>
                <a:gridCol w="1005840"/>
                <a:gridCol w="1188720"/>
              </a:tblGrid>
              <a:tr h="42976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Priority</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Action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Sev</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Effort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Cost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Target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vnetRouteAllEnabled, then apply the intended egress NSG rules and, where required, a firewall or proxy next hop.</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SEC-11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Author explicit allow rules for the required app-to-private-endpoint flows and deny the remainder, then review effective rules.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SEC-13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storage diagnostics and the App Service audit category, confirm WAF logging, add NSG flow logs, and restrict access to the workspace.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SEC-22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Schedule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Move off Burstable for any production use, then confirm sql_generate_invisible_primary_key is on and that every InnoDB table has an explicit primary…</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SQL-04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Create a budget covering Communication Services and alert on send volume and failure rate by channel and destination.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ACS-05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Remove the unused subnet and its NSG, and add a non-production schedule or autoscale scale-in for the App Service 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CST-05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Add a lifecycle policy that tiers ageing media to Cool, expires soft-deleted data after the retention window, and prunes old versions.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CST-07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Map each enabled plan to protected resources at subscription scope and retire or justify the plans with no coverage.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DEF-02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Extend the tag schema to include owner, cost centre, and lifecycle, and enforce it with an Azure Policy modify assignment.</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FND-12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Enable workspace diagnostics, set a daily ingestion cap with an alert below it, and alert on diagnostic-setting drift across the workload.</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MON-06</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943600"/>
            <a:ext cx="1097280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Priorities 31–40 of 43 failed controls. Not-verified controls are excluded: their action is to collect evidence, not to change configuration.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Remediation priorities (cont.)</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914400"/>
                <a:gridCol w="5257800"/>
                <a:gridCol w="731520"/>
                <a:gridCol w="411480"/>
                <a:gridCol w="548640"/>
                <a:gridCol w="457200"/>
                <a:gridCol w="457200"/>
                <a:gridCol w="1005840"/>
                <a:gridCol w="1188720"/>
              </a:tblGrid>
              <a:tr h="42976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Priority</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Action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Sev</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Effort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Cost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Target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Remove the unused subnet and NSG, and add idle-resource review to the recurring cost cadence.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NET-06</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Set a custom maintenance window outside business hours and test application reconnect behaviour during a forced failover.</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SQL-02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9768">
                <a:tc>
                  <a:txBody>
                    <a:bodyPr/>
                    <a:lstStyle/>
                    <a:p>
                      <a:pPr indent="0" marL="0">
                        <a:buNone/>
                      </a:pPr>
                      <a:r>
                        <a:rPr lang="en-US" sz="1100" b="1" dirty="0">
                          <a:solidFill>
                            <a:srgbClr val="64748B"/>
                          </a:solidFill>
                          <a:latin typeface="Calibri" pitchFamily="34" charset="0"/>
                          <a:ea typeface="Calibri" pitchFamily="34" charset="-122"/>
                          <a:cs typeface="Calibri" pitchFamily="34" charset="-120"/>
                        </a:rPr>
                        <a:t>Backlog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Add metric alerts on storage percentage, IOPS consumption, and connection count, with an owner and threshold agreed against the capacity plan.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SQL-03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943600"/>
            <a:ext cx="1097280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Priorities 41–43 of 43 failed controls. Not-verified controls are excluded: their action is to collect evidence, not to change configuration.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Manual validation register (Section 8)</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26</a:t>
            </a:r>
            <a:endParaRPr lang="en-US" sz="1000" dirty="0"/>
          </a:p>
        </p:txBody>
      </p:sp>
      <p:sp>
        <p:nvSpPr>
          <p:cNvPr id="7" name="Text 4"/>
          <p:cNvSpPr/>
          <p:nvPr/>
        </p:nvSpPr>
        <p:spPr>
          <a:xfrm>
            <a:off x="640080" y="1097280"/>
            <a:ext cx="10972800" cy="36576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These twelve items cannot be decided from control-plane configuration. They stay Not verified until dated manual evidence is supplied, so they reduce coverage rather than score.</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72800" cy="914400"/>
        </p:xfrm>
        <a:graphic>
          <a:graphicData uri="http://schemas.openxmlformats.org/drawingml/2006/table">
            <a:tbl>
              <a:tblPr/>
              <a:tblGrid>
                <a:gridCol w="777240"/>
                <a:gridCol w="3200400"/>
                <a:gridCol w="960120"/>
                <a:gridCol w="4480560"/>
                <a:gridCol w="1554480"/>
              </a:tblGrid>
              <a:tr h="347472">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ID</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Manual validation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Status</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Required evidence</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MAN-01</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Confirm critical flows, dependencies, SLOs/SLIs, RTOs/RPOs, and accepted risks with business owners.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Hold a workshop with the business owner to agree critical flows, SLOs/SLIs, RTO/RPO, and an accepted-risk register, then re-score…</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MAN-02</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Exercise whole-workload restore and recovery for database, uploads, application/configuration, secrets…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Run a full workload restore rehearsal into an isolated environment, time it against the agreed RTO/RPO, and record the result.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MAN-03</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Test zone, region, dependency, identity, DNS, network, deployment, and cache failure scenarios at an…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Once zone redundancy and database HA are in place, run zone, dependency, identity, DNS, and cache failure drills at an agreed cadence.</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MAN-04</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Review Entra tenant controls, Azure RBAC, PIM/JIT, MFA, Conditional Access, break-glass accounts, MySQL…</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Export Azure RBAC at subscription and resource-group scope, confirm PIM and Conditional Access coverage for privileged roles, and run…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MAN-05</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Verify WordPress core, plugin, theme, package, container, and IaC vulnerability and secret scanning…</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Introduce dependency and secret scanning across the WordPress and IaC repositories, with a named owner and an agreed remediation…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MAN-06</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Exercise secret, certificate, key, and credential rotation, including dependent application validation…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Set expiry on all Key Vault secrets, rehearse a rotation including application revalidation, and document the emergency access path.</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MAN-07</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Test direct-origin bypass, WAF enforcement, authentication, authorization, WordPress admin protection…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Commission an origin-bypass and WAF-enforcement test after moving the policy to Prevention, and rehearse the security-alert response…</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MAN-08</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Verify IaC, peer review, policy checks, pipeline promotion, safe release, rollback, and drift detection.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Bring the workload under infrastructure as code with peer review and policy checks, and add drift detection against the deployed state.</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MAN-09</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Validate alert ownership, SLO/symptom coverage, action groups, dashboards, retention, runbooks, and…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Build a symptom-based alert set tied to the agreed SLOs, route it to an owned action group, and test notification delivery end to end.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MAN-10</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Load, stress, soak, scalability, cache-invalidation, and failure-mode test critical flows in a…</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Establish a production-like environment and load-test the critical flows, including cache invalidation behaviour, before any…</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MAN-11</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Validate cost allocation, budgets, forecasts, anomaly alerts, cleanup, right-sizing, and commitment…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Apply a tagging standard, create budgets with anomaly alerts, and set a recurring right-sizing and idle-resource review.</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MAN-12</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Confirm WordPress operational governance for approved plugins/themes, staging validation, administrator…</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607D8B"/>
                          </a:solidFill>
                          <a:latin typeface="Calibri" pitchFamily="34" charset="0"/>
                          <a:ea typeface="Calibri" pitchFamily="34" charset="-122"/>
                          <a:cs typeface="Calibri" pitchFamily="34" charset="-120"/>
                        </a:rPr>
                        <a:t>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Define an approved plugin and theme list with a staging validation gate, move administrators to named accounts, and monitor email…</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Collection gaps</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27</a:t>
            </a:r>
            <a:endParaRPr lang="en-US" sz="1000" dirty="0"/>
          </a:p>
        </p:txBody>
      </p:sp>
      <p:sp>
        <p:nvSpPr>
          <p:cNvPr id="7" name="Text 4"/>
          <p:cNvSpPr/>
          <p:nvPr/>
        </p:nvSpPr>
        <p:spPr>
          <a:xfrm>
            <a:off x="640080" y="1097280"/>
            <a:ext cx="10972800" cy="2743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Collector errors and absent telemetry — and the controls each one forced to Not verified</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444752"/>
          <a:ext cx="10972800" cy="914400"/>
        </p:xfrm>
        <a:graphic>
          <a:graphicData uri="http://schemas.openxmlformats.org/drawingml/2006/table">
            <a:tbl>
              <a:tblPr/>
              <a:tblGrid>
                <a:gridCol w="2240280"/>
                <a:gridCol w="1600200"/>
                <a:gridCol w="4069080"/>
                <a:gridCol w="3063240"/>
              </a:tblGrid>
              <a:tr h="301752">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Evidence source</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Section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Reason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Controls set to Not verified</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Key Vault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Private-only vault — access refused from outside the private link</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SEC-13, SEC-23</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Key Vault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secrets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Private-only vault — access refused from outside the private link</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SEC-13, SEC-14, MAN-06</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Key Vault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certificates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Private-only vault — access refused from outside the private link</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SEC-13, REL-14</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Front Door WAF policy</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diagnosticSettings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Resource type does not support diagnostic settings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SEC-19, OPS-14, MON-03</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MySQL Flexible Server</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databases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MySQL server is Stopped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SQL-01, SEC-16</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MySQL Flexible Server</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configurations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MySQL server is Stopped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SEC-16, SQL-04, PRF-12</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MySQL Flexible Server</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backups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MySQL server is Stopped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REL-09, REL-10, MAN-02</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Storage account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managementPolicy</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management policy configured on the account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CST-06, CST-10</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App Service plan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apps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Collector command error — decided from the plan properties instead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APP-02 (decided from numberOfSites instead)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Network security groups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diagnosticSettings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diagnostic settings configured on any of the three NSGs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NET-04, OPS-14</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Log Analytics workspace</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diagnosticSettings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diagnostic settings on the workspace itself</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MON-06</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0175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Resource group inventory</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roleAssignments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role assignments returned at resource-group scope</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FND-02, FND-04, FND-05, SEC-01, SEC-02, MAN-04</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9" name="Text 5"/>
          <p:cNvSpPr/>
          <p:nvPr/>
        </p:nvSpPr>
        <p:spPr>
          <a:xfrm>
            <a:off x="640080" y="5669280"/>
            <a:ext cx="10972800" cy="548640"/>
          </a:xfrm>
          <a:prstGeom prst="rect">
            <a:avLst/>
          </a:prstGeom>
          <a:noFill/>
          <a:ln/>
        </p:spPr>
        <p:txBody>
          <a:bodyPr wrap="square" rtlCol="0" anchor="t"/>
          <a:lstStyle/>
          <a:p>
            <a:pPr indent="0" marL="0">
              <a:lnSpc>
                <a:spcPct val="110000"/>
              </a:lnSpc>
              <a:buNone/>
            </a:pPr>
            <a:r>
              <a:rPr lang="en-US" sz="1100" dirty="0">
                <a:solidFill>
                  <a:srgbClr val="64748B"/>
                </a:solidFill>
                <a:latin typeface="Calibri" pitchFamily="34" charset="0"/>
                <a:ea typeface="Calibri" pitchFamily="34" charset="-122"/>
                <a:cs typeface="Calibri" pitchFamily="34" charset="-120"/>
              </a:rPr>
              <a:t>The three Key Vault refusals are not collection defects — they are live proof that the vault rejects access from outside its approved private link. They do, however, leave secret expiry and rotation undecidable from the data plane.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Confidence and coverage</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28</a:t>
            </a:r>
            <a:endParaRPr lang="en-US" sz="1000" dirty="0"/>
          </a:p>
        </p:txBody>
      </p:sp>
      <p:sp>
        <p:nvSpPr>
          <p:cNvPr id="7" name="Text 4"/>
          <p:cNvSpPr/>
          <p:nvPr/>
        </p:nvSpPr>
        <p:spPr>
          <a:xfrm>
            <a:off x="640080" y="1097280"/>
            <a:ext cx="10972800" cy="274320"/>
          </a:xfrm>
          <a:prstGeom prst="rect">
            <a:avLst/>
          </a:prstGeom>
          <a:noFill/>
          <a:ln/>
        </p:spPr>
        <p:txBody>
          <a:bodyPr wrap="square" rtlCol="0" anchor="ctr"/>
          <a:lstStyle/>
          <a:p>
            <a:pPr indent="0" marL="0">
              <a:buNone/>
            </a:pPr>
            <a:r>
              <a:rPr lang="en-US" sz="1500" b="1" dirty="0">
                <a:solidFill>
                  <a:srgbClr val="1E2761"/>
                </a:solidFill>
                <a:latin typeface="Trebuchet MS" pitchFamily="34" charset="0"/>
                <a:ea typeface="Trebuchet MS" pitchFamily="34" charset="-122"/>
                <a:cs typeface="Trebuchet MS" pitchFamily="34" charset="-120"/>
              </a:rPr>
              <a:t>These controls cannot be decided from resource configuration at all</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72800" cy="914400"/>
        </p:xfrm>
        <a:graphic>
          <a:graphicData uri="http://schemas.openxmlformats.org/drawingml/2006/table">
            <a:tbl>
              <a:tblPr/>
              <a:tblGrid>
                <a:gridCol w="4206240"/>
                <a:gridCol w="6766560"/>
              </a:tblGrid>
              <a:tr h="566928">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Limitation</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Effect on this review</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56692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The MySQL Flexible Server is in a Stopped state, so the databases, server parameters, and backup configuration queries all failed.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Four controls could not be decided: secure transport enforcement, generated invisible primary keys, slow query logging, and database-level role separation. Backup adequacy could not be verified at all.</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Key Vault keys, secrets, and certificates returned Forbidden because the collector ran from outside the private network.</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Secret expiry, rotation cadence, and certificate lifetime could not be read from the data plane. Defender for Cloud supplies a partial answer: it reports that secrets have no expiration date set.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subscription-scope role assignments, Azure Policy assignments, or Entra ID configuration were collected, and the resource-group role assignment query returned no results.</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Identity and governance are largely unassessed: privileged access, Conditional Access, Privileged Identity Management, break-glass accounts, and policy compliance are all Not verified.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business context was supplied — service-level objectives, recovery time and point objectives, data classification, and accepted risks are all absent.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Every reliability and performance finding is an engineering judgement against good practice rather than a measured gap against an agreed commitment. All twelve manual-validation items remain undecided.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Diagnostic settings could not be read for the Front Door WAF policy because the resource type does not support them, and no diagnostic settings exist on the storage account…</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WAF logging adequacy, network flow visibility, and telemetry-platform self-monitoring could not be confirmed.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No Cost Management data, budgets, forecasts, or commitment utilisation was collected.</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Eight cost controls could not be decided, including rate optimisation, commitment coverage, and spend anomaly detection.</a:t>
                      </a:r>
                      <a:endParaRPr lang="en-US" sz="10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9" name="Text 5"/>
          <p:cNvSpPr/>
          <p:nvPr/>
        </p:nvSpPr>
        <p:spPr>
          <a:xfrm>
            <a:off x="640080" y="5806440"/>
            <a:ext cx="10972800" cy="457200"/>
          </a:xfrm>
          <a:prstGeom prst="rect">
            <a:avLst/>
          </a:prstGeom>
          <a:noFill/>
          <a:ln/>
        </p:spPr>
        <p:txBody>
          <a:bodyPr wrap="square" rtlCol="0" anchor="t"/>
          <a:lstStyle/>
          <a:p>
            <a:pPr indent="0" marL="0">
              <a:lnSpc>
                <a:spcPct val="110000"/>
              </a:lnSpc>
              <a:buNone/>
            </a:pPr>
            <a:r>
              <a:rPr lang="en-US" sz="1200" b="1" dirty="0">
                <a:solidFill>
                  <a:srgbClr val="1E2761"/>
                </a:solidFill>
                <a:latin typeface="Calibri" pitchFamily="34" charset="0"/>
                <a:ea typeface="Calibri" pitchFamily="34" charset="-122"/>
                <a:cs typeface="Calibri" pitchFamily="34" charset="-120"/>
              </a:rPr>
              <a:t>Overall evidence coverage is 44%. Exporting subscription RBAC, restarting the MySQL server for a configuration read, and agreeing SLO, RTO and RPO targets would raise it above 70% without changing a single resource.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sp>
      <p:sp>
        <p:nvSpPr>
          <p:cNvPr id="3" name="Text 1"/>
          <p:cNvSpPr/>
          <p:nvPr/>
        </p:nvSpPr>
        <p:spPr>
          <a:xfrm>
            <a:off x="640080" y="310896"/>
            <a:ext cx="10972800" cy="640080"/>
          </a:xfrm>
          <a:prstGeom prst="rect">
            <a:avLst/>
          </a:prstGeom>
          <a:noFill/>
          <a:ln/>
        </p:spPr>
        <p:txBody>
          <a:bodyPr wrap="square" rtlCol="0" anchor="ctr"/>
          <a:lstStyle/>
          <a:p>
            <a:pPr indent="0" marL="0">
              <a:buNone/>
            </a:pPr>
            <a:r>
              <a:rPr lang="en-US" sz="3200" b="1" dirty="0">
                <a:solidFill>
                  <a:srgbClr val="1E2761"/>
                </a:solidFill>
                <a:latin typeface="Trebuchet MS" pitchFamily="34" charset="0"/>
                <a:ea typeface="Trebuchet MS" pitchFamily="34" charset="-122"/>
                <a:cs typeface="Trebuchet MS" pitchFamily="34" charset="-120"/>
              </a:rPr>
              <a:t>Next steps</a:t>
            </a:r>
            <a:endParaRPr lang="en-US" sz="3200" dirty="0"/>
          </a:p>
        </p:txBody>
      </p:sp>
      <p:sp>
        <p:nvSpPr>
          <p:cNvPr id="4" name="Text 2"/>
          <p:cNvSpPr/>
          <p:nvPr/>
        </p:nvSpPr>
        <p:spPr>
          <a:xfrm>
            <a:off x="640080" y="6473952"/>
            <a:ext cx="1033272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wordpressexampledev-wp-dev-swpsfsjvczhhe · non-prod (dev) · 2026-09-28</a:t>
            </a:r>
            <a:endParaRPr lang="en-US" sz="1000" dirty="0"/>
          </a:p>
        </p:txBody>
      </p:sp>
      <p:sp>
        <p:nvSpPr>
          <p:cNvPr id="5" name="Text 3"/>
          <p:cNvSpPr/>
          <p:nvPr/>
        </p:nvSpPr>
        <p:spPr>
          <a:xfrm>
            <a:off x="11292840" y="6473952"/>
            <a:ext cx="36576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972800" cy="914400"/>
        </p:xfrm>
        <a:graphic>
          <a:graphicData uri="http://schemas.openxmlformats.org/drawingml/2006/table">
            <a:tbl>
              <a:tblPr/>
              <a:tblGrid>
                <a:gridCol w="502920"/>
                <a:gridCol w="7040880"/>
                <a:gridCol w="2240280"/>
                <a:gridCol w="1188720"/>
              </a:tblGrid>
              <a:tr h="512064">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Step</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Owner</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Target</a:t>
                      </a:r>
                      <a:endParaRPr lang="en-US" sz="1100" dirty="0">
                        <a:latin typeface="Trebuchet MS" charset="0"/>
                        <a:ea typeface="Trebuchet MS" charset="0"/>
                        <a:cs typeface="Trebuchet MS"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Switch the Front Door WAF policy to Prevention mode and attach the Microsoft Default Rule Set and Bot Manager rule set, tuning in Detection first if a rollback window is needed.</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Platform / security engineering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Within 1 week</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Remove the WordPress administrator credentials from App Service connection strings, rotate the password, and move every administrator to a named account with multifactor authentication.</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WordPress application owner</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Within 1 week</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Disable phpMyAdmin in the production configuration and restrict the SCM endpoint to known addresses or the Azure Front Door service tag.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Platform engineering</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Within 2 weeks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Agree service-level objectives, recovery time and point objectives, and data classification with the business owner, then re-score Sections 2 and 6 against those targets.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Service owner</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Within 4 weeks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Export Azure RBAC at subscription and resource-group scope and run a documented privileged-access review covering Privileged Identity Management, Conditional Access, and break-glass…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Identity / security governance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Within 4 weeks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Apply a tagging standard across the resource group, create a budget with anomaly alerts, and build a symptom-based alert set routed to an owned action group.</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Platform engineering / FinOps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Within 6 weeks</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12064">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If this workload is intended to carry production traffic, plan the move to a zone-redundant Premium v3 plan with autoscale and a General Purpose MySQL tier with high availability and…</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Service owner / architecture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Before production go-live</a:t>
                      </a:r>
                      <a:endParaRPr lang="en-US" sz="1100" dirty="0">
                        <a:latin typeface="Calibri" charset="0"/>
                        <a:ea typeface="Calibri" charset="0"/>
                        <a:cs typeface="Calibr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8" name="Text 4"/>
          <p:cNvSpPr/>
          <p:nvPr/>
        </p:nvSpPr>
        <p:spPr>
          <a:xfrm>
            <a:off x="640080" y="5760720"/>
            <a:ext cx="1097280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Recommended reassessment: 2026-12-28, or immediately after the Do-now items are closed — whichever comes first.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Well-Architected Review — wordpressexampledev-wp-dev-swpsfsjvczhhe (non-prod (dev))</dc:title>
  <dc:subject>AzureWordPressChecklist.md · 152 controls</dc:subject>
  <dc:creator>Automated review — wordpress-waf-review skill</dc:creator>
  <cp:lastModifiedBy>Automated review — wordpress-waf-review skill</cp:lastModifiedBy>
  <cp:revision>1</cp:revision>
  <dcterms:created xsi:type="dcterms:W3CDTF">2026-09-28T10:16:24Z</dcterms:created>
  <dcterms:modified xsi:type="dcterms:W3CDTF">2026-09-28T10:16:24Z</dcterms:modified>
</cp:coreProperties>
</file>